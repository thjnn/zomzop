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Kính chào Hội đồng. Nhóm em xin trình bày đề tài xây dựng web app cửa hàng bán đồ ăn nhanh ZomZop, mô hình chuỗi nhiều chi nhánh. Nhóm gồm 3 thành viên, dưới sự hướng dẫn của cô Huỳnh Thị Nhật Hằng.</a:t>
            </a:r>
          </a:p>
          <a:p>
            <a:r>
              <a:t>🎬 Tự chạy: nhãn trường → tên đề tài → linh vật → logo → thông tin nhóm.</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Nhiều cửa hàng thức ăn nhanh đang bán qua app trung gian: mất hoa hồng và không nắm dữ liệu khách. Khâu nội bộ như phân ca, chấm công, tính lương vẫn ghi tay. ZomZop giải quyết cả hai: kênh bán riêng và quản trị khép kín từng chi nhánh.</a:t>
            </a:r>
          </a:p>
          <a:p>
            <a:r>
              <a:t>🎬 Click 1: hiện trạng · Click 2: VS + giải pháp · Click 3: thanh kết luận.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Hệ thống có năm vai trò, gom thành bốn phân hệ. Khách hàng đặt món; quản lý điều hành một chi nhánh; quản trị viên quản lý dữ liệu chung toàn chuỗi; nhân viên và đầu bếp chấm công, xem lịch và lương của mình.</a:t>
            </a:r>
          </a:p>
          <a:p>
            <a:r>
              <a:t>🎬 Mỗi click hiện 1 phân hệ (4 click).</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Kiến trúc khách – chủ theo mô hình MVC của Laravel. Dữ liệu trên MySQL, các thao tác tiền bạc chạy trong transaction. Giao diện Blade và Tailwind, hiển thị tốt trên điện thoại. Lớp trên cùng là các tích hợp: nhận diện khuôn mặt chạy ngay trên trình duyệt, Gemini cho chatbot, biểu đồ và xuất Excel.</a:t>
            </a:r>
          </a:p>
          <a:p>
            <a:r>
              <a:t>🎬 4 click: dựng từng tầng từ dưới lên; khung bên phải tự hiện sau tầng cuối.</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Sơ đồ use case tổng quát gồm năm tác nhân và mười lăm use case. Quản lý chi nhánh là tác nhân trung tâm của vận hành, mọi quyền của họ chỉ giới hạn trong chi nhánh được phân công.</a:t>
            </a:r>
          </a:p>
          <a:p>
            <a:r>
              <a:t>🎬 Click 1: sơ đồ · Click 2: tóm tắt.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Cơ sở dữ liệu xoay quanh thực thể chi nhánh. Thực đơn gốc khai báo một lần, còn giá, tồn kho và nhãn bán chạy đặt riêng từng chi nhánh. Đơn hàng lưu lại tên và giá lúc đặt, kèm nhật ký chuyển trạng thái. Nhân sự, chấm công và lương cũng gắn chi nhánh.</a:t>
            </a:r>
          </a:p>
          <a:p>
            <a:r>
              <a:t>🎬 Click 1: chi nhánh · Click 2–5: từng nhóm bảng (nhóm cuối hiện kèm câu chốt).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Khách chọn chi nhánh, thêm món vào giỏ rồi thanh toán, có mã giảm giá và chuyển khoản VietQR. Đơn đi qua năm trạng thái theo đúng thứ tự; chỉ được huỷ khi chưa vào bếp, khi huỷ thì hoàn lại tồn kho và lượt dùng mã. Mỗi lần chuyển đều ghi người làm và thời điểm.</a:t>
            </a:r>
          </a:p>
          <a:p>
            <a:r>
              <a:t>🎬 Click 1: bước 1–3 (khách) · Click 2: bước 4–5 · Click 3: bước 6–7 + thanh nguyên tắc.</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Quản lý ghép máy tính bảng ở quầy và đăng ký mười lăm mẫu khuôn mặt cho từng nhân viên. Khi chấm công, trình duyệt tự nhận diện và chỉ gửi vectơ 128 số lên máy chủ. Ngưỡng 0.35 được đo thực nghiệm; người giống nhất thuộc chi nhánh khác thì từ chối. Đi trễ quá năm phút phải nhập lý do.</a:t>
            </a:r>
          </a:p>
          <a:p>
            <a:r>
              <a:t>🎬 Click 1: chuẩn bị (1–2) · Click 2: nhận diện (3–4) · Click 3: ghi nhận (5–6) + thanh nguyên tắc.</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Quản lý xếp lịch theo tuần ngay trên trang ca làm. Chấm công tự nhận ca, kể cả ca qua đêm. Lương bằng giờ công nhân đơn giá, bảy ngày đầu dùng đơn giá thử việc, thưởng phạt ghi thành từng khoản có lý do. Bảng lương chỉ đi một chiều: nháp, đã chốt, đã trả.</a:t>
            </a:r>
          </a:p>
          <a:p>
            <a:r>
              <a:t>🎬 Mỗi click 1 cột (4 click); thanh chốt tự hiện sau cột cuối.</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Trang chủ hiển thị thực đơn theo chi nhánh khách đã chọn, có món bán chạy và ưu đãi từ đầu bếp. Chatbot trả lời theo từ khoá hoặc qua Gemini, kèm thực đơn và giá thật của chi nhánh. Giao diện hiển thị tốt trên điện thoại.</a:t>
            </a:r>
          </a:p>
          <a:p>
            <a:r>
              <a:t>🎬 3 click: trang chủ → chatbot → điện thoại. Nên chuyển sang demo trực tiếp sau slide này.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Bên trái là màn hình quản lý chi nhánh: số đơn theo trạng thái, doanh thu, biểu đồ bảy ngày và đơn gần đây. Bên phải là tổng quan toàn chuỗi của quản trị viên, so sánh doanh thu giữa các chi nhánh.</a:t>
            </a:r>
          </a:p>
          <a:p>
            <a:r>
              <a:t>🎬 Click 1: quản lý chi nhánh · Click 2: quản trị viên.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Ngoài chạy thử thủ công, nhóm viết 367 ca kiểm thử tự động với 1.517 phép kiểm tra, tất cả đều đạt. Trọng tâm là các nghiệp vụ dễ sai: trạng thái đơn, tồn kho, mã giảm giá, phân quyền chi nhánh, chấm công và lương. Nhóm chưa đo hiệu năng tải lớn.</a:t>
            </a:r>
          </a:p>
          <a:p>
            <a:r>
              <a:t>🎬 Click 1: 4 con số · Click 2: nhóm nghiệp vụ · Click 3: nhóm nhân sự (kèm ghi chú).</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nhận thấy bốn hạn chế chính và hướng xử lý tương ứng: tích hợp cổng thanh toán thật, chống giả mạo khi chấm công, đưa hệ thống lên máy chủ có HTTPS để chạy thử, và mở rộng giao hàng, kho nguyên liệu.</a:t>
            </a:r>
          </a:p>
          <a:p>
            <a:r>
              <a:t>🎬 Mỗi click 1 hàng (4 click).</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Nhóm em xin cảm ơn Hội đồng và cô hướng dẫn. Kính mời Thầy Cô đặt câu hỏi.</a:t>
            </a:r>
          </a:p>
          <a:p>
            <a:r>
              <a:t>🎬 Tự chạy: lời cảm ơn → 3 thành viên → logo.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jpg"/><Relationship Id="rId4" Type="http://schemas.openxmlformats.org/officeDocument/2006/relationships/image" Target="../media/image5.jpg"/><Relationship Id="rId5" Type="http://schemas.openxmlformats.org/officeDocument/2006/relationships/image" Target="../media/image6.jpg"/><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7.jpg"/><Relationship Id="rId4" Type="http://schemas.openxmlformats.org/officeDocument/2006/relationships/image" Target="../media/image8.jpg"/><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CoverSun"/>
          <p:cNvSpPr/>
          <p:nvPr/>
        </p:nvSpPr>
        <p:spPr>
          <a:xfrm>
            <a:off x="7406640" y="502920"/>
            <a:ext cx="6035040" cy="6035040"/>
          </a:xfrm>
          <a:prstGeom prst="ellipse">
            <a:avLst/>
          </a:prstGeom>
          <a:solidFill>
            <a:srgbClr val="F59E0B">
              <a:alpha val="2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CoverRed"/>
          <p:cNvSpPr/>
          <p:nvPr/>
        </p:nvSpPr>
        <p:spPr>
          <a:xfrm>
            <a:off x="-1280160" y="5120640"/>
            <a:ext cx="3108960" cy="3108960"/>
          </a:xfrm>
          <a:prstGeom prst="ellipse">
            <a:avLst/>
          </a:prstGeom>
          <a:solidFill>
            <a:srgbClr val="EF4444">
              <a:alpha val="15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4" name="S1_Tag"/>
          <p:cNvGrpSpPr/>
          <p:nvPr/>
        </p:nvGrpSpPr>
        <p:grpSpPr>
          <a:xfrm>
            <a:off x="640080" y="685800"/>
            <a:ext cx="4206240" cy="420624"/>
            <a:chOff x="640080" y="685800"/>
            <a:chExt cx="4206240" cy="420624"/>
          </a:xfrm>
        </p:grpSpPr>
        <p:sp>
          <p:nvSpPr>
            <p:cNvPr id="5" name="Rounded Rectangle 4"/>
            <p:cNvSpPr/>
            <p:nvPr/>
          </p:nvSpPr>
          <p:spPr>
            <a:xfrm>
              <a:off x="640080" y="685800"/>
              <a:ext cx="4206240" cy="420624"/>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640080" y="685800"/>
              <a:ext cx="4206240" cy="420624"/>
            </a:xfrm>
            <a:prstGeom prst="rect">
              <a:avLst/>
            </a:prstGeom>
            <a:noFill/>
          </p:spPr>
          <p:txBody>
            <a:bodyPr wrap="square" anchor="ctr" lIns="36576" rIns="36576" tIns="18288" bIns="18288">
              <a:spAutoFit/>
            </a:bodyPr>
            <a:lstStyle/>
            <a:p>
              <a:pPr algn="ctr"/>
              <a:r>
                <a:rPr sz="1100" b="1">
                  <a:solidFill>
                    <a:srgbClr val="B91C1C"/>
                  </a:solidFill>
                  <a:latin typeface="Segoe UI"/>
                </a:rPr>
                <a:t>TRƯỜNG ĐH TIỀN GIANG · KHOA KỸ THUẬT CÔNG NGHỆ</a:t>
              </a:r>
            </a:p>
          </p:txBody>
        </p:sp>
      </p:grpSp>
      <p:sp>
        <p:nvSpPr>
          <p:cNvPr id="7" name="S1_Title"/>
          <p:cNvSpPr txBox="1"/>
          <p:nvPr/>
        </p:nvSpPr>
        <p:spPr>
          <a:xfrm>
            <a:off x="640080" y="1280160"/>
            <a:ext cx="6766560" cy="2011680"/>
          </a:xfrm>
          <a:prstGeom prst="rect">
            <a:avLst/>
          </a:prstGeom>
          <a:noFill/>
        </p:spPr>
        <p:txBody>
          <a:bodyPr wrap="square" anchor="t" lIns="36576" rIns="36576" tIns="18288" bIns="18288">
            <a:spAutoFit/>
          </a:bodyPr>
          <a:lstStyle/>
          <a:p>
            <a:pPr algn="l"/>
            <a:r>
              <a:rPr sz="1600" b="1">
                <a:solidFill>
                  <a:srgbClr val="6B7280"/>
                </a:solidFill>
                <a:latin typeface="Segoe UI"/>
              </a:rPr>
              <a:t>BÁO CÁO ĐỒ ÁN CHUYÊN NGÀNH</a:t>
            </a:r>
          </a:p>
          <a:p>
            <a:pPr algn="l"/>
            <a:r>
              <a:rPr sz="3400" b="1">
                <a:solidFill>
                  <a:srgbClr val="111827"/>
                </a:solidFill>
                <a:latin typeface="Segoe UI"/>
              </a:rPr>
              <a:t>Xây dựng web app cửa hàng</a:t>
            </a:r>
          </a:p>
          <a:p>
            <a:pPr algn="l"/>
            <a:r>
              <a:rPr sz="3400" b="1">
                <a:solidFill>
                  <a:srgbClr val="111827"/>
                </a:solidFill>
                <a:latin typeface="Segoe UI"/>
              </a:rPr>
              <a:t>bán đồ ăn nhanh – </a:t>
            </a:r>
            <a:r>
              <a:rPr sz="3400" b="1">
                <a:solidFill>
                  <a:srgbClr val="EF4444"/>
                </a:solidFill>
                <a:latin typeface="Segoe UI"/>
              </a:rPr>
              <a:t>Zom</a:t>
            </a:r>
            <a:r>
              <a:rPr sz="3400" b="1">
                <a:solidFill>
                  <a:srgbClr val="D97706"/>
                </a:solidFill>
                <a:latin typeface="Segoe UI"/>
              </a:rPr>
              <a:t>Zop</a:t>
            </a:r>
          </a:p>
        </p:txBody>
      </p:sp>
      <p:grpSp>
        <p:nvGrpSpPr>
          <p:cNvPr id="8" name="S1_Info"/>
          <p:cNvGrpSpPr/>
          <p:nvPr/>
        </p:nvGrpSpPr>
        <p:grpSpPr>
          <a:xfrm>
            <a:off x="640080" y="3611880"/>
            <a:ext cx="6400800" cy="2103120"/>
            <a:chOff x="640080" y="3611880"/>
            <a:chExt cx="6400800" cy="2103120"/>
          </a:xfrm>
        </p:grpSpPr>
        <p:sp>
          <p:nvSpPr>
            <p:cNvPr id="9" name="Rounded Rectangle 8"/>
            <p:cNvSpPr/>
            <p:nvPr/>
          </p:nvSpPr>
          <p:spPr>
            <a:xfrm>
              <a:off x="640080" y="3611880"/>
              <a:ext cx="6400800" cy="210312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Rectangle 9"/>
            <p:cNvSpPr/>
            <p:nvPr/>
          </p:nvSpPr>
          <p:spPr>
            <a:xfrm>
              <a:off x="640080" y="3749039"/>
              <a:ext cx="73152" cy="1828800"/>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14400" y="3730752"/>
              <a:ext cx="5943600" cy="1920240"/>
            </a:xfrm>
            <a:prstGeom prst="rect">
              <a:avLst/>
            </a:prstGeom>
            <a:noFill/>
          </p:spPr>
          <p:txBody>
            <a:bodyPr wrap="square" anchor="t" lIns="36576" rIns="36576" tIns="18288" bIns="18288">
              <a:spAutoFit/>
            </a:bodyPr>
            <a:lstStyle/>
            <a:p>
              <a:pPr algn="l">
                <a:spcAft>
                  <a:spcPts val="300"/>
                </a:spcAft>
              </a:pPr>
              <a:r>
                <a:rPr sz="1400" b="1">
                  <a:solidFill>
                    <a:srgbClr val="6B7280"/>
                  </a:solidFill>
                  <a:latin typeface="Segoe UI"/>
                </a:rPr>
                <a:t>Giảng viên hướng dẫn:  </a:t>
              </a:r>
              <a:r>
                <a:rPr sz="1400" b="1">
                  <a:solidFill>
                    <a:srgbClr val="1F2937"/>
                  </a:solidFill>
                  <a:latin typeface="Segoe UI"/>
                </a:rPr>
                <a:t>ThS. Huỳnh Thị Nhật Hằng</a:t>
              </a:r>
            </a:p>
            <a:p>
              <a:pPr algn="l">
                <a:spcAft>
                  <a:spcPts val="300"/>
                </a:spcAft>
              </a:pPr>
              <a:r>
                <a:rPr sz="1400" b="1">
                  <a:solidFill>
                    <a:srgbClr val="6B7280"/>
                  </a:solidFill>
                  <a:latin typeface="Segoe UI"/>
                </a:rPr>
                <a:t>Sinh viên thực hiện:</a:t>
              </a:r>
            </a:p>
            <a:p>
              <a:pPr algn="l">
                <a:spcAft>
                  <a:spcPts val="300"/>
                </a:spcAft>
              </a:pPr>
              <a:r>
                <a:rPr sz="1400" b="0">
                  <a:solidFill>
                    <a:srgbClr val="1F2937"/>
                  </a:solidFill>
                  <a:latin typeface="Segoe UI"/>
                </a:rPr>
                <a:t>•  023101006 – Ngô Hữu Tính</a:t>
              </a:r>
            </a:p>
            <a:p>
              <a:pPr algn="l">
                <a:spcAft>
                  <a:spcPts val="300"/>
                </a:spcAft>
              </a:pPr>
              <a:r>
                <a:rPr sz="1400" b="0">
                  <a:solidFill>
                    <a:srgbClr val="1F2937"/>
                  </a:solidFill>
                  <a:latin typeface="Segoe UI"/>
                </a:rPr>
                <a:t>•  023101057 – Cao Phúc Thịnh</a:t>
              </a:r>
            </a:p>
            <a:p>
              <a:pPr algn="l">
                <a:spcAft>
                  <a:spcPts val="300"/>
                </a:spcAft>
              </a:pPr>
              <a:r>
                <a:rPr sz="1400" b="0">
                  <a:solidFill>
                    <a:srgbClr val="1F2937"/>
                  </a:solidFill>
                  <a:latin typeface="Segoe UI"/>
                </a:rPr>
                <a:t>•  023101058 – Nguyễn Văn Trực</a:t>
              </a:r>
            </a:p>
            <a:p>
              <a:pPr algn="l">
                <a:spcAft>
                  <a:spcPts val="300"/>
                </a:spcAft>
              </a:pPr>
              <a:r>
                <a:rPr sz="1400" b="1">
                  <a:solidFill>
                    <a:srgbClr val="6B7280"/>
                  </a:solidFill>
                  <a:latin typeface="Segoe UI"/>
                </a:rPr>
                <a:t>Lớp:  </a:t>
              </a:r>
              <a:r>
                <a:rPr sz="1400" b="1">
                  <a:solidFill>
                    <a:srgbClr val="1F2937"/>
                  </a:solidFill>
                  <a:latin typeface="Segoe UI"/>
                </a:rPr>
                <a:t>ĐH CNTT 23A</a:t>
              </a:r>
            </a:p>
          </p:txBody>
        </p:sp>
      </p:grpSp>
      <p:pic>
        <p:nvPicPr>
          <p:cNvPr id="12" name="S1_Mascot" descr="avatar-logo.png"/>
          <p:cNvPicPr>
            <a:picLocks noChangeAspect="1"/>
          </p:cNvPicPr>
          <p:nvPr/>
        </p:nvPicPr>
        <p:blipFill>
          <a:blip r:embed="rId2"/>
          <a:stretch>
            <a:fillRect/>
          </a:stretch>
        </p:blipFill>
        <p:spPr>
          <a:xfrm>
            <a:off x="8275320" y="1325880"/>
            <a:ext cx="3566160" cy="3566160"/>
          </a:xfrm>
          <a:prstGeom prst="rect">
            <a:avLst/>
          </a:prstGeom>
        </p:spPr>
      </p:pic>
      <p:pic>
        <p:nvPicPr>
          <p:cNvPr id="13" name="S1_TextLogo" descr="text-logo.png"/>
          <p:cNvPicPr>
            <a:picLocks noChangeAspect="1"/>
          </p:cNvPicPr>
          <p:nvPr/>
        </p:nvPicPr>
        <p:blipFill>
          <a:blip r:embed="rId3"/>
          <a:stretch>
            <a:fillRect/>
          </a:stretch>
        </p:blipFill>
        <p:spPr>
          <a:xfrm>
            <a:off x="8229600" y="5074920"/>
            <a:ext cx="2708031" cy="10058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400">
                                          <p:stCondLst>
                                            <p:cond delay="0"/>
                                          </p:stCondLst>
                                        </p:cTn>
                                        <p:tgtEl>
                                          <p:spTgt spid="4"/>
                                        </p:tgtEl>
                                      </p:cBhvr>
                                    </p:animEffect>
                                  </p:childTnLst>
                                </p:cTn>
                              </p:par>
                            </p:childTnLst>
                          </p:cTn>
                        </p:par>
                        <p:par>
                          <p:cTn id="8" fill="hold">
                            <p:stCondLst>
                              <p:cond delay="550"/>
                            </p:stCondLst>
                            <p:childTnLst>
                              <p:par>
                                <p:cTn id="11" presetID="10" presetClass="entr" presetSubtype="0" fill="hold" nodeType="after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600">
                                          <p:stCondLst>
                                            <p:cond delay="0"/>
                                          </p:stCondLst>
                                        </p:cTn>
                                        <p:tgtEl>
                                          <p:spTgt spid="7"/>
                                        </p:tgtEl>
                                      </p:cBhvr>
                                    </p:animEffect>
                                  </p:childTnLst>
                                </p:cTn>
                              </p:par>
                            </p:childTnLst>
                          </p:cTn>
                        </p:par>
                        <p:par>
                          <p:cTn id="12" fill="hold">
                            <p:stCondLst>
                              <p:cond delay="550"/>
                            </p:stCondLst>
                            <p:childTnLst>
                              <p:par>
                                <p:cTn id="17" presetID="53" presetClass="entr" presetSubtype="16" fill="hold" nodeType="withEffect">
                                  <p:stCondLst>
                                    <p:cond delay="0"/>
                                  </p:stCondLst>
                                  <p:childTnLst>
                                    <p:set>
                                      <p:cBhvr>
                                        <p:cTn id="13" dur="1" fill="hold">
                                          <p:stCondLst>
                                            <p:cond delay="0"/>
                                          </p:stCondLst>
                                        </p:cTn>
                                        <p:tgtEl>
                                          <p:spTgt spid="12"/>
                                        </p:tgtEl>
                                        <p:attrNameLst>
                                          <p:attrName>style.visibility</p:attrName>
                                        </p:attrNameLst>
                                      </p:cBhvr>
                                      <p:to>
                                        <p:strVal val="visible"/>
                                      </p:to>
                                    </p:set>
                                    <p:anim calcmode="lin" valueType="num">
                                      <p:cBhvr>
                                        <p:cTn id="14" dur="550" fill="hold">
                                          <p:stCondLst>
                                            <p:cond delay="0"/>
                                          </p:stCondLst>
                                        </p:cTn>
                                        <p:tgtEl>
                                          <p:spTgt spid="12"/>
                                        </p:tgtEl>
                                        <p:attrNameLst>
                                          <p:attrName>ppt_w</p:attrName>
                                        </p:attrNameLst>
                                      </p:cBhvr>
                                      <p:tavLst>
                                        <p:tav tm="0">
                                          <p:val>
                                            <p:fltVal val="0"/>
                                          </p:val>
                                        </p:tav>
                                        <p:tav tm="100000">
                                          <p:val>
                                            <p:strVal val="#ppt_w"/>
                                          </p:val>
                                        </p:tav>
                                      </p:tavLst>
                                    </p:anim>
                                    <p:anim calcmode="lin" valueType="num">
                                      <p:cBhvr>
                                        <p:cTn id="15" dur="550" fill="hold">
                                          <p:stCondLst>
                                            <p:cond delay="0"/>
                                          </p:stCondLst>
                                        </p:cTn>
                                        <p:tgtEl>
                                          <p:spTgt spid="12"/>
                                        </p:tgtEl>
                                        <p:attrNameLst>
                                          <p:attrName>ppt_h</p:attrName>
                                        </p:attrNameLst>
                                      </p:cBhvr>
                                      <p:tavLst>
                                        <p:tav tm="0">
                                          <p:val>
                                            <p:fltVal val="0"/>
                                          </p:val>
                                        </p:tav>
                                        <p:tav tm="100000">
                                          <p:val>
                                            <p:strVal val="#ppt_h"/>
                                          </p:val>
                                        </p:tav>
                                      </p:tavLst>
                                    </p:anim>
                                    <p:animEffect transition="in" filter="fade">
                                      <p:cBhvr>
                                        <p:cTn id="16" dur="550">
                                          <p:stCondLst>
                                            <p:cond delay="0"/>
                                          </p:stCondLst>
                                        </p:cTn>
                                        <p:tgtEl>
                                          <p:spTgt spid="12"/>
                                        </p:tgtEl>
                                      </p:cBhvr>
                                    </p:animEffect>
                                  </p:childTnLst>
                                </p:cTn>
                              </p:par>
                            </p:childTnLst>
                          </p:cTn>
                        </p:par>
                        <p:par>
                          <p:cTn id="18" fill="hold">
                            <p:stCondLst>
                              <p:cond delay="1250"/>
                            </p:stCondLst>
                            <p:childTnLst>
                              <p:par>
                                <p:cTn id="21" presetID="10" presetClass="entr" presetSubtype="0" fill="hold" nodeType="afterEffect">
                                  <p:stCondLst>
                                    <p:cond delay="0"/>
                                  </p:stCondLst>
                                  <p:childTnLst>
                                    <p:set>
                                      <p:cBhvr>
                                        <p:cTn id="19" dur="1" fill="hold">
                                          <p:stCondLst>
                                            <p:cond delay="0"/>
                                          </p:stCondLst>
                                        </p:cTn>
                                        <p:tgtEl>
                                          <p:spTgt spid="13"/>
                                        </p:tgtEl>
                                        <p:attrNameLst>
                                          <p:attrName>style.visibility</p:attrName>
                                        </p:attrNameLst>
                                      </p:cBhvr>
                                      <p:to>
                                        <p:strVal val="visible"/>
                                      </p:to>
                                    </p:set>
                                    <p:animEffect transition="in" filter="fade">
                                      <p:cBhvr>
                                        <p:cTn id="20" dur="400">
                                          <p:stCondLst>
                                            <p:cond delay="0"/>
                                          </p:stCondLst>
                                        </p:cTn>
                                        <p:tgtEl>
                                          <p:spTgt spid="13"/>
                                        </p:tgtEl>
                                      </p:cBhvr>
                                    </p:animEffect>
                                  </p:childTnLst>
                                </p:cTn>
                              </p:par>
                            </p:childTnLst>
                          </p:cTn>
                        </p:par>
                        <p:par>
                          <p:cTn id="22" fill="hold">
                            <p:stCondLst>
                              <p:cond delay="1800"/>
                            </p:stCondLst>
                            <p:childTnLst>
                              <p:par>
                                <p:cTn id="25" presetID="10" presetClass="entr" presetSubtype="0" fill="hold" nodeType="after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500">
                                          <p:stCondLst>
                                            <p:cond delay="0"/>
                                          </p:stCondLst>
                                        </p:cTn>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Lý do chọn đề tài</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2</a:t>
            </a:r>
          </a:p>
        </p:txBody>
      </p:sp>
      <p:grpSp>
        <p:nvGrpSpPr>
          <p:cNvPr id="11" name="S2_Left"/>
          <p:cNvGrpSpPr/>
          <p:nvPr/>
        </p:nvGrpSpPr>
        <p:grpSpPr>
          <a:xfrm>
            <a:off x="411480" y="1417320"/>
            <a:ext cx="5120640" cy="3291840"/>
            <a:chOff x="411480" y="1417320"/>
            <a:chExt cx="5120640" cy="3291840"/>
          </a:xfrm>
        </p:grpSpPr>
        <p:sp>
          <p:nvSpPr>
            <p:cNvPr id="12" name="Rounded Rectangle 11"/>
            <p:cNvSpPr/>
            <p:nvPr/>
          </p:nvSpPr>
          <p:spPr>
            <a:xfrm>
              <a:off x="411480" y="1417320"/>
              <a:ext cx="5120640" cy="2743200"/>
            </a:xfrm>
            <a:prstGeom prst="roundRect">
              <a:avLst>
                <a:gd name="adj" fmla="val 8000"/>
              </a:avLst>
            </a:prstGeom>
            <a:solidFill>
              <a:srgbClr val="F3F4F6"/>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800" y="164592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300">
                  <a:latin typeface="Segoe UI Emoji"/>
                </a:rPr>
                <a:t>😓</a:t>
              </a:r>
            </a:p>
          </p:txBody>
        </p:sp>
        <p:sp>
          <p:nvSpPr>
            <p:cNvPr id="14" name="TextBox 13"/>
            <p:cNvSpPr txBox="1"/>
            <p:nvPr/>
          </p:nvSpPr>
          <p:spPr>
            <a:xfrm>
              <a:off x="1463040" y="1691640"/>
              <a:ext cx="3840480" cy="548640"/>
            </a:xfrm>
            <a:prstGeom prst="rect">
              <a:avLst/>
            </a:prstGeom>
            <a:noFill/>
          </p:spPr>
          <p:txBody>
            <a:bodyPr wrap="square" anchor="ctr" lIns="36576" rIns="36576" tIns="18288" bIns="18288">
              <a:spAutoFit/>
            </a:bodyPr>
            <a:lstStyle/>
            <a:p>
              <a:pPr algn="l"/>
              <a:r>
                <a:rPr sz="1800" b="1">
                  <a:solidFill>
                    <a:srgbClr val="111827"/>
                  </a:solidFill>
                  <a:latin typeface="Segoe UI"/>
                </a:rPr>
                <a:t>Hiện trạng cửa hàng</a:t>
              </a:r>
            </a:p>
          </p:txBody>
        </p:sp>
        <p:sp>
          <p:nvSpPr>
            <p:cNvPr id="15" name="TextBox 14"/>
            <p:cNvSpPr txBox="1"/>
            <p:nvPr/>
          </p:nvSpPr>
          <p:spPr>
            <a:xfrm>
              <a:off x="731520" y="2514600"/>
              <a:ext cx="4572000" cy="2194560"/>
            </a:xfrm>
            <a:prstGeom prst="rect">
              <a:avLst/>
            </a:prstGeom>
            <a:noFill/>
          </p:spPr>
          <p:txBody>
            <a:bodyPr wrap="square" anchor="t" lIns="36576" rIns="36576" tIns="18288" bIns="18288">
              <a:spAutoFit/>
            </a:bodyPr>
            <a:lstStyle/>
            <a:p>
              <a:pPr algn="l">
                <a:spcAft>
                  <a:spcPts val="400"/>
                </a:spcAft>
              </a:pPr>
              <a:r>
                <a:rPr sz="1700" b="1">
                  <a:solidFill>
                    <a:srgbClr val="6B7280"/>
                  </a:solidFill>
                  <a:latin typeface="Segoe UI"/>
                </a:rPr>
                <a:t>✖  </a:t>
              </a:r>
              <a:r>
                <a:rPr sz="1700" b="0">
                  <a:solidFill>
                    <a:srgbClr val="1F2937"/>
                  </a:solidFill>
                  <a:latin typeface="Segoe UI"/>
                </a:rPr>
                <a:t>Phụ thuộc app giao đồ ăn, mất hoa hồng</a:t>
              </a:r>
            </a:p>
            <a:p>
              <a:pPr algn="l">
                <a:spcAft>
                  <a:spcPts val="400"/>
                </a:spcAft>
              </a:pPr>
              <a:r>
                <a:rPr sz="1700" b="1">
                  <a:solidFill>
                    <a:srgbClr val="6B7280"/>
                  </a:solidFill>
                  <a:latin typeface="Segoe UI"/>
                </a:rPr>
                <a:t>✖  </a:t>
              </a:r>
              <a:r>
                <a:rPr sz="1700" b="0">
                  <a:solidFill>
                    <a:srgbClr val="1F2937"/>
                  </a:solidFill>
                  <a:latin typeface="Segoe UI"/>
                </a:rPr>
                <a:t>Dữ liệu khách không thuộc cửa hàng</a:t>
              </a:r>
            </a:p>
            <a:p>
              <a:pPr algn="l">
                <a:spcAft>
                  <a:spcPts val="400"/>
                </a:spcAft>
              </a:pPr>
              <a:r>
                <a:rPr sz="1700" b="1">
                  <a:solidFill>
                    <a:srgbClr val="6B7280"/>
                  </a:solidFill>
                  <a:latin typeface="Segoe UI"/>
                </a:rPr>
                <a:t>✖  </a:t>
              </a:r>
              <a:r>
                <a:rPr sz="1700" b="0">
                  <a:solidFill>
                    <a:srgbClr val="1F2937"/>
                  </a:solidFill>
                  <a:latin typeface="Segoe UI"/>
                </a:rPr>
                <a:t>Ca làm, chấm công, lương ghi sổ tay</a:t>
              </a:r>
            </a:p>
          </p:txBody>
        </p:sp>
      </p:grpSp>
      <p:sp>
        <p:nvSpPr>
          <p:cNvPr id="16" name="S2_Vs"/>
          <p:cNvSpPr/>
          <p:nvPr/>
        </p:nvSpPr>
        <p:spPr>
          <a:xfrm>
            <a:off x="5760720" y="2450592"/>
            <a:ext cx="685800" cy="68580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600" b="1">
                <a:solidFill>
                  <a:srgbClr val="FFFFFF"/>
                </a:solidFill>
                <a:latin typeface="Segoe UI"/>
              </a:rPr>
              <a:t>VS</a:t>
            </a:r>
          </a:p>
        </p:txBody>
      </p:sp>
      <p:grpSp>
        <p:nvGrpSpPr>
          <p:cNvPr id="17" name="S2_Right"/>
          <p:cNvGrpSpPr/>
          <p:nvPr/>
        </p:nvGrpSpPr>
        <p:grpSpPr>
          <a:xfrm>
            <a:off x="6675120" y="1417320"/>
            <a:ext cx="5102352" cy="3291840"/>
            <a:chOff x="6675120" y="1417320"/>
            <a:chExt cx="5102352" cy="3291840"/>
          </a:xfrm>
        </p:grpSpPr>
        <p:sp>
          <p:nvSpPr>
            <p:cNvPr id="18" name="Rounded Rectangle 17"/>
            <p:cNvSpPr/>
            <p:nvPr/>
          </p:nvSpPr>
          <p:spPr>
            <a:xfrm>
              <a:off x="6675120" y="1417320"/>
              <a:ext cx="5102352" cy="2743200"/>
            </a:xfrm>
            <a:prstGeom prst="roundRect">
              <a:avLst>
                <a:gd name="adj" fmla="val 8000"/>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949440" y="1645920"/>
              <a:ext cx="640080" cy="64008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300">
                  <a:latin typeface="Segoe UI Emoji"/>
                </a:rPr>
                <a:t>🍔</a:t>
              </a:r>
            </a:p>
          </p:txBody>
        </p:sp>
        <p:sp>
          <p:nvSpPr>
            <p:cNvPr id="20" name="TextBox 19"/>
            <p:cNvSpPr txBox="1"/>
            <p:nvPr/>
          </p:nvSpPr>
          <p:spPr>
            <a:xfrm>
              <a:off x="7726679" y="1691640"/>
              <a:ext cx="3840480" cy="548640"/>
            </a:xfrm>
            <a:prstGeom prst="rect">
              <a:avLst/>
            </a:prstGeom>
            <a:noFill/>
          </p:spPr>
          <p:txBody>
            <a:bodyPr wrap="square" anchor="ctr" lIns="36576" rIns="36576" tIns="18288" bIns="18288">
              <a:spAutoFit/>
            </a:bodyPr>
            <a:lstStyle/>
            <a:p>
              <a:pPr algn="l"/>
              <a:r>
                <a:rPr sz="1800" b="1">
                  <a:solidFill>
                    <a:srgbClr val="B91C1C"/>
                  </a:solidFill>
                  <a:latin typeface="Segoe UI"/>
                </a:rPr>
                <a:t>Giải pháp ZomZop</a:t>
              </a:r>
            </a:p>
          </p:txBody>
        </p:sp>
        <p:sp>
          <p:nvSpPr>
            <p:cNvPr id="21" name="TextBox 20"/>
            <p:cNvSpPr txBox="1"/>
            <p:nvPr/>
          </p:nvSpPr>
          <p:spPr>
            <a:xfrm>
              <a:off x="6995160" y="2514600"/>
              <a:ext cx="4572000" cy="2194560"/>
            </a:xfrm>
            <a:prstGeom prst="rect">
              <a:avLst/>
            </a:prstGeom>
            <a:noFill/>
          </p:spPr>
          <p:txBody>
            <a:bodyPr wrap="square" anchor="t" lIns="36576" rIns="36576" tIns="18288" bIns="18288">
              <a:spAutoFit/>
            </a:bodyPr>
            <a:lstStyle/>
            <a:p>
              <a:pPr algn="l">
                <a:spcAft>
                  <a:spcPts val="400"/>
                </a:spcAft>
              </a:pPr>
              <a:r>
                <a:rPr sz="1700" b="1">
                  <a:solidFill>
                    <a:srgbClr val="EF4444"/>
                  </a:solidFill>
                  <a:latin typeface="Segoe UI"/>
                </a:rPr>
                <a:t>✔  </a:t>
              </a:r>
              <a:r>
                <a:rPr sz="1700" b="0">
                  <a:solidFill>
                    <a:srgbClr val="1F2937"/>
                  </a:solidFill>
                  <a:latin typeface="Segoe UI"/>
                </a:rPr>
                <a:t>Kênh đặt món riêng của cửa hàng</a:t>
              </a:r>
            </a:p>
            <a:p>
              <a:pPr algn="l">
                <a:spcAft>
                  <a:spcPts val="400"/>
                </a:spcAft>
              </a:pPr>
              <a:r>
                <a:rPr sz="1700" b="1">
                  <a:solidFill>
                    <a:srgbClr val="EF4444"/>
                  </a:solidFill>
                  <a:latin typeface="Segoe UI"/>
                </a:rPr>
                <a:t>✔  </a:t>
              </a:r>
              <a:r>
                <a:rPr sz="1700" b="0">
                  <a:solidFill>
                    <a:srgbClr val="1F2937"/>
                  </a:solidFill>
                  <a:latin typeface="Segoe UI"/>
                </a:rPr>
                <a:t>Quản lý khép kín từng chi nhánh</a:t>
              </a:r>
            </a:p>
            <a:p>
              <a:pPr algn="l">
                <a:spcAft>
                  <a:spcPts val="400"/>
                </a:spcAft>
              </a:pPr>
              <a:r>
                <a:rPr sz="1700" b="1">
                  <a:solidFill>
                    <a:srgbClr val="EF4444"/>
                  </a:solidFill>
                  <a:latin typeface="Segoe UI"/>
                </a:rPr>
                <a:t>✔  </a:t>
              </a:r>
              <a:r>
                <a:rPr sz="1700" b="0">
                  <a:solidFill>
                    <a:srgbClr val="1F2937"/>
                  </a:solidFill>
                  <a:latin typeface="Segoe UI"/>
                </a:rPr>
                <a:t>Chấm công khuôn mặt, lương tự tính</a:t>
              </a:r>
            </a:p>
          </p:txBody>
        </p:sp>
      </p:grpSp>
      <p:grpSp>
        <p:nvGrpSpPr>
          <p:cNvPr id="22" name="S2_Footer"/>
          <p:cNvGrpSpPr/>
          <p:nvPr/>
        </p:nvGrpSpPr>
        <p:grpSpPr>
          <a:xfrm>
            <a:off x="411480" y="4572000"/>
            <a:ext cx="11365992" cy="457200"/>
            <a:chOff x="411480" y="4572000"/>
            <a:chExt cx="11365992" cy="457200"/>
          </a:xfrm>
        </p:grpSpPr>
        <p:sp>
          <p:nvSpPr>
            <p:cNvPr id="23" name="Rounded Rectangle 22"/>
            <p:cNvSpPr/>
            <p:nvPr/>
          </p:nvSpPr>
          <p:spPr>
            <a:xfrm>
              <a:off x="411480" y="4572000"/>
              <a:ext cx="11365992" cy="457200"/>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extBox 23"/>
            <p:cNvSpPr txBox="1"/>
            <p:nvPr/>
          </p:nvSpPr>
          <p:spPr>
            <a:xfrm>
              <a:off x="548640" y="4572000"/>
              <a:ext cx="11064240" cy="457200"/>
            </a:xfrm>
            <a:prstGeom prst="rect">
              <a:avLst/>
            </a:prstGeom>
            <a:noFill/>
          </p:spPr>
          <p:txBody>
            <a:bodyPr wrap="square" anchor="ctr" lIns="36576" rIns="36576" tIns="18288" bIns="18288">
              <a:spAutoFit/>
            </a:bodyPr>
            <a:lstStyle/>
            <a:p>
              <a:pPr algn="ctr"/>
              <a:r>
                <a:rPr sz="1300" b="1">
                  <a:solidFill>
                    <a:srgbClr val="F59E0B"/>
                  </a:solidFill>
                  <a:latin typeface="Segoe UI"/>
                </a:rPr>
                <a:t>★  </a:t>
              </a:r>
              <a:r>
                <a:rPr sz="1300" b="1">
                  <a:solidFill>
                    <a:srgbClr val="FFFFFF"/>
                  </a:solidFill>
                  <a:latin typeface="Segoe UI"/>
                </a:rPr>
                <a:t>Một hệ thống cho cả bán hàng trực tuyến và vận hành nội bộ chuỗi</a:t>
              </a:r>
            </a:p>
          </p:txBody>
        </p:sp>
      </p:gr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9" presetID="53" presetClass="entr" presetSubtype="16"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 calcmode="lin" valueType="num">
                                      <p:cBhvr>
                                        <p:cTn id="16" dur="400" fill="hold">
                                          <p:stCondLst>
                                            <p:cond delay="0"/>
                                          </p:stCondLst>
                                        </p:cTn>
                                        <p:tgtEl>
                                          <p:spTgt spid="16"/>
                                        </p:tgtEl>
                                        <p:attrNameLst>
                                          <p:attrName>ppt_w</p:attrName>
                                        </p:attrNameLst>
                                      </p:cBhvr>
                                      <p:tavLst>
                                        <p:tav tm="0">
                                          <p:val>
                                            <p:fltVal val="0"/>
                                          </p:val>
                                        </p:tav>
                                        <p:tav tm="100000">
                                          <p:val>
                                            <p:strVal val="#ppt_w"/>
                                          </p:val>
                                        </p:tav>
                                      </p:tavLst>
                                    </p:anim>
                                    <p:anim calcmode="lin" valueType="num">
                                      <p:cBhvr>
                                        <p:cTn id="17" dur="400" fill="hold">
                                          <p:stCondLst>
                                            <p:cond delay="0"/>
                                          </p:stCondLst>
                                        </p:cTn>
                                        <p:tgtEl>
                                          <p:spTgt spid="16"/>
                                        </p:tgtEl>
                                        <p:attrNameLst>
                                          <p:attrName>ppt_h</p:attrName>
                                        </p:attrNameLst>
                                      </p:cBhvr>
                                      <p:tavLst>
                                        <p:tav tm="0">
                                          <p:val>
                                            <p:fltVal val="0"/>
                                          </p:val>
                                        </p:tav>
                                        <p:tav tm="100000">
                                          <p:val>
                                            <p:strVal val="#ppt_h"/>
                                          </p:val>
                                        </p:tav>
                                      </p:tavLst>
                                    </p:anim>
                                    <p:animEffect transition="in" filter="fade">
                                      <p:cBhvr>
                                        <p:cTn id="18" dur="400">
                                          <p:stCondLst>
                                            <p:cond delay="0"/>
                                          </p:stCondLst>
                                        </p:cTn>
                                        <p:tgtEl>
                                          <p:spTgt spid="16"/>
                                        </p:tgtEl>
                                      </p:cBhvr>
                                    </p:animEffect>
                                  </p:childTnLst>
                                </p:cTn>
                              </p:par>
                            </p:childTnLst>
                          </p:cTn>
                        </p:par>
                        <p:par>
                          <p:cTn id="20" fill="hold">
                            <p:stCondLst>
                              <p:cond delay="550"/>
                            </p:stCondLst>
                            <p:childTnLst>
                              <p:par>
                                <p:cTn id="23" presetID="10" presetClass="entr" presetSubtype="0"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stCondLst>
                                            <p:cond delay="0"/>
                                          </p:stCondLst>
                                        </p:cTn>
                                        <p:tgtEl>
                                          <p:spTgt spid="17"/>
                                        </p:tgtEl>
                                      </p:cBhvr>
                                    </p:animEffect>
                                  </p:childTnLst>
                                </p:cTn>
                              </p:par>
                            </p:childTnLst>
                          </p:cTn>
                        </p:par>
                      </p:childTnLst>
                    </p:cTn>
                  </p:par>
                  <p:par>
                    <p:cTn id="24" fill="hold">
                      <p:stCondLst>
                        <p:cond delay="indefinite"/>
                      </p:stCondLst>
                      <p:childTnLst>
                        <p:par>
                          <p:cTn id="25" fill="hold">
                            <p:stCondLst>
                              <p:cond delay="0"/>
                            </p:stCondLst>
                            <p:childTnLst>
                              <p:par>
                                <p:cTn id="28" presetID="22" presetClass="entr" presetSubtype="8" fill="hold" nodeType="clickEffect">
                                  <p:stCondLst>
                                    <p:cond delay="0"/>
                                  </p:stCondLst>
                                  <p:childTnLst>
                                    <p:set>
                                      <p:cBhvr>
                                        <p:cTn id="26" dur="1" fill="hold">
                                          <p:stCondLst>
                                            <p:cond delay="0"/>
                                          </p:stCondLst>
                                        </p:cTn>
                                        <p:tgtEl>
                                          <p:spTgt spid="22"/>
                                        </p:tgtEl>
                                        <p:attrNameLst>
                                          <p:attrName>style.visibility</p:attrName>
                                        </p:attrNameLst>
                                      </p:cBhvr>
                                      <p:to>
                                        <p:strVal val="visible"/>
                                      </p:to>
                                    </p:set>
                                    <p:animEffect transition="in" filter="wipe(left)">
                                      <p:cBhvr>
                                        <p:cTn id="27" dur="500">
                                          <p:stCondLst>
                                            <p:cond delay="0"/>
                                          </p:stCondLst>
                                        </p:cTn>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Mục tiêu và phạm vi</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3</a:t>
            </a:r>
          </a:p>
        </p:txBody>
      </p:sp>
      <p:grpSp>
        <p:nvGrpSpPr>
          <p:cNvPr id="11" name="S3_Card1"/>
          <p:cNvGrpSpPr/>
          <p:nvPr/>
        </p:nvGrpSpPr>
        <p:grpSpPr>
          <a:xfrm>
            <a:off x="411480" y="1371600"/>
            <a:ext cx="5632704" cy="2194560"/>
            <a:chOff x="411480" y="1371600"/>
            <a:chExt cx="5632704" cy="2194560"/>
          </a:xfrm>
        </p:grpSpPr>
        <p:sp>
          <p:nvSpPr>
            <p:cNvPr id="12" name="Rounded Rectangle 11"/>
            <p:cNvSpPr/>
            <p:nvPr/>
          </p:nvSpPr>
          <p:spPr>
            <a:xfrm>
              <a:off x="411480" y="1371600"/>
              <a:ext cx="5632704" cy="219456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685800" y="1645920"/>
              <a:ext cx="731520" cy="73152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14" name="Oval 13"/>
            <p:cNvSpPr/>
            <p:nvPr/>
          </p:nvSpPr>
          <p:spPr>
            <a:xfrm>
              <a:off x="5394960" y="1600200"/>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1</a:t>
              </a:r>
            </a:p>
          </p:txBody>
        </p:sp>
        <p:sp>
          <p:nvSpPr>
            <p:cNvPr id="15" name="TextBox 14"/>
            <p:cNvSpPr txBox="1"/>
            <p:nvPr/>
          </p:nvSpPr>
          <p:spPr>
            <a:xfrm>
              <a:off x="1600200" y="1691640"/>
              <a:ext cx="3657600" cy="548640"/>
            </a:xfrm>
            <a:prstGeom prst="rect">
              <a:avLst/>
            </a:prstGeom>
            <a:noFill/>
          </p:spPr>
          <p:txBody>
            <a:bodyPr wrap="square" anchor="ctr" lIns="36576" rIns="36576" tIns="18288" bIns="18288">
              <a:spAutoFit/>
            </a:bodyPr>
            <a:lstStyle/>
            <a:p>
              <a:pPr algn="l"/>
              <a:r>
                <a:rPr sz="1700" b="1">
                  <a:solidFill>
                    <a:srgbClr val="111827"/>
                  </a:solidFill>
                  <a:latin typeface="Segoe UI"/>
                </a:rPr>
                <a:t>Khách hàng</a:t>
              </a:r>
            </a:p>
          </p:txBody>
        </p:sp>
        <p:sp>
          <p:nvSpPr>
            <p:cNvPr id="16" name="TextBox 15"/>
            <p:cNvSpPr txBox="1"/>
            <p:nvPr/>
          </p:nvSpPr>
          <p:spPr>
            <a:xfrm>
              <a:off x="1600200" y="2286000"/>
              <a:ext cx="4297680" cy="118872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Chọn chi nhánh, tìm món, đặt hàng</a:t>
              </a:r>
            </a:p>
            <a:p>
              <a:pPr algn="l">
                <a:spcAft>
                  <a:spcPts val="400"/>
                </a:spcAft>
              </a:pPr>
              <a:r>
                <a:rPr sz="1300" b="1">
                  <a:solidFill>
                    <a:srgbClr val="EF4444"/>
                  </a:solidFill>
                  <a:latin typeface="Segoe UI"/>
                </a:rPr>
                <a:t>✔  </a:t>
              </a:r>
              <a:r>
                <a:rPr sz="1300" b="0">
                  <a:solidFill>
                    <a:srgbClr val="1F2937"/>
                  </a:solidFill>
                  <a:latin typeface="Segoe UI"/>
                </a:rPr>
                <a:t>Mã giảm giá, 4 cách thanh toán</a:t>
              </a:r>
            </a:p>
            <a:p>
              <a:pPr algn="l">
                <a:spcAft>
                  <a:spcPts val="400"/>
                </a:spcAft>
              </a:pPr>
              <a:r>
                <a:rPr sz="1300" b="1">
                  <a:solidFill>
                    <a:srgbClr val="EF4444"/>
                  </a:solidFill>
                  <a:latin typeface="Segoe UI"/>
                </a:rPr>
                <a:t>✔  </a:t>
              </a:r>
              <a:r>
                <a:rPr sz="1300" b="0">
                  <a:solidFill>
                    <a:srgbClr val="1F2937"/>
                  </a:solidFill>
                  <a:latin typeface="Segoe UI"/>
                </a:rPr>
                <a:t>Theo dõi, đánh giá, chatbot AI</a:t>
              </a:r>
            </a:p>
          </p:txBody>
        </p:sp>
      </p:grpSp>
      <p:grpSp>
        <p:nvGrpSpPr>
          <p:cNvPr id="17" name="S3_Card2"/>
          <p:cNvGrpSpPr/>
          <p:nvPr/>
        </p:nvGrpSpPr>
        <p:grpSpPr>
          <a:xfrm>
            <a:off x="6144768" y="1371600"/>
            <a:ext cx="5632704" cy="2194560"/>
            <a:chOff x="6144768" y="1371600"/>
            <a:chExt cx="5632704" cy="2194560"/>
          </a:xfrm>
        </p:grpSpPr>
        <p:sp>
          <p:nvSpPr>
            <p:cNvPr id="18" name="Rounded Rectangle 17"/>
            <p:cNvSpPr/>
            <p:nvPr/>
          </p:nvSpPr>
          <p:spPr>
            <a:xfrm>
              <a:off x="6144768" y="1371600"/>
              <a:ext cx="5632704" cy="219456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6419088" y="1645920"/>
              <a:ext cx="731520" cy="73152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20" name="Oval 19"/>
            <p:cNvSpPr/>
            <p:nvPr/>
          </p:nvSpPr>
          <p:spPr>
            <a:xfrm>
              <a:off x="11128248" y="1600200"/>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2</a:t>
              </a:r>
            </a:p>
          </p:txBody>
        </p:sp>
        <p:sp>
          <p:nvSpPr>
            <p:cNvPr id="21" name="TextBox 20"/>
            <p:cNvSpPr txBox="1"/>
            <p:nvPr/>
          </p:nvSpPr>
          <p:spPr>
            <a:xfrm>
              <a:off x="7333488" y="1691640"/>
              <a:ext cx="3657600" cy="548640"/>
            </a:xfrm>
            <a:prstGeom prst="rect">
              <a:avLst/>
            </a:prstGeom>
            <a:noFill/>
          </p:spPr>
          <p:txBody>
            <a:bodyPr wrap="square" anchor="ctr" lIns="36576" rIns="36576" tIns="18288" bIns="18288">
              <a:spAutoFit/>
            </a:bodyPr>
            <a:lstStyle/>
            <a:p>
              <a:pPr algn="l"/>
              <a:r>
                <a:rPr sz="1700" b="1">
                  <a:solidFill>
                    <a:srgbClr val="111827"/>
                  </a:solidFill>
                  <a:latin typeface="Segoe UI"/>
                </a:rPr>
                <a:t>Quản lý chi nhánh</a:t>
              </a:r>
            </a:p>
          </p:txBody>
        </p:sp>
        <p:sp>
          <p:nvSpPr>
            <p:cNvPr id="22" name="TextBox 21"/>
            <p:cNvSpPr txBox="1"/>
            <p:nvPr/>
          </p:nvSpPr>
          <p:spPr>
            <a:xfrm>
              <a:off x="7333488" y="2286000"/>
              <a:ext cx="4297680" cy="118872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Duyệt đơn theo luồng trạng thái</a:t>
              </a:r>
            </a:p>
            <a:p>
              <a:pPr algn="l">
                <a:spcAft>
                  <a:spcPts val="400"/>
                </a:spcAft>
              </a:pPr>
              <a:r>
                <a:rPr sz="1300" b="1">
                  <a:solidFill>
                    <a:srgbClr val="EF4444"/>
                  </a:solidFill>
                  <a:latin typeface="Segoe UI"/>
                </a:rPr>
                <a:t>✔  </a:t>
              </a:r>
              <a:r>
                <a:rPr sz="1300" b="0">
                  <a:solidFill>
                    <a:srgbClr val="1F2937"/>
                  </a:solidFill>
                  <a:latin typeface="Segoe UI"/>
                </a:rPr>
                <a:t>Thực đơn, giá, tồn kho riêng</a:t>
              </a:r>
            </a:p>
            <a:p>
              <a:pPr algn="l">
                <a:spcAft>
                  <a:spcPts val="400"/>
                </a:spcAft>
              </a:pPr>
              <a:r>
                <a:rPr sz="1300" b="1">
                  <a:solidFill>
                    <a:srgbClr val="EF4444"/>
                  </a:solidFill>
                  <a:latin typeface="Segoe UI"/>
                </a:rPr>
                <a:t>✔  </a:t>
              </a:r>
              <a:r>
                <a:rPr sz="1300" b="0">
                  <a:solidFill>
                    <a:srgbClr val="1F2937"/>
                  </a:solidFill>
                  <a:latin typeface="Segoe UI"/>
                </a:rPr>
                <a:t>Nhân sự, ca, lương, báo cáo</a:t>
              </a:r>
            </a:p>
          </p:txBody>
        </p:sp>
      </p:grpSp>
      <p:grpSp>
        <p:nvGrpSpPr>
          <p:cNvPr id="23" name="S3_Card3"/>
          <p:cNvGrpSpPr/>
          <p:nvPr/>
        </p:nvGrpSpPr>
        <p:grpSpPr>
          <a:xfrm>
            <a:off x="411480" y="3749039"/>
            <a:ext cx="5632704" cy="2194560"/>
            <a:chOff x="411480" y="3749039"/>
            <a:chExt cx="5632704" cy="2194560"/>
          </a:xfrm>
        </p:grpSpPr>
        <p:sp>
          <p:nvSpPr>
            <p:cNvPr id="24" name="Rounded Rectangle 23"/>
            <p:cNvSpPr/>
            <p:nvPr/>
          </p:nvSpPr>
          <p:spPr>
            <a:xfrm>
              <a:off x="411480" y="3749039"/>
              <a:ext cx="5632704" cy="219456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685800" y="4023359"/>
              <a:ext cx="731520" cy="731520"/>
            </a:xfrm>
            <a:prstGeom prst="ellipse">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26" name="Oval 25"/>
            <p:cNvSpPr/>
            <p:nvPr/>
          </p:nvSpPr>
          <p:spPr>
            <a:xfrm>
              <a:off x="5394960" y="397763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3</a:t>
              </a:r>
            </a:p>
          </p:txBody>
        </p:sp>
        <p:sp>
          <p:nvSpPr>
            <p:cNvPr id="27" name="TextBox 26"/>
            <p:cNvSpPr txBox="1"/>
            <p:nvPr/>
          </p:nvSpPr>
          <p:spPr>
            <a:xfrm>
              <a:off x="1600200" y="4069079"/>
              <a:ext cx="3657600" cy="548640"/>
            </a:xfrm>
            <a:prstGeom prst="rect">
              <a:avLst/>
            </a:prstGeom>
            <a:noFill/>
          </p:spPr>
          <p:txBody>
            <a:bodyPr wrap="square" anchor="ctr" lIns="36576" rIns="36576" tIns="18288" bIns="18288">
              <a:spAutoFit/>
            </a:bodyPr>
            <a:lstStyle/>
            <a:p>
              <a:pPr algn="l"/>
              <a:r>
                <a:rPr sz="1700" b="1">
                  <a:solidFill>
                    <a:srgbClr val="111827"/>
                  </a:solidFill>
                  <a:latin typeface="Segoe UI"/>
                </a:rPr>
                <a:t>Quản trị viên</a:t>
              </a:r>
            </a:p>
          </p:txBody>
        </p:sp>
        <p:sp>
          <p:nvSpPr>
            <p:cNvPr id="28" name="TextBox 27"/>
            <p:cNvSpPr txBox="1"/>
            <p:nvPr/>
          </p:nvSpPr>
          <p:spPr>
            <a:xfrm>
              <a:off x="1600200" y="4663440"/>
              <a:ext cx="4297680" cy="118872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Chi nhánh, tài khoản quản lý</a:t>
              </a:r>
            </a:p>
            <a:p>
              <a:pPr algn="l">
                <a:spcAft>
                  <a:spcPts val="400"/>
                </a:spcAft>
              </a:pPr>
              <a:r>
                <a:rPr sz="1300" b="1">
                  <a:solidFill>
                    <a:srgbClr val="EF4444"/>
                  </a:solidFill>
                  <a:latin typeface="Segoe UI"/>
                </a:rPr>
                <a:t>✔  </a:t>
              </a:r>
              <a:r>
                <a:rPr sz="1300" b="0">
                  <a:solidFill>
                    <a:srgbClr val="1F2937"/>
                  </a:solidFill>
                  <a:latin typeface="Segoe UI"/>
                </a:rPr>
                <a:t>Thực đơn gốc, banner, voucher</a:t>
              </a:r>
            </a:p>
            <a:p>
              <a:pPr algn="l">
                <a:spcAft>
                  <a:spcPts val="400"/>
                </a:spcAft>
              </a:pPr>
              <a:r>
                <a:rPr sz="1300" b="1">
                  <a:solidFill>
                    <a:srgbClr val="EF4444"/>
                  </a:solidFill>
                  <a:latin typeface="Segoe UI"/>
                </a:rPr>
                <a:t>✔  </a:t>
              </a:r>
              <a:r>
                <a:rPr sz="1300" b="0">
                  <a:solidFill>
                    <a:srgbClr val="1F2937"/>
                  </a:solidFill>
                  <a:latin typeface="Segoe UI"/>
                </a:rPr>
                <a:t>Báo cáo toàn chuỗi, chatbot</a:t>
              </a:r>
            </a:p>
          </p:txBody>
        </p:sp>
      </p:grpSp>
      <p:grpSp>
        <p:nvGrpSpPr>
          <p:cNvPr id="29" name="S3_Card4"/>
          <p:cNvGrpSpPr/>
          <p:nvPr/>
        </p:nvGrpSpPr>
        <p:grpSpPr>
          <a:xfrm>
            <a:off x="6144768" y="3749039"/>
            <a:ext cx="5632704" cy="2194560"/>
            <a:chOff x="6144768" y="3749039"/>
            <a:chExt cx="5632704" cy="2194560"/>
          </a:xfrm>
        </p:grpSpPr>
        <p:sp>
          <p:nvSpPr>
            <p:cNvPr id="30" name="Rounded Rectangle 29"/>
            <p:cNvSpPr/>
            <p:nvPr/>
          </p:nvSpPr>
          <p:spPr>
            <a:xfrm>
              <a:off x="6144768" y="3749039"/>
              <a:ext cx="5632704" cy="219456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Oval 30"/>
            <p:cNvSpPr/>
            <p:nvPr/>
          </p:nvSpPr>
          <p:spPr>
            <a:xfrm>
              <a:off x="6419088" y="4023359"/>
              <a:ext cx="731520" cy="731520"/>
            </a:xfrm>
            <a:prstGeom prst="ellipse">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32" name="Oval 31"/>
            <p:cNvSpPr/>
            <p:nvPr/>
          </p:nvSpPr>
          <p:spPr>
            <a:xfrm>
              <a:off x="11128248" y="3977639"/>
              <a:ext cx="411480" cy="41148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FFFFFF"/>
                  </a:solidFill>
                  <a:latin typeface="Segoe UI"/>
                </a:rPr>
                <a:t>4</a:t>
              </a:r>
            </a:p>
          </p:txBody>
        </p:sp>
        <p:sp>
          <p:nvSpPr>
            <p:cNvPr id="33" name="TextBox 32"/>
            <p:cNvSpPr txBox="1"/>
            <p:nvPr/>
          </p:nvSpPr>
          <p:spPr>
            <a:xfrm>
              <a:off x="7333488" y="4069079"/>
              <a:ext cx="3657600" cy="548640"/>
            </a:xfrm>
            <a:prstGeom prst="rect">
              <a:avLst/>
            </a:prstGeom>
            <a:noFill/>
          </p:spPr>
          <p:txBody>
            <a:bodyPr wrap="square" anchor="ctr" lIns="36576" rIns="36576" tIns="18288" bIns="18288">
              <a:spAutoFit/>
            </a:bodyPr>
            <a:lstStyle/>
            <a:p>
              <a:pPr algn="l"/>
              <a:r>
                <a:rPr sz="1700" b="1">
                  <a:solidFill>
                    <a:srgbClr val="111827"/>
                  </a:solidFill>
                  <a:latin typeface="Segoe UI"/>
                </a:rPr>
                <a:t>Nhân viên &amp; Đầu bếp</a:t>
              </a:r>
            </a:p>
          </p:txBody>
        </p:sp>
        <p:sp>
          <p:nvSpPr>
            <p:cNvPr id="34" name="TextBox 33"/>
            <p:cNvSpPr txBox="1"/>
            <p:nvPr/>
          </p:nvSpPr>
          <p:spPr>
            <a:xfrm>
              <a:off x="7333488" y="4663440"/>
              <a:ext cx="4297680" cy="118872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Chấm công bằng khuôn mặt</a:t>
              </a:r>
            </a:p>
            <a:p>
              <a:pPr algn="l">
                <a:spcAft>
                  <a:spcPts val="400"/>
                </a:spcAft>
              </a:pPr>
              <a:r>
                <a:rPr sz="1300" b="1">
                  <a:solidFill>
                    <a:srgbClr val="EF4444"/>
                  </a:solidFill>
                  <a:latin typeface="Segoe UI"/>
                </a:rPr>
                <a:t>✔  </a:t>
              </a:r>
              <a:r>
                <a:rPr sz="1300" b="0">
                  <a:solidFill>
                    <a:srgbClr val="1F2937"/>
                  </a:solidFill>
                  <a:latin typeface="Segoe UI"/>
                </a:rPr>
                <a:t>Xem lịch làm, công, lương</a:t>
              </a:r>
            </a:p>
            <a:p>
              <a:pPr algn="l">
                <a:spcAft>
                  <a:spcPts val="400"/>
                </a:spcAft>
              </a:pPr>
              <a:r>
                <a:rPr sz="1300" b="1">
                  <a:solidFill>
                    <a:srgbClr val="EF4444"/>
                  </a:solidFill>
                  <a:latin typeface="Segoe UI"/>
                </a:rPr>
                <a:t>✔  </a:t>
              </a:r>
              <a:r>
                <a:rPr sz="1300" b="0">
                  <a:solidFill>
                    <a:srgbClr val="1F2937"/>
                  </a:solidFill>
                  <a:latin typeface="Segoe UI"/>
                </a:rPr>
                <a:t>Màn hình bếp theo dõi đơn</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500">
                                          <p:stCondLst>
                                            <p:cond delay="0"/>
                                          </p:stCondLst>
                                        </p:cTn>
                                        <p:tgtEl>
                                          <p:spTgt spid="17"/>
                                        </p:tgtEl>
                                      </p:cBhvr>
                                    </p:animEffect>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500">
                                          <p:stCondLst>
                                            <p:cond delay="0"/>
                                          </p:stCondLst>
                                        </p:cTn>
                                        <p:tgtEl>
                                          <p:spTgt spid="23"/>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500">
                                          <p:stCondLst>
                                            <p:cond delay="0"/>
                                          </p:stCondLst>
                                        </p:cTn>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Công nghệ sử dụng</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4</a:t>
            </a:r>
          </a:p>
        </p:txBody>
      </p:sp>
      <p:grpSp>
        <p:nvGrpSpPr>
          <p:cNvPr id="11" name="S4_Layer1"/>
          <p:cNvGrpSpPr/>
          <p:nvPr/>
        </p:nvGrpSpPr>
        <p:grpSpPr>
          <a:xfrm>
            <a:off x="411480" y="4892040"/>
            <a:ext cx="7863840" cy="804672"/>
            <a:chOff x="411480" y="4892040"/>
            <a:chExt cx="7863840" cy="804672"/>
          </a:xfrm>
        </p:grpSpPr>
        <p:sp>
          <p:nvSpPr>
            <p:cNvPr id="12" name="Rounded Rectangle 11"/>
            <p:cNvSpPr/>
            <p:nvPr/>
          </p:nvSpPr>
          <p:spPr>
            <a:xfrm>
              <a:off x="411480" y="4892040"/>
              <a:ext cx="7863840" cy="804672"/>
            </a:xfrm>
            <a:prstGeom prst="roundRect">
              <a:avLst>
                <a:gd name="adj" fmla="val 25000"/>
              </a:avLst>
            </a:prstGeom>
            <a:solidFill>
              <a:srgbClr val="F3F4F6"/>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94360" y="5001768"/>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14" name="TextBox 13"/>
            <p:cNvSpPr txBox="1"/>
            <p:nvPr/>
          </p:nvSpPr>
          <p:spPr>
            <a:xfrm>
              <a:off x="1325880" y="4892040"/>
              <a:ext cx="2103120" cy="804672"/>
            </a:xfrm>
            <a:prstGeom prst="rect">
              <a:avLst/>
            </a:prstGeom>
            <a:noFill/>
          </p:spPr>
          <p:txBody>
            <a:bodyPr wrap="square" anchor="ctr" lIns="36576" rIns="36576" tIns="18288" bIns="18288">
              <a:spAutoFit/>
            </a:bodyPr>
            <a:lstStyle/>
            <a:p>
              <a:pPr algn="l"/>
              <a:r>
                <a:rPr sz="1500" b="1">
                  <a:solidFill>
                    <a:srgbClr val="111827"/>
                  </a:solidFill>
                  <a:latin typeface="Segoe UI"/>
                </a:rPr>
                <a:t>Cơ sở dữ liệu</a:t>
              </a:r>
            </a:p>
          </p:txBody>
        </p:sp>
        <p:sp>
          <p:nvSpPr>
            <p:cNvPr id="15" name="TextBox 14"/>
            <p:cNvSpPr txBox="1"/>
            <p:nvPr/>
          </p:nvSpPr>
          <p:spPr>
            <a:xfrm>
              <a:off x="3429000" y="4892040"/>
              <a:ext cx="4754880" cy="804672"/>
            </a:xfrm>
            <a:prstGeom prst="rect">
              <a:avLst/>
            </a:prstGeom>
            <a:noFill/>
          </p:spPr>
          <p:txBody>
            <a:bodyPr wrap="square" anchor="ctr" lIns="36576" rIns="36576" tIns="18288" bIns="18288">
              <a:spAutoFit/>
            </a:bodyPr>
            <a:lstStyle/>
            <a:p>
              <a:pPr algn="l"/>
              <a:r>
                <a:rPr sz="1300" b="0">
                  <a:solidFill>
                    <a:srgbClr val="1F2937"/>
                  </a:solidFill>
                  <a:latin typeface="Segoe UI"/>
                </a:rPr>
                <a:t>MySQL · transaction cho đặt hàng, voucher, lương</a:t>
              </a:r>
            </a:p>
          </p:txBody>
        </p:sp>
      </p:grpSp>
      <p:grpSp>
        <p:nvGrpSpPr>
          <p:cNvPr id="16" name="S4_Layer2"/>
          <p:cNvGrpSpPr/>
          <p:nvPr/>
        </p:nvGrpSpPr>
        <p:grpSpPr>
          <a:xfrm>
            <a:off x="411480" y="3931920"/>
            <a:ext cx="7863840" cy="804672"/>
            <a:chOff x="411480" y="3931920"/>
            <a:chExt cx="7863840" cy="804672"/>
          </a:xfrm>
        </p:grpSpPr>
        <p:sp>
          <p:nvSpPr>
            <p:cNvPr id="17" name="Rounded Rectangle 16"/>
            <p:cNvSpPr/>
            <p:nvPr/>
          </p:nvSpPr>
          <p:spPr>
            <a:xfrm>
              <a:off x="411480" y="3931920"/>
              <a:ext cx="7863840" cy="804672"/>
            </a:xfrm>
            <a:prstGeom prst="roundRect">
              <a:avLst>
                <a:gd name="adj" fmla="val 25000"/>
              </a:avLst>
            </a:prstGeom>
            <a:solidFill>
              <a:srgbClr val="FFEDD5"/>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Oval 17"/>
            <p:cNvSpPr/>
            <p:nvPr/>
          </p:nvSpPr>
          <p:spPr>
            <a:xfrm>
              <a:off x="594360" y="4041648"/>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19" name="TextBox 18"/>
            <p:cNvSpPr txBox="1"/>
            <p:nvPr/>
          </p:nvSpPr>
          <p:spPr>
            <a:xfrm>
              <a:off x="1325880" y="3931920"/>
              <a:ext cx="2103120" cy="804672"/>
            </a:xfrm>
            <a:prstGeom prst="rect">
              <a:avLst/>
            </a:prstGeom>
            <a:noFill/>
          </p:spPr>
          <p:txBody>
            <a:bodyPr wrap="square" anchor="ctr" lIns="36576" rIns="36576" tIns="18288" bIns="18288">
              <a:spAutoFit/>
            </a:bodyPr>
            <a:lstStyle/>
            <a:p>
              <a:pPr algn="l"/>
              <a:r>
                <a:rPr sz="1500" b="1">
                  <a:solidFill>
                    <a:srgbClr val="111827"/>
                  </a:solidFill>
                  <a:latin typeface="Segoe UI"/>
                </a:rPr>
                <a:t>Xử lý nghiệp vụ</a:t>
              </a:r>
            </a:p>
          </p:txBody>
        </p:sp>
        <p:sp>
          <p:nvSpPr>
            <p:cNvPr id="20" name="TextBox 19"/>
            <p:cNvSpPr txBox="1"/>
            <p:nvPr/>
          </p:nvSpPr>
          <p:spPr>
            <a:xfrm>
              <a:off x="3429000" y="3931920"/>
              <a:ext cx="4754880" cy="804672"/>
            </a:xfrm>
            <a:prstGeom prst="rect">
              <a:avLst/>
            </a:prstGeom>
            <a:noFill/>
          </p:spPr>
          <p:txBody>
            <a:bodyPr wrap="square" anchor="ctr" lIns="36576" rIns="36576" tIns="18288" bIns="18288">
              <a:spAutoFit/>
            </a:bodyPr>
            <a:lstStyle/>
            <a:p>
              <a:pPr algn="l"/>
              <a:r>
                <a:rPr sz="1300" b="0">
                  <a:solidFill>
                    <a:srgbClr val="1F2937"/>
                  </a:solidFill>
                  <a:latin typeface="Segoe UI"/>
                </a:rPr>
                <a:t>Laravel 13 · PHP 8.3 · MVC, Eloquent, middleware phân quyền</a:t>
              </a:r>
            </a:p>
          </p:txBody>
        </p:sp>
      </p:grpSp>
      <p:grpSp>
        <p:nvGrpSpPr>
          <p:cNvPr id="21" name="S4_Layer3"/>
          <p:cNvGrpSpPr/>
          <p:nvPr/>
        </p:nvGrpSpPr>
        <p:grpSpPr>
          <a:xfrm>
            <a:off x="411480" y="2971799"/>
            <a:ext cx="7863840" cy="804672"/>
            <a:chOff x="411480" y="2971799"/>
            <a:chExt cx="7863840" cy="804672"/>
          </a:xfrm>
        </p:grpSpPr>
        <p:sp>
          <p:nvSpPr>
            <p:cNvPr id="22" name="Rounded Rectangle 21"/>
            <p:cNvSpPr/>
            <p:nvPr/>
          </p:nvSpPr>
          <p:spPr>
            <a:xfrm>
              <a:off x="411480" y="2971799"/>
              <a:ext cx="7863840" cy="804672"/>
            </a:xfrm>
            <a:prstGeom prst="roundRect">
              <a:avLst>
                <a:gd name="adj" fmla="val 25000"/>
              </a:avLst>
            </a:prstGeom>
            <a:solidFill>
              <a:srgbClr val="FEF3C7"/>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Oval 22"/>
            <p:cNvSpPr/>
            <p:nvPr/>
          </p:nvSpPr>
          <p:spPr>
            <a:xfrm>
              <a:off x="594360" y="3081527"/>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4" name="TextBox 23"/>
            <p:cNvSpPr txBox="1"/>
            <p:nvPr/>
          </p:nvSpPr>
          <p:spPr>
            <a:xfrm>
              <a:off x="1325880" y="2971799"/>
              <a:ext cx="2103120" cy="804672"/>
            </a:xfrm>
            <a:prstGeom prst="rect">
              <a:avLst/>
            </a:prstGeom>
            <a:noFill/>
          </p:spPr>
          <p:txBody>
            <a:bodyPr wrap="square" anchor="ctr" lIns="36576" rIns="36576" tIns="18288" bIns="18288">
              <a:spAutoFit/>
            </a:bodyPr>
            <a:lstStyle/>
            <a:p>
              <a:pPr algn="l"/>
              <a:r>
                <a:rPr sz="1500" b="1">
                  <a:solidFill>
                    <a:srgbClr val="111827"/>
                  </a:solidFill>
                  <a:latin typeface="Segoe UI"/>
                </a:rPr>
                <a:t>Giao diện</a:t>
              </a:r>
            </a:p>
          </p:txBody>
        </p:sp>
        <p:sp>
          <p:nvSpPr>
            <p:cNvPr id="25" name="TextBox 24"/>
            <p:cNvSpPr txBox="1"/>
            <p:nvPr/>
          </p:nvSpPr>
          <p:spPr>
            <a:xfrm>
              <a:off x="3429000" y="2971799"/>
              <a:ext cx="4754880" cy="804672"/>
            </a:xfrm>
            <a:prstGeom prst="rect">
              <a:avLst/>
            </a:prstGeom>
            <a:noFill/>
          </p:spPr>
          <p:txBody>
            <a:bodyPr wrap="square" anchor="ctr" lIns="36576" rIns="36576" tIns="18288" bIns="18288">
              <a:spAutoFit/>
            </a:bodyPr>
            <a:lstStyle/>
            <a:p>
              <a:pPr algn="l"/>
              <a:r>
                <a:rPr sz="1300" b="0">
                  <a:solidFill>
                    <a:srgbClr val="1F2937"/>
                  </a:solidFill>
                  <a:latin typeface="Segoe UI"/>
                </a:rPr>
                <a:t>Blade · Tailwind CSS 4 · Vite · responsive điện thoại</a:t>
              </a:r>
            </a:p>
          </p:txBody>
        </p:sp>
      </p:grpSp>
      <p:grpSp>
        <p:nvGrpSpPr>
          <p:cNvPr id="26" name="S4_Layer4"/>
          <p:cNvGrpSpPr/>
          <p:nvPr/>
        </p:nvGrpSpPr>
        <p:grpSpPr>
          <a:xfrm>
            <a:off x="411480" y="2011679"/>
            <a:ext cx="7863840" cy="804672"/>
            <a:chOff x="411480" y="2011679"/>
            <a:chExt cx="7863840" cy="804672"/>
          </a:xfrm>
        </p:grpSpPr>
        <p:sp>
          <p:nvSpPr>
            <p:cNvPr id="27" name="Rounded Rectangle 26"/>
            <p:cNvSpPr/>
            <p:nvPr/>
          </p:nvSpPr>
          <p:spPr>
            <a:xfrm>
              <a:off x="411480" y="2011679"/>
              <a:ext cx="7863840" cy="804672"/>
            </a:xfrm>
            <a:prstGeom prst="roundRect">
              <a:avLst>
                <a:gd name="adj" fmla="val 25000"/>
              </a:avLst>
            </a:prstGeom>
            <a:solidFill>
              <a:srgbClr val="FEE2E2"/>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Oval 27"/>
            <p:cNvSpPr/>
            <p:nvPr/>
          </p:nvSpPr>
          <p:spPr>
            <a:xfrm>
              <a:off x="594360" y="2121407"/>
              <a:ext cx="585216" cy="585216"/>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9" name="TextBox 28"/>
            <p:cNvSpPr txBox="1"/>
            <p:nvPr/>
          </p:nvSpPr>
          <p:spPr>
            <a:xfrm>
              <a:off x="1325880" y="2011679"/>
              <a:ext cx="2103120" cy="804672"/>
            </a:xfrm>
            <a:prstGeom prst="rect">
              <a:avLst/>
            </a:prstGeom>
            <a:noFill/>
          </p:spPr>
          <p:txBody>
            <a:bodyPr wrap="square" anchor="ctr" lIns="36576" rIns="36576" tIns="18288" bIns="18288">
              <a:spAutoFit/>
            </a:bodyPr>
            <a:lstStyle/>
            <a:p>
              <a:pPr algn="l"/>
              <a:r>
                <a:rPr sz="1500" b="1">
                  <a:solidFill>
                    <a:srgbClr val="111827"/>
                  </a:solidFill>
                  <a:latin typeface="Segoe UI"/>
                </a:rPr>
                <a:t>Tích hợp</a:t>
              </a:r>
            </a:p>
          </p:txBody>
        </p:sp>
        <p:sp>
          <p:nvSpPr>
            <p:cNvPr id="30" name="TextBox 29"/>
            <p:cNvSpPr txBox="1"/>
            <p:nvPr/>
          </p:nvSpPr>
          <p:spPr>
            <a:xfrm>
              <a:off x="3429000" y="2011679"/>
              <a:ext cx="4754880" cy="804672"/>
            </a:xfrm>
            <a:prstGeom prst="rect">
              <a:avLst/>
            </a:prstGeom>
            <a:noFill/>
          </p:spPr>
          <p:txBody>
            <a:bodyPr wrap="square" anchor="ctr" lIns="36576" rIns="36576" tIns="18288" bIns="18288">
              <a:spAutoFit/>
            </a:bodyPr>
            <a:lstStyle/>
            <a:p>
              <a:pPr algn="l"/>
              <a:r>
                <a:rPr sz="1300" b="0">
                  <a:solidFill>
                    <a:srgbClr val="1F2937"/>
                  </a:solidFill>
                  <a:latin typeface="Segoe UI"/>
                </a:rPr>
                <a:t>face-api.js · Google Gemini · ApexCharts · PhpSpreadsheet</a:t>
              </a:r>
            </a:p>
          </p:txBody>
        </p:sp>
      </p:grpSp>
      <p:grpSp>
        <p:nvGrpSpPr>
          <p:cNvPr id="31" name="S4_Side"/>
          <p:cNvGrpSpPr/>
          <p:nvPr/>
        </p:nvGrpSpPr>
        <p:grpSpPr>
          <a:xfrm>
            <a:off x="8549640" y="2697480"/>
            <a:ext cx="3227832" cy="2286000"/>
            <a:chOff x="8549640" y="2697480"/>
            <a:chExt cx="3227832" cy="2286000"/>
          </a:xfrm>
        </p:grpSpPr>
        <p:sp>
          <p:nvSpPr>
            <p:cNvPr id="32" name="Rounded Rectangle 31"/>
            <p:cNvSpPr/>
            <p:nvPr/>
          </p:nvSpPr>
          <p:spPr>
            <a:xfrm>
              <a:off x="8549640" y="2697480"/>
              <a:ext cx="3227832" cy="2286000"/>
            </a:xfrm>
            <a:prstGeom prst="roundRect">
              <a:avLst>
                <a:gd name="adj" fmla="val 8000"/>
              </a:avLst>
            </a:prstGeom>
            <a:solidFill>
              <a:srgbClr val="FFFFFF"/>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8778240" y="2834640"/>
              <a:ext cx="2834640" cy="457200"/>
            </a:xfrm>
            <a:prstGeom prst="rect">
              <a:avLst/>
            </a:prstGeom>
            <a:noFill/>
          </p:spPr>
          <p:txBody>
            <a:bodyPr wrap="square" anchor="t" lIns="36576" rIns="36576" tIns="18288" bIns="18288">
              <a:spAutoFit/>
            </a:bodyPr>
            <a:lstStyle/>
            <a:p>
              <a:pPr algn="l"/>
              <a:r>
                <a:rPr sz="1600" b="1">
                  <a:solidFill>
                    <a:srgbClr val="B91C1C"/>
                  </a:solidFill>
                  <a:latin typeface="Segoe UI"/>
                </a:rPr>
                <a:t>Làm việc nhóm</a:t>
              </a:r>
            </a:p>
          </p:txBody>
        </p:sp>
        <p:sp>
          <p:nvSpPr>
            <p:cNvPr id="34" name="TextBox 33"/>
            <p:cNvSpPr txBox="1"/>
            <p:nvPr/>
          </p:nvSpPr>
          <p:spPr>
            <a:xfrm>
              <a:off x="8778240" y="3383280"/>
              <a:ext cx="2834640" cy="155448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Git + GitHub theo nhánh</a:t>
              </a:r>
            </a:p>
            <a:p>
              <a:pPr algn="l">
                <a:spcAft>
                  <a:spcPts val="400"/>
                </a:spcAft>
              </a:pPr>
              <a:r>
                <a:rPr sz="1300" b="1">
                  <a:solidFill>
                    <a:srgbClr val="EF4444"/>
                  </a:solidFill>
                  <a:latin typeface="Segoe UI"/>
                </a:rPr>
                <a:t>✔  </a:t>
              </a:r>
              <a:r>
                <a:rPr sz="1300" b="0">
                  <a:solidFill>
                    <a:srgbClr val="1F2937"/>
                  </a:solidFill>
                  <a:latin typeface="Segoe UI"/>
                </a:rPr>
                <a:t>PHPUnit: 367 ca kiểm thử</a:t>
              </a:r>
            </a:p>
            <a:p>
              <a:pPr algn="l">
                <a:spcAft>
                  <a:spcPts val="400"/>
                </a:spcAft>
              </a:pPr>
              <a:r>
                <a:rPr sz="1300" b="1">
                  <a:solidFill>
                    <a:srgbClr val="EF4444"/>
                  </a:solidFill>
                  <a:latin typeface="Segoe UI"/>
                </a:rPr>
                <a:t>✔  </a:t>
              </a:r>
              <a:r>
                <a:rPr sz="1300" b="0">
                  <a:solidFill>
                    <a:srgbClr val="1F2937"/>
                  </a:solidFill>
                  <a:latin typeface="Segoe UI"/>
                </a:rPr>
                <a:t>Laragon chạy cục bộ</a:t>
              </a:r>
            </a:p>
            <a:p>
              <a:pPr algn="l">
                <a:spcAft>
                  <a:spcPts val="400"/>
                </a:spcAft>
              </a:pPr>
              <a:r>
                <a:rPr sz="1300" b="1">
                  <a:solidFill>
                    <a:srgbClr val="EF4444"/>
                  </a:solidFill>
                  <a:latin typeface="Segoe UI"/>
                </a:rPr>
                <a:t>✔  </a:t>
              </a:r>
              <a:r>
                <a:rPr sz="1300" b="0">
                  <a:solidFill>
                    <a:srgbClr val="1F2937"/>
                  </a:solidFill>
                  <a:latin typeface="Segoe UI"/>
                </a:rPr>
                <a:t>Migration + seeder dựng dữ liệu</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22" presetClass="entr" presetSubtype="4"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wipe(down)">
                                      <p:cBhvr>
                                        <p:cTn id="11" dur="45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22" presetClass="entr" presetSubtype="4"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wipe(down)">
                                      <p:cBhvr>
                                        <p:cTn id="16" dur="450">
                                          <p:stCondLst>
                                            <p:cond delay="0"/>
                                          </p:stCondLst>
                                        </p:cTn>
                                        <p:tgtEl>
                                          <p:spTgt spid="16"/>
                                        </p:tgtEl>
                                      </p:cBhvr>
                                    </p:animEffect>
                                  </p:childTnLst>
                                </p:cTn>
                              </p:par>
                            </p:childTnLst>
                          </p:cTn>
                        </p:par>
                      </p:childTnLst>
                    </p:cTn>
                  </p:par>
                  <p:par>
                    <p:cTn id="18" fill="hold">
                      <p:stCondLst>
                        <p:cond delay="indefinite"/>
                      </p:stCondLst>
                      <p:childTnLst>
                        <p:par>
                          <p:cTn id="19" fill="hold">
                            <p:stCondLst>
                              <p:cond delay="0"/>
                            </p:stCondLst>
                            <p:childTnLst>
                              <p:par>
                                <p:cTn id="22" presetID="22" presetClass="entr" presetSubtype="4"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Effect transition="in" filter="wipe(down)">
                                      <p:cBhvr>
                                        <p:cTn id="21" dur="450">
                                          <p:stCondLst>
                                            <p:cond delay="0"/>
                                          </p:stCondLst>
                                        </p:cTn>
                                        <p:tgtEl>
                                          <p:spTgt spid="21"/>
                                        </p:tgtEl>
                                      </p:cBhvr>
                                    </p:animEffect>
                                  </p:childTnLst>
                                </p:cTn>
                              </p:par>
                            </p:childTnLst>
                          </p:cTn>
                        </p:par>
                      </p:childTnLst>
                    </p:cTn>
                  </p:par>
                  <p:par>
                    <p:cTn id="23" fill="hold">
                      <p:stCondLst>
                        <p:cond delay="indefinite"/>
                      </p:stCondLst>
                      <p:childTnLst>
                        <p:par>
                          <p:cTn id="24" fill="hold">
                            <p:stCondLst>
                              <p:cond delay="0"/>
                            </p:stCondLst>
                            <p:childTnLst>
                              <p:par>
                                <p:cTn id="27" presetID="22" presetClass="entr" presetSubtype="4" fill="hold" nodeType="clickEffect">
                                  <p:stCondLst>
                                    <p:cond delay="0"/>
                                  </p:stCondLst>
                                  <p:childTnLst>
                                    <p:set>
                                      <p:cBhvr>
                                        <p:cTn id="25" dur="1" fill="hold">
                                          <p:stCondLst>
                                            <p:cond delay="0"/>
                                          </p:stCondLst>
                                        </p:cTn>
                                        <p:tgtEl>
                                          <p:spTgt spid="26"/>
                                        </p:tgtEl>
                                        <p:attrNameLst>
                                          <p:attrName>style.visibility</p:attrName>
                                        </p:attrNameLst>
                                      </p:cBhvr>
                                      <p:to>
                                        <p:strVal val="visible"/>
                                      </p:to>
                                    </p:set>
                                    <p:animEffect transition="in" filter="wipe(down)">
                                      <p:cBhvr>
                                        <p:cTn id="26" dur="450">
                                          <p:stCondLst>
                                            <p:cond delay="0"/>
                                          </p:stCondLst>
                                        </p:cTn>
                                        <p:tgtEl>
                                          <p:spTgt spid="26"/>
                                        </p:tgtEl>
                                      </p:cBhvr>
                                    </p:animEffect>
                                  </p:childTnLst>
                                </p:cTn>
                              </p:par>
                            </p:childTnLst>
                          </p:cTn>
                        </p:par>
                        <p:par>
                          <p:cTn id="28" fill="hold">
                            <p:stCondLst>
                              <p:cond delay="650"/>
                            </p:stCondLst>
                            <p:childTnLst>
                              <p:par>
                                <p:cTn id="31" presetID="10" presetClass="entr" presetSubtype="0" fill="hold" nodeType="afterEffect">
                                  <p:stCondLst>
                                    <p:cond delay="0"/>
                                  </p:stCondLst>
                                  <p:childTnLst>
                                    <p:set>
                                      <p:cBhvr>
                                        <p:cTn id="29" dur="1" fill="hold">
                                          <p:stCondLst>
                                            <p:cond delay="0"/>
                                          </p:stCondLst>
                                        </p:cTn>
                                        <p:tgtEl>
                                          <p:spTgt spid="31"/>
                                        </p:tgtEl>
                                        <p:attrNameLst>
                                          <p:attrName>style.visibility</p:attrName>
                                        </p:attrNameLst>
                                      </p:cBhvr>
                                      <p:to>
                                        <p:strVal val="visible"/>
                                      </p:to>
                                    </p:set>
                                    <p:animEffect transition="in" filter="fade">
                                      <p:cBhvr>
                                        <p:cTn id="30" dur="500">
                                          <p:stCondLst>
                                            <p:cond delay="0"/>
                                          </p:stCondLst>
                                        </p:cTn>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Tác nhân và use case</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5</a:t>
            </a:r>
          </a:p>
        </p:txBody>
      </p:sp>
      <p:grpSp>
        <p:nvGrpSpPr>
          <p:cNvPr id="11" name="S5_Diagram"/>
          <p:cNvGrpSpPr/>
          <p:nvPr/>
        </p:nvGrpSpPr>
        <p:grpSpPr>
          <a:xfrm>
            <a:off x="475488" y="1344168"/>
            <a:ext cx="6799839" cy="4626864"/>
            <a:chOff x="475488" y="1344168"/>
            <a:chExt cx="6799839" cy="4626864"/>
          </a:xfrm>
        </p:grpSpPr>
        <p:sp>
          <p:nvSpPr>
            <p:cNvPr id="12" name="Rounded Rectangle 11"/>
            <p:cNvSpPr/>
            <p:nvPr/>
          </p:nvSpPr>
          <p:spPr>
            <a:xfrm>
              <a:off x="475488" y="1344168"/>
              <a:ext cx="6799839" cy="4626864"/>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usecase.png"/>
            <p:cNvPicPr>
              <a:picLocks noChangeAspect="1"/>
            </p:cNvPicPr>
            <p:nvPr/>
          </p:nvPicPr>
          <p:blipFill>
            <a:blip r:embed="rId3"/>
            <a:stretch>
              <a:fillRect/>
            </a:stretch>
          </p:blipFill>
          <p:spPr>
            <a:xfrm>
              <a:off x="548640" y="1417320"/>
              <a:ext cx="6653535" cy="4480560"/>
            </a:xfrm>
            <a:prstGeom prst="rect">
              <a:avLst/>
            </a:prstGeom>
          </p:spPr>
        </p:pic>
      </p:grpSp>
      <p:grpSp>
        <p:nvGrpSpPr>
          <p:cNvPr id="14" name="S5_Info"/>
          <p:cNvGrpSpPr/>
          <p:nvPr/>
        </p:nvGrpSpPr>
        <p:grpSpPr>
          <a:xfrm>
            <a:off x="7543800" y="1417320"/>
            <a:ext cx="4233672" cy="4343400"/>
            <a:chOff x="7543800" y="1417320"/>
            <a:chExt cx="4233672" cy="4343400"/>
          </a:xfrm>
        </p:grpSpPr>
        <p:sp>
          <p:nvSpPr>
            <p:cNvPr id="15" name="Rounded Rectangle 14"/>
            <p:cNvSpPr/>
            <p:nvPr/>
          </p:nvSpPr>
          <p:spPr>
            <a:xfrm>
              <a:off x="7543800" y="1417320"/>
              <a:ext cx="4233672" cy="3566160"/>
            </a:xfrm>
            <a:prstGeom prst="roundRect">
              <a:avLst>
                <a:gd name="adj" fmla="val 8000"/>
              </a:avLst>
            </a:prstGeom>
            <a:solidFill>
              <a:srgbClr val="FEF3C7"/>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7772400" y="1554480"/>
              <a:ext cx="3840480" cy="457200"/>
            </a:xfrm>
            <a:prstGeom prst="rect">
              <a:avLst/>
            </a:prstGeom>
            <a:noFill/>
          </p:spPr>
          <p:txBody>
            <a:bodyPr wrap="square" anchor="t" lIns="36576" rIns="36576" tIns="18288" bIns="18288">
              <a:spAutoFit/>
            </a:bodyPr>
            <a:lstStyle/>
            <a:p>
              <a:pPr algn="l"/>
              <a:r>
                <a:rPr sz="1700" b="1">
                  <a:solidFill>
                    <a:srgbClr val="111827"/>
                  </a:solidFill>
                  <a:latin typeface="Segoe UI"/>
                </a:rPr>
                <a:t>5 tác nhân · 15 use case</a:t>
              </a:r>
            </a:p>
          </p:txBody>
        </p:sp>
        <p:sp>
          <p:nvSpPr>
            <p:cNvPr id="17" name="TextBox 16"/>
            <p:cNvSpPr txBox="1"/>
            <p:nvPr/>
          </p:nvSpPr>
          <p:spPr>
            <a:xfrm>
              <a:off x="7772400" y="2103120"/>
              <a:ext cx="3840480" cy="3657600"/>
            </a:xfrm>
            <a:prstGeom prst="rect">
              <a:avLst/>
            </a:prstGeom>
            <a:noFill/>
          </p:spPr>
          <p:txBody>
            <a:bodyPr wrap="square" anchor="t" lIns="36576" rIns="36576" tIns="18288" bIns="18288">
              <a:spAutoFit/>
            </a:bodyPr>
            <a:lstStyle/>
            <a:p>
              <a:pPr algn="l">
                <a:spcAft>
                  <a:spcPts val="400"/>
                </a:spcAft>
              </a:pPr>
              <a:r>
                <a:rPr sz="1400" b="1">
                  <a:solidFill>
                    <a:srgbClr val="EF4444"/>
                  </a:solidFill>
                  <a:latin typeface="Segoe UI"/>
                </a:rPr>
                <a:t>✔  </a:t>
              </a:r>
              <a:r>
                <a:rPr sz="1400" b="0">
                  <a:solidFill>
                    <a:srgbClr val="1F2937"/>
                  </a:solidFill>
                  <a:latin typeface="Segoe UI"/>
                </a:rPr>
                <a:t>Khách hàng: đăng ký, đặt hàng, thanh toán, đánh giá, chatbot</a:t>
              </a:r>
            </a:p>
            <a:p>
              <a:pPr algn="l">
                <a:spcAft>
                  <a:spcPts val="400"/>
                </a:spcAft>
              </a:pPr>
              <a:r>
                <a:rPr sz="1400" b="1">
                  <a:solidFill>
                    <a:srgbClr val="EF4444"/>
                  </a:solidFill>
                  <a:latin typeface="Segoe UI"/>
                </a:rPr>
                <a:t>✔  </a:t>
              </a:r>
              <a:r>
                <a:rPr sz="1400" b="0">
                  <a:solidFill>
                    <a:srgbClr val="1F2937"/>
                  </a:solidFill>
                  <a:latin typeface="Segoe UI"/>
                </a:rPr>
                <a:t>Quản lý: đơn hàng, thực đơn, nhân sự, chấm công, lương, báo cáo</a:t>
              </a:r>
            </a:p>
            <a:p>
              <a:pPr algn="l">
                <a:spcAft>
                  <a:spcPts val="400"/>
                </a:spcAft>
              </a:pPr>
              <a:r>
                <a:rPr sz="1400" b="1">
                  <a:solidFill>
                    <a:srgbClr val="EF4444"/>
                  </a:solidFill>
                  <a:latin typeface="Segoe UI"/>
                </a:rPr>
                <a:t>✔  </a:t>
              </a:r>
              <a:r>
                <a:rPr sz="1400" b="0">
                  <a:solidFill>
                    <a:srgbClr val="1F2937"/>
                  </a:solidFill>
                  <a:latin typeface="Segoe UI"/>
                </a:rPr>
                <a:t>Nhân viên, Đầu bếp: chấm công khuôn mặt</a:t>
              </a:r>
            </a:p>
            <a:p>
              <a:pPr algn="l">
                <a:spcAft>
                  <a:spcPts val="400"/>
                </a:spcAft>
              </a:pPr>
              <a:r>
                <a:rPr sz="1400" b="1">
                  <a:solidFill>
                    <a:srgbClr val="EF4444"/>
                  </a:solidFill>
                  <a:latin typeface="Segoe UI"/>
                </a:rPr>
                <a:t>✔  </a:t>
              </a:r>
              <a:r>
                <a:rPr sz="1400" b="0">
                  <a:solidFill>
                    <a:srgbClr val="1F2937"/>
                  </a:solidFill>
                  <a:latin typeface="Segoe UI"/>
                </a:rPr>
                <a:t>Quản trị viên: dữ liệu nền, cấp tài khoản quản lý</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60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stCondLst>
                                            <p:cond delay="0"/>
                                          </p:stCondLst>
                                        </p:cTn>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Thiết kế cơ sở dữ liệu</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6</a:t>
            </a:r>
          </a:p>
        </p:txBody>
      </p:sp>
      <p:cxnSp>
        <p:nvCxnSpPr>
          <p:cNvPr id="14" name="S6_Link1"/>
          <p:cNvCxnSpPr/>
          <p:nvPr/>
        </p:nvCxnSpPr>
        <p:spPr>
          <a:xfrm>
            <a:off x="2240280" y="2148840"/>
            <a:ext cx="3858768" cy="1600199"/>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5" name="S6_Link2"/>
          <p:cNvCxnSpPr/>
          <p:nvPr/>
        </p:nvCxnSpPr>
        <p:spPr>
          <a:xfrm flipH="1">
            <a:off x="6099048" y="2148840"/>
            <a:ext cx="3803904" cy="1600199"/>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6" name="S6_Link3"/>
          <p:cNvCxnSpPr/>
          <p:nvPr/>
        </p:nvCxnSpPr>
        <p:spPr>
          <a:xfrm flipV="1">
            <a:off x="2240280" y="3749039"/>
            <a:ext cx="3858768" cy="118872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cxnSp>
        <p:nvCxnSpPr>
          <p:cNvPr id="17" name="S6_Link4"/>
          <p:cNvCxnSpPr/>
          <p:nvPr/>
        </p:nvCxnSpPr>
        <p:spPr>
          <a:xfrm flipH="1" flipV="1">
            <a:off x="6099048" y="3749039"/>
            <a:ext cx="3803904" cy="1188720"/>
          </a:xfrm>
          <a:prstGeom prst="line">
            <a:avLst/>
          </a:prstGeom>
          <a:ln w="31750">
            <a:solidFill>
              <a:srgbClr val="F59E0B"/>
            </a:solidFill>
          </a:ln>
        </p:spPr>
        <p:style>
          <a:lnRef idx="2">
            <a:schemeClr val="accent1"/>
          </a:lnRef>
          <a:fillRef idx="0">
            <a:schemeClr val="accent1"/>
          </a:fillRef>
          <a:effectRef idx="1">
            <a:schemeClr val="accent1"/>
          </a:effectRef>
          <a:fontRef idx="minor">
            <a:schemeClr val="tx1"/>
          </a:fontRef>
        </p:style>
      </p:cxnSp>
      <p:grpSp>
        <p:nvGrpSpPr>
          <p:cNvPr id="18" name="S6_Spoke1"/>
          <p:cNvGrpSpPr/>
          <p:nvPr/>
        </p:nvGrpSpPr>
        <p:grpSpPr>
          <a:xfrm>
            <a:off x="411480" y="1371600"/>
            <a:ext cx="3703320" cy="1600200"/>
            <a:chOff x="411480" y="1371600"/>
            <a:chExt cx="3703320" cy="1600200"/>
          </a:xfrm>
        </p:grpSpPr>
        <p:sp>
          <p:nvSpPr>
            <p:cNvPr id="19" name="Rounded Rectangle 18"/>
            <p:cNvSpPr/>
            <p:nvPr/>
          </p:nvSpPr>
          <p:spPr>
            <a:xfrm>
              <a:off x="411480" y="1371600"/>
              <a:ext cx="3703320" cy="16002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640080" y="1600200"/>
              <a:ext cx="594360" cy="59436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a:latin typeface="Segoe UI Emoji"/>
                </a:rPr>
                <a:t>🍟</a:t>
              </a:r>
            </a:p>
          </p:txBody>
        </p:sp>
        <p:sp>
          <p:nvSpPr>
            <p:cNvPr id="21" name="TextBox 20"/>
            <p:cNvSpPr txBox="1"/>
            <p:nvPr/>
          </p:nvSpPr>
          <p:spPr>
            <a:xfrm>
              <a:off x="1371600" y="1600200"/>
              <a:ext cx="2651760" cy="548640"/>
            </a:xfrm>
            <a:prstGeom prst="rect">
              <a:avLst/>
            </a:prstGeom>
            <a:noFill/>
          </p:spPr>
          <p:txBody>
            <a:bodyPr wrap="square" anchor="ctr" lIns="36576" rIns="36576" tIns="18288" bIns="18288">
              <a:spAutoFit/>
            </a:bodyPr>
            <a:lstStyle/>
            <a:p>
              <a:pPr algn="l"/>
              <a:r>
                <a:rPr sz="1600" b="1">
                  <a:solidFill>
                    <a:srgbClr val="111827"/>
                  </a:solidFill>
                  <a:latin typeface="Segoe UI"/>
                </a:rPr>
                <a:t>Thực đơn</a:t>
              </a:r>
            </a:p>
          </p:txBody>
        </p:sp>
        <p:sp>
          <p:nvSpPr>
            <p:cNvPr id="22" name="TextBox 21"/>
            <p:cNvSpPr txBox="1"/>
            <p:nvPr/>
          </p:nvSpPr>
          <p:spPr>
            <a:xfrm>
              <a:off x="685800" y="2240280"/>
              <a:ext cx="3291840" cy="685800"/>
            </a:xfrm>
            <a:prstGeom prst="rect">
              <a:avLst/>
            </a:prstGeom>
            <a:noFill/>
          </p:spPr>
          <p:txBody>
            <a:bodyPr wrap="square" anchor="t" lIns="36576" rIns="36576" tIns="18288" bIns="18288">
              <a:spAutoFit/>
            </a:bodyPr>
            <a:lstStyle/>
            <a:p>
              <a:pPr algn="l"/>
              <a:r>
                <a:rPr sz="1100" b="0">
                  <a:solidFill>
                    <a:srgbClr val="6B7280"/>
                  </a:solidFill>
                  <a:latin typeface="Segoe UI"/>
                </a:rPr>
                <a:t>menu_items · branch_menu_items (giá, tồn, Bán chạy riêng chi nhánh)</a:t>
              </a:r>
            </a:p>
          </p:txBody>
        </p:sp>
      </p:grpSp>
      <p:grpSp>
        <p:nvGrpSpPr>
          <p:cNvPr id="23" name="S6_Spoke2"/>
          <p:cNvGrpSpPr/>
          <p:nvPr/>
        </p:nvGrpSpPr>
        <p:grpSpPr>
          <a:xfrm>
            <a:off x="8074152" y="1371600"/>
            <a:ext cx="3703320" cy="1600200"/>
            <a:chOff x="8074152" y="1371600"/>
            <a:chExt cx="3703320" cy="1600200"/>
          </a:xfrm>
        </p:grpSpPr>
        <p:sp>
          <p:nvSpPr>
            <p:cNvPr id="24" name="Rounded Rectangle 23"/>
            <p:cNvSpPr/>
            <p:nvPr/>
          </p:nvSpPr>
          <p:spPr>
            <a:xfrm>
              <a:off x="8074152" y="1371600"/>
              <a:ext cx="3703320" cy="16002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Oval 24"/>
            <p:cNvSpPr/>
            <p:nvPr/>
          </p:nvSpPr>
          <p:spPr>
            <a:xfrm>
              <a:off x="8302752" y="1600200"/>
              <a:ext cx="594360" cy="59436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a:latin typeface="Segoe UI Emoji"/>
                </a:rPr>
                <a:t>🧾</a:t>
              </a:r>
            </a:p>
          </p:txBody>
        </p:sp>
        <p:sp>
          <p:nvSpPr>
            <p:cNvPr id="26" name="TextBox 25"/>
            <p:cNvSpPr txBox="1"/>
            <p:nvPr/>
          </p:nvSpPr>
          <p:spPr>
            <a:xfrm>
              <a:off x="9034272" y="1600200"/>
              <a:ext cx="2651760" cy="548640"/>
            </a:xfrm>
            <a:prstGeom prst="rect">
              <a:avLst/>
            </a:prstGeom>
            <a:noFill/>
          </p:spPr>
          <p:txBody>
            <a:bodyPr wrap="square" anchor="ctr" lIns="36576" rIns="36576" tIns="18288" bIns="18288">
              <a:spAutoFit/>
            </a:bodyPr>
            <a:lstStyle/>
            <a:p>
              <a:pPr algn="l"/>
              <a:r>
                <a:rPr sz="1600" b="1">
                  <a:solidFill>
                    <a:srgbClr val="111827"/>
                  </a:solidFill>
                  <a:latin typeface="Segoe UI"/>
                </a:rPr>
                <a:t>Đơn hàng</a:t>
              </a:r>
            </a:p>
          </p:txBody>
        </p:sp>
        <p:sp>
          <p:nvSpPr>
            <p:cNvPr id="27" name="TextBox 26"/>
            <p:cNvSpPr txBox="1"/>
            <p:nvPr/>
          </p:nvSpPr>
          <p:spPr>
            <a:xfrm>
              <a:off x="8348472" y="2240280"/>
              <a:ext cx="3291840" cy="685800"/>
            </a:xfrm>
            <a:prstGeom prst="rect">
              <a:avLst/>
            </a:prstGeom>
            <a:noFill/>
          </p:spPr>
          <p:txBody>
            <a:bodyPr wrap="square" anchor="t" lIns="36576" rIns="36576" tIns="18288" bIns="18288">
              <a:spAutoFit/>
            </a:bodyPr>
            <a:lstStyle/>
            <a:p>
              <a:pPr algn="l"/>
              <a:r>
                <a:rPr sz="1100" b="0">
                  <a:solidFill>
                    <a:srgbClr val="6B7280"/>
                  </a:solidFill>
                  <a:latin typeface="Segoe UI"/>
                </a:rPr>
                <a:t>orders · order_items (lưu giá lúc đặt) · order_histories</a:t>
              </a:r>
            </a:p>
          </p:txBody>
        </p:sp>
      </p:grpSp>
      <p:grpSp>
        <p:nvGrpSpPr>
          <p:cNvPr id="28" name="S6_Spoke3"/>
          <p:cNvGrpSpPr/>
          <p:nvPr/>
        </p:nvGrpSpPr>
        <p:grpSpPr>
          <a:xfrm>
            <a:off x="411480" y="4160520"/>
            <a:ext cx="3703320" cy="1600200"/>
            <a:chOff x="411480" y="4160520"/>
            <a:chExt cx="3703320" cy="1600200"/>
          </a:xfrm>
        </p:grpSpPr>
        <p:sp>
          <p:nvSpPr>
            <p:cNvPr id="29" name="Rounded Rectangle 28"/>
            <p:cNvSpPr/>
            <p:nvPr/>
          </p:nvSpPr>
          <p:spPr>
            <a:xfrm>
              <a:off x="411480" y="4160520"/>
              <a:ext cx="3703320" cy="16002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Oval 29"/>
            <p:cNvSpPr/>
            <p:nvPr/>
          </p:nvSpPr>
          <p:spPr>
            <a:xfrm>
              <a:off x="640080" y="4389120"/>
              <a:ext cx="594360" cy="59436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a:latin typeface="Segoe UI Emoji"/>
                </a:rPr>
                <a:t>👥</a:t>
              </a:r>
            </a:p>
          </p:txBody>
        </p:sp>
        <p:sp>
          <p:nvSpPr>
            <p:cNvPr id="31" name="TextBox 30"/>
            <p:cNvSpPr txBox="1"/>
            <p:nvPr/>
          </p:nvSpPr>
          <p:spPr>
            <a:xfrm>
              <a:off x="1371600" y="4389120"/>
              <a:ext cx="2651760" cy="548640"/>
            </a:xfrm>
            <a:prstGeom prst="rect">
              <a:avLst/>
            </a:prstGeom>
            <a:noFill/>
          </p:spPr>
          <p:txBody>
            <a:bodyPr wrap="square" anchor="ctr" lIns="36576" rIns="36576" tIns="18288" bIns="18288">
              <a:spAutoFit/>
            </a:bodyPr>
            <a:lstStyle/>
            <a:p>
              <a:pPr algn="l"/>
              <a:r>
                <a:rPr sz="1600" b="1">
                  <a:solidFill>
                    <a:srgbClr val="111827"/>
                  </a:solidFill>
                  <a:latin typeface="Segoe UI"/>
                </a:rPr>
                <a:t>Nhân sự</a:t>
              </a:r>
            </a:p>
          </p:txBody>
        </p:sp>
        <p:sp>
          <p:nvSpPr>
            <p:cNvPr id="32" name="TextBox 31"/>
            <p:cNvSpPr txBox="1"/>
            <p:nvPr/>
          </p:nvSpPr>
          <p:spPr>
            <a:xfrm>
              <a:off x="685800" y="5029200"/>
              <a:ext cx="3291840" cy="685800"/>
            </a:xfrm>
            <a:prstGeom prst="rect">
              <a:avLst/>
            </a:prstGeom>
            <a:noFill/>
          </p:spPr>
          <p:txBody>
            <a:bodyPr wrap="square" anchor="t" lIns="36576" rIns="36576" tIns="18288" bIns="18288">
              <a:spAutoFit/>
            </a:bodyPr>
            <a:lstStyle/>
            <a:p>
              <a:pPr algn="l"/>
              <a:r>
                <a:rPr sz="1100" b="0">
                  <a:solidFill>
                    <a:srgbClr val="6B7280"/>
                  </a:solidFill>
                  <a:latin typeface="Segoe UI"/>
                </a:rPr>
                <a:t>users (5 vai trò) · shifts · shift_assignments (lịch tuần)</a:t>
              </a:r>
            </a:p>
          </p:txBody>
        </p:sp>
      </p:grpSp>
      <p:grpSp>
        <p:nvGrpSpPr>
          <p:cNvPr id="33" name="S6_Spoke4"/>
          <p:cNvGrpSpPr/>
          <p:nvPr/>
        </p:nvGrpSpPr>
        <p:grpSpPr>
          <a:xfrm>
            <a:off x="8074152" y="4160520"/>
            <a:ext cx="3703320" cy="1600200"/>
            <a:chOff x="8074152" y="4160520"/>
            <a:chExt cx="3703320" cy="1600200"/>
          </a:xfrm>
        </p:grpSpPr>
        <p:sp>
          <p:nvSpPr>
            <p:cNvPr id="34" name="Rounded Rectangle 33"/>
            <p:cNvSpPr/>
            <p:nvPr/>
          </p:nvSpPr>
          <p:spPr>
            <a:xfrm>
              <a:off x="8074152" y="4160520"/>
              <a:ext cx="3703320" cy="16002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Oval 34"/>
            <p:cNvSpPr/>
            <p:nvPr/>
          </p:nvSpPr>
          <p:spPr>
            <a:xfrm>
              <a:off x="8302752" y="4389120"/>
              <a:ext cx="594360" cy="594360"/>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200">
                  <a:latin typeface="Segoe UI Emoji"/>
                </a:rPr>
                <a:t>⏱️</a:t>
              </a:r>
            </a:p>
          </p:txBody>
        </p:sp>
        <p:sp>
          <p:nvSpPr>
            <p:cNvPr id="36" name="TextBox 35"/>
            <p:cNvSpPr txBox="1"/>
            <p:nvPr/>
          </p:nvSpPr>
          <p:spPr>
            <a:xfrm>
              <a:off x="9034272" y="4389120"/>
              <a:ext cx="2651760" cy="548640"/>
            </a:xfrm>
            <a:prstGeom prst="rect">
              <a:avLst/>
            </a:prstGeom>
            <a:noFill/>
          </p:spPr>
          <p:txBody>
            <a:bodyPr wrap="square" anchor="ctr" lIns="36576" rIns="36576" tIns="18288" bIns="18288">
              <a:spAutoFit/>
            </a:bodyPr>
            <a:lstStyle/>
            <a:p>
              <a:pPr algn="l"/>
              <a:r>
                <a:rPr sz="1600" b="1">
                  <a:solidFill>
                    <a:srgbClr val="111827"/>
                  </a:solidFill>
                  <a:latin typeface="Segoe UI"/>
                </a:rPr>
                <a:t>Chấm công &amp; lương</a:t>
              </a:r>
            </a:p>
          </p:txBody>
        </p:sp>
        <p:sp>
          <p:nvSpPr>
            <p:cNvPr id="37" name="TextBox 36"/>
            <p:cNvSpPr txBox="1"/>
            <p:nvPr/>
          </p:nvSpPr>
          <p:spPr>
            <a:xfrm>
              <a:off x="8348472" y="5029200"/>
              <a:ext cx="3291840" cy="685800"/>
            </a:xfrm>
            <a:prstGeom prst="rect">
              <a:avLst/>
            </a:prstGeom>
            <a:noFill/>
          </p:spPr>
          <p:txBody>
            <a:bodyPr wrap="square" anchor="t" lIns="36576" rIns="36576" tIns="18288" bIns="18288">
              <a:spAutoFit/>
            </a:bodyPr>
            <a:lstStyle/>
            <a:p>
              <a:pPr algn="l"/>
              <a:r>
                <a:rPr sz="1100" b="0">
                  <a:solidFill>
                    <a:srgbClr val="6B7280"/>
                  </a:solidFill>
                  <a:latin typeface="Segoe UI"/>
                </a:rPr>
                <a:t>face_descriptors · attendances · payrolls · payroll_adjustments</a:t>
              </a:r>
            </a:p>
          </p:txBody>
        </p:sp>
      </p:grpSp>
      <p:grpSp>
        <p:nvGrpSpPr>
          <p:cNvPr id="11" name="S6_Hub"/>
          <p:cNvGrpSpPr/>
          <p:nvPr/>
        </p:nvGrpSpPr>
        <p:grpSpPr>
          <a:xfrm>
            <a:off x="4727448" y="2377440"/>
            <a:ext cx="2743200" cy="2743200"/>
            <a:chOff x="4727448" y="2377440"/>
            <a:chExt cx="2743200" cy="2743200"/>
          </a:xfrm>
        </p:grpSpPr>
        <p:sp>
          <p:nvSpPr>
            <p:cNvPr id="12" name="Oval 11"/>
            <p:cNvSpPr/>
            <p:nvPr/>
          </p:nvSpPr>
          <p:spPr>
            <a:xfrm>
              <a:off x="4727448" y="2377440"/>
              <a:ext cx="2743200" cy="274320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727448" y="2377440"/>
              <a:ext cx="2743200" cy="2743200"/>
            </a:xfrm>
            <a:prstGeom prst="rect">
              <a:avLst/>
            </a:prstGeom>
            <a:noFill/>
          </p:spPr>
          <p:txBody>
            <a:bodyPr wrap="square" anchor="ctr" lIns="36576" rIns="36576" tIns="18288" bIns="18288">
              <a:spAutoFit/>
            </a:bodyPr>
            <a:lstStyle/>
            <a:p>
              <a:pPr algn="ctr"/>
              <a:r>
                <a:rPr sz="3000" b="0">
                  <a:solidFill>
                    <a:srgbClr val="1F2937"/>
                  </a:solidFill>
                  <a:latin typeface="Segoe UI Emoji"/>
                </a:rPr>
                <a:t>🏪</a:t>
              </a:r>
            </a:p>
            <a:p>
              <a:pPr algn="ctr"/>
              <a:r>
                <a:rPr sz="1800" b="1">
                  <a:solidFill>
                    <a:srgbClr val="FFFFFF"/>
                  </a:solidFill>
                  <a:latin typeface="Segoe UI"/>
                </a:rPr>
                <a:t>CHI NHÁNH</a:t>
              </a:r>
            </a:p>
            <a:p>
              <a:pPr algn="ctr"/>
              <a:r>
                <a:rPr sz="1300" b="0">
                  <a:solidFill>
                    <a:srgbClr val="FEE2E2"/>
                  </a:solidFill>
                  <a:latin typeface="Segoe UI"/>
                </a:rPr>
                <a:t>branches</a:t>
              </a:r>
            </a:p>
          </p:txBody>
        </p:sp>
      </p:grpSp>
      <p:sp>
        <p:nvSpPr>
          <p:cNvPr id="38" name="S6_Note"/>
          <p:cNvSpPr txBox="1"/>
          <p:nvPr/>
        </p:nvSpPr>
        <p:spPr>
          <a:xfrm>
            <a:off x="411480" y="5943600"/>
            <a:ext cx="11338560" cy="365760"/>
          </a:xfrm>
          <a:prstGeom prst="rect">
            <a:avLst/>
          </a:prstGeom>
          <a:noFill/>
        </p:spPr>
        <p:txBody>
          <a:bodyPr wrap="square" anchor="t" lIns="36576" rIns="36576" tIns="18288" bIns="18288">
            <a:spAutoFit/>
          </a:bodyPr>
          <a:lstStyle/>
          <a:p>
            <a:pPr algn="ctr"/>
            <a:r>
              <a:rPr sz="1300" b="1">
                <a:solidFill>
                  <a:srgbClr val="B91C1C"/>
                </a:solidFill>
                <a:latin typeface="Segoe UI"/>
              </a:rPr>
              <a:t>Mọi dữ liệu nghiệp vụ đều gắn với một chi nhánh → quản lý chỉ thấy dữ liệu chi nhánh mình</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500" fill="hold">
                                          <p:stCondLst>
                                            <p:cond delay="0"/>
                                          </p:stCondLst>
                                        </p:cTn>
                                        <p:tgtEl>
                                          <p:spTgt spid="11"/>
                                        </p:tgtEl>
                                        <p:attrNameLst>
                                          <p:attrName>ppt_w</p:attrName>
                                        </p:attrNameLst>
                                      </p:cBhvr>
                                      <p:tavLst>
                                        <p:tav tm="0">
                                          <p:val>
                                            <p:fltVal val="0"/>
                                          </p:val>
                                        </p:tav>
                                        <p:tav tm="100000">
                                          <p:val>
                                            <p:strVal val="#ppt_w"/>
                                          </p:val>
                                        </p:tav>
                                      </p:tavLst>
                                    </p:anim>
                                    <p:anim calcmode="lin" valueType="num">
                                      <p:cBhvr>
                                        <p:cTn id="12" dur="500" fill="hold">
                                          <p:stCondLst>
                                            <p:cond delay="0"/>
                                          </p:stCondLst>
                                        </p:cTn>
                                        <p:tgtEl>
                                          <p:spTgt spid="11"/>
                                        </p:tgtEl>
                                        <p:attrNameLst>
                                          <p:attrName>ppt_h</p:attrName>
                                        </p:attrNameLst>
                                      </p:cBhvr>
                                      <p:tavLst>
                                        <p:tav tm="0">
                                          <p:val>
                                            <p:fltVal val="0"/>
                                          </p:val>
                                        </p:tav>
                                        <p:tav tm="100000">
                                          <p:val>
                                            <p:strVal val="#ppt_h"/>
                                          </p:val>
                                        </p:tav>
                                      </p:tavLst>
                                    </p:anim>
                                    <p:animEffect transition="in" filter="fade">
                                      <p:cBhvr>
                                        <p:cTn id="13" dur="500">
                                          <p:stCondLst>
                                            <p:cond delay="0"/>
                                          </p:stCondLst>
                                        </p:cTn>
                                        <p:tgtEl>
                                          <p:spTgt spid="11"/>
                                        </p:tgtEl>
                                      </p:cBhvr>
                                    </p:animEffect>
                                  </p:childTnLst>
                                </p:cTn>
                              </p:par>
                            </p:childTnLst>
                          </p:cTn>
                        </p:par>
                      </p:childTnLst>
                    </p:cTn>
                  </p:par>
                  <p:par>
                    <p:cTn id="15" fill="hold">
                      <p:stCondLst>
                        <p:cond delay="indefinite"/>
                      </p:stCondLst>
                      <p:childTnLst>
                        <p:par>
                          <p:cTn id="16" fill="hold">
                            <p:stCondLst>
                              <p:cond delay="0"/>
                            </p:stCondLst>
                            <p:childTnLst>
                              <p:par>
                                <p:cTn id="19" presetID="10" presetClass="entr" presetSubtype="0" fill="hold" nodeType="clickEffect">
                                  <p:stCondLst>
                                    <p:cond delay="0"/>
                                  </p:stCondLst>
                                  <p:childTnLst>
                                    <p:set>
                                      <p:cBhvr>
                                        <p:cTn id="17" dur="1" fill="hold">
                                          <p:stCondLst>
                                            <p:cond delay="0"/>
                                          </p:stCondLst>
                                        </p:cTn>
                                        <p:tgtEl>
                                          <p:spTgt spid="14"/>
                                        </p:tgtEl>
                                        <p:attrNameLst>
                                          <p:attrName>style.visibility</p:attrName>
                                        </p:attrNameLst>
                                      </p:cBhvr>
                                      <p:to>
                                        <p:strVal val="visible"/>
                                      </p:to>
                                    </p:set>
                                    <p:animEffect transition="in" filter="fade">
                                      <p:cBhvr>
                                        <p:cTn id="18" dur="300">
                                          <p:stCondLst>
                                            <p:cond delay="0"/>
                                          </p:stCondLst>
                                        </p:cTn>
                                        <p:tgtEl>
                                          <p:spTgt spid="14"/>
                                        </p:tgtEl>
                                      </p:cBhvr>
                                    </p:animEffect>
                                  </p:childTnLst>
                                </p:cTn>
                              </p:par>
                            </p:childTnLst>
                          </p:cTn>
                        </p:par>
                        <p:par>
                          <p:cTn id="20" fill="hold">
                            <p:stCondLst>
                              <p:cond delay="0"/>
                            </p:stCondLst>
                            <p:childTnLst>
                              <p:par>
                                <p:cTn id="23" presetID="10" presetClass="entr" presetSubtype="0" fill="hold"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fade">
                                      <p:cBhvr>
                                        <p:cTn id="22" dur="450">
                                          <p:stCondLst>
                                            <p:cond delay="0"/>
                                          </p:stCondLst>
                                        </p:cTn>
                                        <p:tgtEl>
                                          <p:spTgt spid="18"/>
                                        </p:tgtEl>
                                      </p:cBhvr>
                                    </p:animEffect>
                                  </p:childTnLst>
                                </p:cTn>
                              </p:par>
                            </p:childTnLst>
                          </p:cTn>
                        </p:par>
                      </p:childTnLst>
                    </p:cTn>
                  </p:par>
                  <p:par>
                    <p:cTn id="24" fill="hold">
                      <p:stCondLst>
                        <p:cond delay="indefinite"/>
                      </p:stCondLst>
                      <p:childTnLst>
                        <p:par>
                          <p:cTn id="25" fill="hold">
                            <p:stCondLst>
                              <p:cond delay="0"/>
                            </p:stCondLst>
                            <p:childTnLst>
                              <p:par>
                                <p:cTn id="28" presetID="10" presetClass="entr" presetSubtype="0" fill="hold" nodeType="clickEffect">
                                  <p:stCondLst>
                                    <p:cond delay="0"/>
                                  </p:stCondLst>
                                  <p:childTnLst>
                                    <p:set>
                                      <p:cBhvr>
                                        <p:cTn id="26" dur="1" fill="hold">
                                          <p:stCondLst>
                                            <p:cond delay="0"/>
                                          </p:stCondLst>
                                        </p:cTn>
                                        <p:tgtEl>
                                          <p:spTgt spid="15"/>
                                        </p:tgtEl>
                                        <p:attrNameLst>
                                          <p:attrName>style.visibility</p:attrName>
                                        </p:attrNameLst>
                                      </p:cBhvr>
                                      <p:to>
                                        <p:strVal val="visible"/>
                                      </p:to>
                                    </p:set>
                                    <p:animEffect transition="in" filter="fade">
                                      <p:cBhvr>
                                        <p:cTn id="27" dur="300">
                                          <p:stCondLst>
                                            <p:cond delay="0"/>
                                          </p:stCondLst>
                                        </p:cTn>
                                        <p:tgtEl>
                                          <p:spTgt spid="15"/>
                                        </p:tgtEl>
                                      </p:cBhvr>
                                    </p:animEffect>
                                  </p:childTnLst>
                                </p:cTn>
                              </p:par>
                            </p:childTnLst>
                          </p:cTn>
                        </p:par>
                        <p:par>
                          <p:cTn id="29" fill="hold">
                            <p:stCondLst>
                              <p:cond delay="0"/>
                            </p:stCondLst>
                            <p:childTnLst>
                              <p:par>
                                <p:cTn id="32" presetID="10" presetClass="entr" presetSubtype="0" fill="hold"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fade">
                                      <p:cBhvr>
                                        <p:cTn id="31" dur="450">
                                          <p:stCondLst>
                                            <p:cond delay="0"/>
                                          </p:stCondLst>
                                        </p:cTn>
                                        <p:tgtEl>
                                          <p:spTgt spid="23"/>
                                        </p:tgtEl>
                                      </p:cBhvr>
                                    </p:animEffect>
                                  </p:childTnLst>
                                </p:cTn>
                              </p:par>
                            </p:childTnLst>
                          </p:cTn>
                        </p:par>
                      </p:childTnLst>
                    </p:cTn>
                  </p:par>
                  <p:par>
                    <p:cTn id="33" fill="hold">
                      <p:stCondLst>
                        <p:cond delay="indefinite"/>
                      </p:stCondLst>
                      <p:childTnLst>
                        <p:par>
                          <p:cTn id="34" fill="hold">
                            <p:stCondLst>
                              <p:cond delay="0"/>
                            </p:stCondLst>
                            <p:childTnLst>
                              <p:par>
                                <p:cTn id="37" presetID="10" presetClass="entr" presetSubtype="0" fill="hold" nodeType="clickEffect">
                                  <p:stCondLst>
                                    <p:cond delay="0"/>
                                  </p:stCondLst>
                                  <p:childTnLst>
                                    <p:set>
                                      <p:cBhvr>
                                        <p:cTn id="35" dur="1" fill="hold">
                                          <p:stCondLst>
                                            <p:cond delay="0"/>
                                          </p:stCondLst>
                                        </p:cTn>
                                        <p:tgtEl>
                                          <p:spTgt spid="16"/>
                                        </p:tgtEl>
                                        <p:attrNameLst>
                                          <p:attrName>style.visibility</p:attrName>
                                        </p:attrNameLst>
                                      </p:cBhvr>
                                      <p:to>
                                        <p:strVal val="visible"/>
                                      </p:to>
                                    </p:set>
                                    <p:animEffect transition="in" filter="fade">
                                      <p:cBhvr>
                                        <p:cTn id="36" dur="300">
                                          <p:stCondLst>
                                            <p:cond delay="0"/>
                                          </p:stCondLst>
                                        </p:cTn>
                                        <p:tgtEl>
                                          <p:spTgt spid="16"/>
                                        </p:tgtEl>
                                      </p:cBhvr>
                                    </p:animEffect>
                                  </p:childTnLst>
                                </p:cTn>
                              </p:par>
                            </p:childTnLst>
                          </p:cTn>
                        </p:par>
                        <p:par>
                          <p:cTn id="38" fill="hold">
                            <p:stCondLst>
                              <p:cond delay="0"/>
                            </p:stCondLst>
                            <p:childTnLst>
                              <p:par>
                                <p:cTn id="41" presetID="10" presetClass="entr" presetSubtype="0" fill="hold" nodeType="withEffect">
                                  <p:stCondLst>
                                    <p:cond delay="0"/>
                                  </p:stCondLst>
                                  <p:childTnLst>
                                    <p:set>
                                      <p:cBhvr>
                                        <p:cTn id="39" dur="1" fill="hold">
                                          <p:stCondLst>
                                            <p:cond delay="0"/>
                                          </p:stCondLst>
                                        </p:cTn>
                                        <p:tgtEl>
                                          <p:spTgt spid="28"/>
                                        </p:tgtEl>
                                        <p:attrNameLst>
                                          <p:attrName>style.visibility</p:attrName>
                                        </p:attrNameLst>
                                      </p:cBhvr>
                                      <p:to>
                                        <p:strVal val="visible"/>
                                      </p:to>
                                    </p:set>
                                    <p:animEffect transition="in" filter="fade">
                                      <p:cBhvr>
                                        <p:cTn id="40" dur="450">
                                          <p:stCondLst>
                                            <p:cond delay="0"/>
                                          </p:stCondLst>
                                        </p:cTn>
                                        <p:tgtEl>
                                          <p:spTgt spid="28"/>
                                        </p:tgtEl>
                                      </p:cBhvr>
                                    </p:animEffect>
                                  </p:childTnLst>
                                </p:cTn>
                              </p:par>
                            </p:childTnLst>
                          </p:cTn>
                        </p:par>
                      </p:childTnLst>
                    </p:cTn>
                  </p:par>
                  <p:par>
                    <p:cTn id="42" fill="hold">
                      <p:stCondLst>
                        <p:cond delay="indefinite"/>
                      </p:stCondLst>
                      <p:childTnLst>
                        <p:par>
                          <p:cTn id="43" fill="hold">
                            <p:stCondLst>
                              <p:cond delay="0"/>
                            </p:stCondLst>
                            <p:childTnLst>
                              <p:par>
                                <p:cTn id="46" presetID="10" presetClass="entr" presetSubtype="0" fill="hold" nodeType="click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300">
                                          <p:stCondLst>
                                            <p:cond delay="0"/>
                                          </p:stCondLst>
                                        </p:cTn>
                                        <p:tgtEl>
                                          <p:spTgt spid="17"/>
                                        </p:tgtEl>
                                      </p:cBhvr>
                                    </p:animEffect>
                                  </p:childTnLst>
                                </p:cTn>
                              </p:par>
                            </p:childTnLst>
                          </p:cTn>
                        </p:par>
                        <p:par>
                          <p:cTn id="47" fill="hold">
                            <p:stCondLst>
                              <p:cond delay="0"/>
                            </p:stCondLst>
                            <p:childTnLst>
                              <p:par>
                                <p:cTn id="50" presetID="10" presetClass="entr" presetSubtype="0" fill="hold" nodeType="withEffect">
                                  <p:stCondLst>
                                    <p:cond delay="0"/>
                                  </p:stCondLst>
                                  <p:childTnLst>
                                    <p:set>
                                      <p:cBhvr>
                                        <p:cTn id="48" dur="1" fill="hold">
                                          <p:stCondLst>
                                            <p:cond delay="0"/>
                                          </p:stCondLst>
                                        </p:cTn>
                                        <p:tgtEl>
                                          <p:spTgt spid="33"/>
                                        </p:tgtEl>
                                        <p:attrNameLst>
                                          <p:attrName>style.visibility</p:attrName>
                                        </p:attrNameLst>
                                      </p:cBhvr>
                                      <p:to>
                                        <p:strVal val="visible"/>
                                      </p:to>
                                    </p:set>
                                    <p:animEffect transition="in" filter="fade">
                                      <p:cBhvr>
                                        <p:cTn id="49" dur="450">
                                          <p:stCondLst>
                                            <p:cond delay="0"/>
                                          </p:stCondLst>
                                        </p:cTn>
                                        <p:tgtEl>
                                          <p:spTgt spid="33"/>
                                        </p:tgtEl>
                                      </p:cBhvr>
                                    </p:animEffect>
                                  </p:childTnLst>
                                </p:cTn>
                              </p:par>
                            </p:childTnLst>
                          </p:cTn>
                        </p:par>
                        <p:par>
                          <p:cTn id="51" fill="hold">
                            <p:stCondLst>
                              <p:cond delay="650"/>
                            </p:stCondLst>
                            <p:childTnLst>
                              <p:par>
                                <p:cTn id="54" presetID="10" presetClass="entr" presetSubtype="0" fill="hold" nodeType="afterEffect">
                                  <p:stCondLst>
                                    <p:cond delay="0"/>
                                  </p:stCondLst>
                                  <p:childTnLst>
                                    <p:set>
                                      <p:cBhvr>
                                        <p:cTn id="52" dur="1" fill="hold">
                                          <p:stCondLst>
                                            <p:cond delay="0"/>
                                          </p:stCondLst>
                                        </p:cTn>
                                        <p:tgtEl>
                                          <p:spTgt spid="38"/>
                                        </p:tgtEl>
                                        <p:attrNameLst>
                                          <p:attrName>style.visibility</p:attrName>
                                        </p:attrNameLst>
                                      </p:cBhvr>
                                      <p:to>
                                        <p:strVal val="visible"/>
                                      </p:to>
                                    </p:set>
                                    <p:animEffect transition="in" filter="fade">
                                      <p:cBhvr>
                                        <p:cTn id="53" dur="400">
                                          <p:stCondLst>
                                            <p:cond delay="0"/>
                                          </p:stCondLst>
                                        </p:cTn>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Quy trình xử lý đơn hàng</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7</a:t>
            </a:r>
          </a:p>
        </p:txBody>
      </p:sp>
      <p:grpSp>
        <p:nvGrpSpPr>
          <p:cNvPr id="11" name="S7_Step1"/>
          <p:cNvGrpSpPr/>
          <p:nvPr/>
        </p:nvGrpSpPr>
        <p:grpSpPr>
          <a:xfrm>
            <a:off x="411480" y="1463040"/>
            <a:ext cx="2498598" cy="1783080"/>
            <a:chOff x="411480" y="1463040"/>
            <a:chExt cx="2498598" cy="1783080"/>
          </a:xfrm>
        </p:grpSpPr>
        <p:sp>
          <p:nvSpPr>
            <p:cNvPr id="12" name="Rounded Rectangle 11"/>
            <p:cNvSpPr/>
            <p:nvPr/>
          </p:nvSpPr>
          <p:spPr>
            <a:xfrm>
              <a:off x="411480" y="146304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94360"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1</a:t>
              </a:r>
            </a:p>
          </p:txBody>
        </p:sp>
        <p:sp>
          <p:nvSpPr>
            <p:cNvPr id="14" name="Oval 13"/>
            <p:cNvSpPr/>
            <p:nvPr/>
          </p:nvSpPr>
          <p:spPr>
            <a:xfrm>
              <a:off x="2132838"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15" name="TextBox 14"/>
            <p:cNvSpPr txBox="1"/>
            <p:nvPr/>
          </p:nvSpPr>
          <p:spPr>
            <a:xfrm>
              <a:off x="594360" y="219456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Chọn chi nhánh</a:t>
              </a:r>
            </a:p>
          </p:txBody>
        </p:sp>
        <p:sp>
          <p:nvSpPr>
            <p:cNvPr id="16" name="TextBox 15"/>
            <p:cNvSpPr txBox="1"/>
            <p:nvPr/>
          </p:nvSpPr>
          <p:spPr>
            <a:xfrm>
              <a:off x="594360" y="257860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Giá, tồn kho theo chi nhánh</a:t>
              </a:r>
            </a:p>
          </p:txBody>
        </p:sp>
      </p:grpSp>
      <p:sp>
        <p:nvSpPr>
          <p:cNvPr id="17" name="S7_Arrow1"/>
          <p:cNvSpPr/>
          <p:nvPr/>
        </p:nvSpPr>
        <p:spPr>
          <a:xfrm>
            <a:off x="2974086" y="2176272"/>
            <a:ext cx="329184"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18" name="S7_Step2"/>
          <p:cNvGrpSpPr/>
          <p:nvPr/>
        </p:nvGrpSpPr>
        <p:grpSpPr>
          <a:xfrm>
            <a:off x="3367278" y="1463040"/>
            <a:ext cx="2498598" cy="1783080"/>
            <a:chOff x="3367278" y="1463040"/>
            <a:chExt cx="2498598" cy="1783080"/>
          </a:xfrm>
        </p:grpSpPr>
        <p:sp>
          <p:nvSpPr>
            <p:cNvPr id="19" name="Rounded Rectangle 18"/>
            <p:cNvSpPr/>
            <p:nvPr/>
          </p:nvSpPr>
          <p:spPr>
            <a:xfrm>
              <a:off x="3367278" y="146304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3550158"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2</a:t>
              </a:r>
            </a:p>
          </p:txBody>
        </p:sp>
        <p:sp>
          <p:nvSpPr>
            <p:cNvPr id="21" name="Oval 20"/>
            <p:cNvSpPr/>
            <p:nvPr/>
          </p:nvSpPr>
          <p:spPr>
            <a:xfrm>
              <a:off x="5088636"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2" name="TextBox 21"/>
            <p:cNvSpPr txBox="1"/>
            <p:nvPr/>
          </p:nvSpPr>
          <p:spPr>
            <a:xfrm>
              <a:off x="3550158" y="219456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Thêm vào giỏ</a:t>
              </a:r>
            </a:p>
          </p:txBody>
        </p:sp>
        <p:sp>
          <p:nvSpPr>
            <p:cNvPr id="23" name="TextBox 22"/>
            <p:cNvSpPr txBox="1"/>
            <p:nvPr/>
          </p:nvSpPr>
          <p:spPr>
            <a:xfrm>
              <a:off x="3550158" y="257860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Ghi chú, topping, tìm món</a:t>
              </a:r>
            </a:p>
          </p:txBody>
        </p:sp>
      </p:grpSp>
      <p:sp>
        <p:nvSpPr>
          <p:cNvPr id="24" name="S7_Arrow2"/>
          <p:cNvSpPr/>
          <p:nvPr/>
        </p:nvSpPr>
        <p:spPr>
          <a:xfrm>
            <a:off x="5929884" y="2176272"/>
            <a:ext cx="329184"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25" name="S7_Step3"/>
          <p:cNvGrpSpPr/>
          <p:nvPr/>
        </p:nvGrpSpPr>
        <p:grpSpPr>
          <a:xfrm>
            <a:off x="6323076" y="1463040"/>
            <a:ext cx="2498598" cy="1783080"/>
            <a:chOff x="6323076" y="1463040"/>
            <a:chExt cx="2498598" cy="1783080"/>
          </a:xfrm>
        </p:grpSpPr>
        <p:sp>
          <p:nvSpPr>
            <p:cNvPr id="26" name="Rounded Rectangle 25"/>
            <p:cNvSpPr/>
            <p:nvPr/>
          </p:nvSpPr>
          <p:spPr>
            <a:xfrm>
              <a:off x="6323076" y="146304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6505956"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3</a:t>
              </a:r>
            </a:p>
          </p:txBody>
        </p:sp>
        <p:sp>
          <p:nvSpPr>
            <p:cNvPr id="28" name="Oval 27"/>
            <p:cNvSpPr/>
            <p:nvPr/>
          </p:nvSpPr>
          <p:spPr>
            <a:xfrm>
              <a:off x="8044434"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9" name="TextBox 28"/>
            <p:cNvSpPr txBox="1"/>
            <p:nvPr/>
          </p:nvSpPr>
          <p:spPr>
            <a:xfrm>
              <a:off x="6505956" y="219456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Thanh toán</a:t>
              </a:r>
            </a:p>
          </p:txBody>
        </p:sp>
        <p:sp>
          <p:nvSpPr>
            <p:cNvPr id="30" name="TextBox 29"/>
            <p:cNvSpPr txBox="1"/>
            <p:nvPr/>
          </p:nvSpPr>
          <p:spPr>
            <a:xfrm>
              <a:off x="6505956" y="257860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Voucher, phí ship, VietQR</a:t>
              </a:r>
            </a:p>
          </p:txBody>
        </p:sp>
      </p:grpSp>
      <p:sp>
        <p:nvSpPr>
          <p:cNvPr id="31" name="S7_Arrow3"/>
          <p:cNvSpPr/>
          <p:nvPr/>
        </p:nvSpPr>
        <p:spPr>
          <a:xfrm>
            <a:off x="8885682" y="2176272"/>
            <a:ext cx="329184"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32" name="S7_Step4"/>
          <p:cNvGrpSpPr/>
          <p:nvPr/>
        </p:nvGrpSpPr>
        <p:grpSpPr>
          <a:xfrm>
            <a:off x="9278874" y="1463040"/>
            <a:ext cx="2498598" cy="1783080"/>
            <a:chOff x="9278874" y="1463040"/>
            <a:chExt cx="2498598" cy="1783080"/>
          </a:xfrm>
        </p:grpSpPr>
        <p:sp>
          <p:nvSpPr>
            <p:cNvPr id="33" name="Rounded Rectangle 32"/>
            <p:cNvSpPr/>
            <p:nvPr/>
          </p:nvSpPr>
          <p:spPr>
            <a:xfrm>
              <a:off x="9278874" y="146304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9461753"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4</a:t>
              </a:r>
            </a:p>
          </p:txBody>
        </p:sp>
        <p:sp>
          <p:nvSpPr>
            <p:cNvPr id="35" name="Oval 34"/>
            <p:cNvSpPr/>
            <p:nvPr/>
          </p:nvSpPr>
          <p:spPr>
            <a:xfrm>
              <a:off x="11000232"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36" name="TextBox 35"/>
            <p:cNvSpPr txBox="1"/>
            <p:nvPr/>
          </p:nvSpPr>
          <p:spPr>
            <a:xfrm>
              <a:off x="9461753" y="219456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Chờ xác nhận</a:t>
              </a:r>
            </a:p>
          </p:txBody>
        </p:sp>
        <p:sp>
          <p:nvSpPr>
            <p:cNvPr id="37" name="TextBox 36"/>
            <p:cNvSpPr txBox="1"/>
            <p:nvPr/>
          </p:nvSpPr>
          <p:spPr>
            <a:xfrm>
              <a:off x="9461753" y="257860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Quản lý duyệt hoặc huỷ</a:t>
              </a:r>
            </a:p>
          </p:txBody>
        </p:sp>
      </p:grpSp>
      <p:sp>
        <p:nvSpPr>
          <p:cNvPr id="38" name="S7_Arrow4"/>
          <p:cNvSpPr/>
          <p:nvPr/>
        </p:nvSpPr>
        <p:spPr>
          <a:xfrm>
            <a:off x="10327004" y="3310128"/>
            <a:ext cx="402336" cy="301752"/>
          </a:xfrm>
          <a:prstGeom prst="down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39" name="S7_Step5"/>
          <p:cNvGrpSpPr/>
          <p:nvPr/>
        </p:nvGrpSpPr>
        <p:grpSpPr>
          <a:xfrm>
            <a:off x="9278874" y="3611880"/>
            <a:ext cx="2498598" cy="1783080"/>
            <a:chOff x="9278874" y="3611880"/>
            <a:chExt cx="2498598" cy="1783080"/>
          </a:xfrm>
        </p:grpSpPr>
        <p:sp>
          <p:nvSpPr>
            <p:cNvPr id="40" name="Rounded Rectangle 39"/>
            <p:cNvSpPr/>
            <p:nvPr/>
          </p:nvSpPr>
          <p:spPr>
            <a:xfrm>
              <a:off x="9278874" y="361188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9461753"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5</a:t>
              </a:r>
            </a:p>
          </p:txBody>
        </p:sp>
        <p:sp>
          <p:nvSpPr>
            <p:cNvPr id="42" name="Oval 41"/>
            <p:cNvSpPr/>
            <p:nvPr/>
          </p:nvSpPr>
          <p:spPr>
            <a:xfrm>
              <a:off x="11000232"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43" name="TextBox 42"/>
            <p:cNvSpPr txBox="1"/>
            <p:nvPr/>
          </p:nvSpPr>
          <p:spPr>
            <a:xfrm>
              <a:off x="9461753" y="434340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Đang nấu</a:t>
              </a:r>
            </a:p>
          </p:txBody>
        </p:sp>
        <p:sp>
          <p:nvSpPr>
            <p:cNvPr id="44" name="TextBox 43"/>
            <p:cNvSpPr txBox="1"/>
            <p:nvPr/>
          </p:nvSpPr>
          <p:spPr>
            <a:xfrm>
              <a:off x="9461753" y="472744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Hiện trên màn hình bếp</a:t>
              </a:r>
            </a:p>
          </p:txBody>
        </p:sp>
      </p:grpSp>
      <p:sp>
        <p:nvSpPr>
          <p:cNvPr id="45" name="S7_Arrow5"/>
          <p:cNvSpPr/>
          <p:nvPr/>
        </p:nvSpPr>
        <p:spPr>
          <a:xfrm>
            <a:off x="8885682" y="4325112"/>
            <a:ext cx="329184" cy="365760"/>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46" name="S7_Step6"/>
          <p:cNvGrpSpPr/>
          <p:nvPr/>
        </p:nvGrpSpPr>
        <p:grpSpPr>
          <a:xfrm>
            <a:off x="6323076" y="3611880"/>
            <a:ext cx="2498598" cy="1783080"/>
            <a:chOff x="6323076" y="3611880"/>
            <a:chExt cx="2498598" cy="1783080"/>
          </a:xfrm>
        </p:grpSpPr>
        <p:sp>
          <p:nvSpPr>
            <p:cNvPr id="47" name="Rounded Rectangle 46"/>
            <p:cNvSpPr/>
            <p:nvPr/>
          </p:nvSpPr>
          <p:spPr>
            <a:xfrm>
              <a:off x="6323076" y="3611880"/>
              <a:ext cx="2498598"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6505956"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6</a:t>
              </a:r>
            </a:p>
          </p:txBody>
        </p:sp>
        <p:sp>
          <p:nvSpPr>
            <p:cNvPr id="49" name="Oval 48"/>
            <p:cNvSpPr/>
            <p:nvPr/>
          </p:nvSpPr>
          <p:spPr>
            <a:xfrm>
              <a:off x="8044434"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50" name="TextBox 49"/>
            <p:cNvSpPr txBox="1"/>
            <p:nvPr/>
          </p:nvSpPr>
          <p:spPr>
            <a:xfrm>
              <a:off x="6505956" y="434340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Sẵn sàng</a:t>
              </a:r>
            </a:p>
          </p:txBody>
        </p:sp>
        <p:sp>
          <p:nvSpPr>
            <p:cNvPr id="51" name="TextBox 50"/>
            <p:cNvSpPr txBox="1"/>
            <p:nvPr/>
          </p:nvSpPr>
          <p:spPr>
            <a:xfrm>
              <a:off x="6505956" y="472744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Món đã xong</a:t>
              </a:r>
            </a:p>
          </p:txBody>
        </p:sp>
      </p:grpSp>
      <p:sp>
        <p:nvSpPr>
          <p:cNvPr id="52" name="S7_Arrow6"/>
          <p:cNvSpPr/>
          <p:nvPr/>
        </p:nvSpPr>
        <p:spPr>
          <a:xfrm>
            <a:off x="5929884" y="4325112"/>
            <a:ext cx="329184" cy="365760"/>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53" name="S7_Step7"/>
          <p:cNvGrpSpPr/>
          <p:nvPr/>
        </p:nvGrpSpPr>
        <p:grpSpPr>
          <a:xfrm>
            <a:off x="3367278" y="3611880"/>
            <a:ext cx="2498598" cy="1783080"/>
            <a:chOff x="3367278" y="3611880"/>
            <a:chExt cx="2498598" cy="1783080"/>
          </a:xfrm>
        </p:grpSpPr>
        <p:sp>
          <p:nvSpPr>
            <p:cNvPr id="54" name="Rounded Rectangle 53"/>
            <p:cNvSpPr/>
            <p:nvPr/>
          </p:nvSpPr>
          <p:spPr>
            <a:xfrm>
              <a:off x="3367278" y="3611880"/>
              <a:ext cx="2498598" cy="1783080"/>
            </a:xfrm>
            <a:prstGeom prst="roundRect">
              <a:avLst>
                <a:gd name="adj" fmla="val 8000"/>
              </a:avLst>
            </a:prstGeom>
            <a:solidFill>
              <a:srgbClr val="FFFFFF"/>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5" name="Oval 54"/>
            <p:cNvSpPr/>
            <p:nvPr/>
          </p:nvSpPr>
          <p:spPr>
            <a:xfrm>
              <a:off x="3550158"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7</a:t>
              </a:r>
            </a:p>
          </p:txBody>
        </p:sp>
        <p:sp>
          <p:nvSpPr>
            <p:cNvPr id="56" name="Oval 55"/>
            <p:cNvSpPr/>
            <p:nvPr/>
          </p:nvSpPr>
          <p:spPr>
            <a:xfrm>
              <a:off x="5088636"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57" name="TextBox 56"/>
            <p:cNvSpPr txBox="1"/>
            <p:nvPr/>
          </p:nvSpPr>
          <p:spPr>
            <a:xfrm>
              <a:off x="3550158" y="4343400"/>
              <a:ext cx="2178558" cy="411480"/>
            </a:xfrm>
            <a:prstGeom prst="rect">
              <a:avLst/>
            </a:prstGeom>
            <a:noFill/>
          </p:spPr>
          <p:txBody>
            <a:bodyPr wrap="square" anchor="t" lIns="36576" rIns="36576" tIns="18288" bIns="18288">
              <a:spAutoFit/>
            </a:bodyPr>
            <a:lstStyle/>
            <a:p>
              <a:pPr algn="l"/>
              <a:r>
                <a:rPr sz="1400" b="1">
                  <a:solidFill>
                    <a:srgbClr val="111827"/>
                  </a:solidFill>
                  <a:latin typeface="Segoe UI"/>
                </a:rPr>
                <a:t>Hoàn thành</a:t>
              </a:r>
            </a:p>
          </p:txBody>
        </p:sp>
        <p:sp>
          <p:nvSpPr>
            <p:cNvPr id="58" name="TextBox 57"/>
            <p:cNvSpPr txBox="1"/>
            <p:nvPr/>
          </p:nvSpPr>
          <p:spPr>
            <a:xfrm>
              <a:off x="3550158" y="4727448"/>
              <a:ext cx="2178558" cy="640080"/>
            </a:xfrm>
            <a:prstGeom prst="rect">
              <a:avLst/>
            </a:prstGeom>
            <a:noFill/>
          </p:spPr>
          <p:txBody>
            <a:bodyPr wrap="square" anchor="t" lIns="36576" rIns="36576" tIns="18288" bIns="18288">
              <a:spAutoFit/>
            </a:bodyPr>
            <a:lstStyle/>
            <a:p>
              <a:pPr algn="l"/>
              <a:r>
                <a:rPr sz="1100" b="0">
                  <a:solidFill>
                    <a:srgbClr val="6B7280"/>
                  </a:solidFill>
                  <a:latin typeface="Segoe UI"/>
                </a:rPr>
                <a:t>Khách nhận, gửi đánh giá</a:t>
              </a:r>
            </a:p>
          </p:txBody>
        </p:sp>
      </p:grpSp>
      <p:grpSp>
        <p:nvGrpSpPr>
          <p:cNvPr id="59" name="S7_Footer"/>
          <p:cNvGrpSpPr/>
          <p:nvPr/>
        </p:nvGrpSpPr>
        <p:grpSpPr>
          <a:xfrm>
            <a:off x="411480" y="5760720"/>
            <a:ext cx="11365992" cy="457200"/>
            <a:chOff x="411480" y="5760720"/>
            <a:chExt cx="11365992" cy="457200"/>
          </a:xfrm>
        </p:grpSpPr>
        <p:sp>
          <p:nvSpPr>
            <p:cNvPr id="60" name="Rounded Rectangle 59"/>
            <p:cNvSpPr/>
            <p:nvPr/>
          </p:nvSpPr>
          <p:spPr>
            <a:xfrm>
              <a:off x="411480" y="5760720"/>
              <a:ext cx="11365992" cy="457200"/>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1" name="TextBox 60"/>
            <p:cNvSpPr txBox="1"/>
            <p:nvPr/>
          </p:nvSpPr>
          <p:spPr>
            <a:xfrm>
              <a:off x="548640" y="5760720"/>
              <a:ext cx="11064240" cy="457200"/>
            </a:xfrm>
            <a:prstGeom prst="rect">
              <a:avLst/>
            </a:prstGeom>
            <a:noFill/>
          </p:spPr>
          <p:txBody>
            <a:bodyPr wrap="square" anchor="ctr" lIns="36576" rIns="36576" tIns="18288" bIns="18288">
              <a:spAutoFit/>
            </a:bodyPr>
            <a:lstStyle/>
            <a:p>
              <a:pPr algn="ctr"/>
              <a:r>
                <a:rPr sz="1300" b="1">
                  <a:solidFill>
                    <a:srgbClr val="F59E0B"/>
                  </a:solidFill>
                  <a:latin typeface="Segoe UI"/>
                </a:rPr>
                <a:t>★  </a:t>
              </a:r>
              <a:r>
                <a:rPr sz="1300" b="1">
                  <a:solidFill>
                    <a:srgbClr val="FFFFFF"/>
                  </a:solidFill>
                  <a:latin typeface="Segoe UI"/>
                </a:rPr>
                <a:t>Đi đúng thứ tự · chỉ huỷ khi chưa vào bếp · mỗi lần chuyển đều ghi nhật ký</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450" fill="hold">
                                          <p:stCondLst>
                                            <p:cond delay="0"/>
                                          </p:stCondLst>
                                        </p:cTn>
                                        <p:tgtEl>
                                          <p:spTgt spid="11"/>
                                        </p:tgtEl>
                                        <p:attrNameLst>
                                          <p:attrName>ppt_w</p:attrName>
                                        </p:attrNameLst>
                                      </p:cBhvr>
                                      <p:tavLst>
                                        <p:tav tm="0">
                                          <p:val>
                                            <p:fltVal val="0"/>
                                          </p:val>
                                        </p:tav>
                                        <p:tav tm="100000">
                                          <p:val>
                                            <p:strVal val="#ppt_w"/>
                                          </p:val>
                                        </p:tav>
                                      </p:tavLst>
                                    </p:anim>
                                    <p:anim calcmode="lin" valueType="num">
                                      <p:cBhvr>
                                        <p:cTn id="12" dur="450" fill="hold">
                                          <p:stCondLst>
                                            <p:cond delay="0"/>
                                          </p:stCondLst>
                                        </p:cTn>
                                        <p:tgtEl>
                                          <p:spTgt spid="11"/>
                                        </p:tgtEl>
                                        <p:attrNameLst>
                                          <p:attrName>ppt_h</p:attrName>
                                        </p:attrNameLst>
                                      </p:cBhvr>
                                      <p:tavLst>
                                        <p:tav tm="0">
                                          <p:val>
                                            <p:fltVal val="0"/>
                                          </p:val>
                                        </p:tav>
                                        <p:tav tm="100000">
                                          <p:val>
                                            <p:strVal val="#ppt_h"/>
                                          </p:val>
                                        </p:tav>
                                      </p:tavLst>
                                    </p:anim>
                                    <p:animEffect transition="in" filter="fade">
                                      <p:cBhvr>
                                        <p:cTn id="13" dur="450">
                                          <p:stCondLst>
                                            <p:cond delay="0"/>
                                          </p:stCondLst>
                                        </p:cTn>
                                        <p:tgtEl>
                                          <p:spTgt spid="11"/>
                                        </p:tgtEl>
                                      </p:cBhvr>
                                    </p:animEffect>
                                  </p:childTnLst>
                                </p:cTn>
                              </p:par>
                            </p:childTnLst>
                          </p:cTn>
                        </p:par>
                        <p:par>
                          <p:cTn id="15" fill="hold">
                            <p:stCondLst>
                              <p:cond delay="530"/>
                            </p:stCondLst>
                            <p:childTnLst>
                              <p:par>
                                <p:cTn id="18" presetID="22" presetClass="entr" presetSubtype="8"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300">
                                          <p:stCondLst>
                                            <p:cond delay="0"/>
                                          </p:stCondLst>
                                        </p:cTn>
                                        <p:tgtEl>
                                          <p:spTgt spid="17"/>
                                        </p:tgtEl>
                                      </p:cBhvr>
                                    </p:animEffect>
                                  </p:childTnLst>
                                </p:cTn>
                              </p:par>
                            </p:childTnLst>
                          </p:cTn>
                        </p:par>
                        <p:par>
                          <p:cTn id="19" fill="hold">
                            <p:stCondLst>
                              <p:cond delay="930"/>
                            </p:stCondLst>
                            <p:childTnLst>
                              <p:par>
                                <p:cTn id="24" presetID="53" presetClass="entr" presetSubtype="16"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450" fill="hold">
                                          <p:stCondLst>
                                            <p:cond delay="0"/>
                                          </p:stCondLst>
                                        </p:cTn>
                                        <p:tgtEl>
                                          <p:spTgt spid="18"/>
                                        </p:tgtEl>
                                        <p:attrNameLst>
                                          <p:attrName>ppt_w</p:attrName>
                                        </p:attrNameLst>
                                      </p:cBhvr>
                                      <p:tavLst>
                                        <p:tav tm="0">
                                          <p:val>
                                            <p:fltVal val="0"/>
                                          </p:val>
                                        </p:tav>
                                        <p:tav tm="100000">
                                          <p:val>
                                            <p:strVal val="#ppt_w"/>
                                          </p:val>
                                        </p:tav>
                                      </p:tavLst>
                                    </p:anim>
                                    <p:anim calcmode="lin" valueType="num">
                                      <p:cBhvr>
                                        <p:cTn id="22" dur="450" fill="hold">
                                          <p:stCondLst>
                                            <p:cond delay="0"/>
                                          </p:stCondLst>
                                        </p:cTn>
                                        <p:tgtEl>
                                          <p:spTgt spid="18"/>
                                        </p:tgtEl>
                                        <p:attrNameLst>
                                          <p:attrName>ppt_h</p:attrName>
                                        </p:attrNameLst>
                                      </p:cBhvr>
                                      <p:tavLst>
                                        <p:tav tm="0">
                                          <p:val>
                                            <p:fltVal val="0"/>
                                          </p:val>
                                        </p:tav>
                                        <p:tav tm="100000">
                                          <p:val>
                                            <p:strVal val="#ppt_h"/>
                                          </p:val>
                                        </p:tav>
                                      </p:tavLst>
                                    </p:anim>
                                    <p:animEffect transition="in" filter="fade">
                                      <p:cBhvr>
                                        <p:cTn id="23" dur="450">
                                          <p:stCondLst>
                                            <p:cond delay="0"/>
                                          </p:stCondLst>
                                        </p:cTn>
                                        <p:tgtEl>
                                          <p:spTgt spid="18"/>
                                        </p:tgtEl>
                                      </p:cBhvr>
                                    </p:animEffect>
                                  </p:childTnLst>
                                </p:cTn>
                              </p:par>
                            </p:childTnLst>
                          </p:cTn>
                        </p:par>
                        <p:par>
                          <p:cTn id="25" fill="hold">
                            <p:stCondLst>
                              <p:cond delay="1460"/>
                            </p:stCondLst>
                            <p:childTnLst>
                              <p:par>
                                <p:cTn id="28" presetID="22" presetClass="entr" presetSubtype="8"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300">
                                          <p:stCondLst>
                                            <p:cond delay="0"/>
                                          </p:stCondLst>
                                        </p:cTn>
                                        <p:tgtEl>
                                          <p:spTgt spid="24"/>
                                        </p:tgtEl>
                                      </p:cBhvr>
                                    </p:animEffect>
                                  </p:childTnLst>
                                </p:cTn>
                              </p:par>
                            </p:childTnLst>
                          </p:cTn>
                        </p:par>
                        <p:par>
                          <p:cTn id="29" fill="hold">
                            <p:stCondLst>
                              <p:cond delay="1860"/>
                            </p:stCondLst>
                            <p:childTnLst>
                              <p:par>
                                <p:cTn id="34" presetID="53" presetClass="entr" presetSubtype="16" fill="hold" nodeType="afterEffect">
                                  <p:stCondLst>
                                    <p:cond delay="0"/>
                                  </p:stCondLst>
                                  <p:childTnLst>
                                    <p:set>
                                      <p:cBhvr>
                                        <p:cTn id="30" dur="1" fill="hold">
                                          <p:stCondLst>
                                            <p:cond delay="0"/>
                                          </p:stCondLst>
                                        </p:cTn>
                                        <p:tgtEl>
                                          <p:spTgt spid="25"/>
                                        </p:tgtEl>
                                        <p:attrNameLst>
                                          <p:attrName>style.visibility</p:attrName>
                                        </p:attrNameLst>
                                      </p:cBhvr>
                                      <p:to>
                                        <p:strVal val="visible"/>
                                      </p:to>
                                    </p:set>
                                    <p:anim calcmode="lin" valueType="num">
                                      <p:cBhvr>
                                        <p:cTn id="31" dur="450" fill="hold">
                                          <p:stCondLst>
                                            <p:cond delay="0"/>
                                          </p:stCondLst>
                                        </p:cTn>
                                        <p:tgtEl>
                                          <p:spTgt spid="25"/>
                                        </p:tgtEl>
                                        <p:attrNameLst>
                                          <p:attrName>ppt_w</p:attrName>
                                        </p:attrNameLst>
                                      </p:cBhvr>
                                      <p:tavLst>
                                        <p:tav tm="0">
                                          <p:val>
                                            <p:fltVal val="0"/>
                                          </p:val>
                                        </p:tav>
                                        <p:tav tm="100000">
                                          <p:val>
                                            <p:strVal val="#ppt_w"/>
                                          </p:val>
                                        </p:tav>
                                      </p:tavLst>
                                    </p:anim>
                                    <p:anim calcmode="lin" valueType="num">
                                      <p:cBhvr>
                                        <p:cTn id="32" dur="450" fill="hold">
                                          <p:stCondLst>
                                            <p:cond delay="0"/>
                                          </p:stCondLst>
                                        </p:cTn>
                                        <p:tgtEl>
                                          <p:spTgt spid="25"/>
                                        </p:tgtEl>
                                        <p:attrNameLst>
                                          <p:attrName>ppt_h</p:attrName>
                                        </p:attrNameLst>
                                      </p:cBhvr>
                                      <p:tavLst>
                                        <p:tav tm="0">
                                          <p:val>
                                            <p:fltVal val="0"/>
                                          </p:val>
                                        </p:tav>
                                        <p:tav tm="100000">
                                          <p:val>
                                            <p:strVal val="#ppt_h"/>
                                          </p:val>
                                        </p:tav>
                                      </p:tavLst>
                                    </p:anim>
                                    <p:animEffect transition="in" filter="fade">
                                      <p:cBhvr>
                                        <p:cTn id="33" dur="450">
                                          <p:stCondLst>
                                            <p:cond delay="0"/>
                                          </p:stCondLst>
                                        </p:cTn>
                                        <p:tgtEl>
                                          <p:spTgt spid="25"/>
                                        </p:tgtEl>
                                      </p:cBhvr>
                                    </p:animEffect>
                                  </p:childTnLst>
                                </p:cTn>
                              </p:par>
                            </p:childTnLst>
                          </p:cTn>
                        </p:par>
                        <p:par>
                          <p:cTn id="35" fill="hold">
                            <p:stCondLst>
                              <p:cond delay="2390"/>
                            </p:stCondLst>
                            <p:childTnLst>
                              <p:par>
                                <p:cTn id="38" presetID="22" presetClass="entr" presetSubtype="8" fill="hold" nodeType="afterEffect">
                                  <p:stCondLst>
                                    <p:cond delay="0"/>
                                  </p:stCondLst>
                                  <p:childTnLst>
                                    <p:set>
                                      <p:cBhvr>
                                        <p:cTn id="36" dur="1" fill="hold">
                                          <p:stCondLst>
                                            <p:cond delay="0"/>
                                          </p:stCondLst>
                                        </p:cTn>
                                        <p:tgtEl>
                                          <p:spTgt spid="31"/>
                                        </p:tgtEl>
                                        <p:attrNameLst>
                                          <p:attrName>style.visibility</p:attrName>
                                        </p:attrNameLst>
                                      </p:cBhvr>
                                      <p:to>
                                        <p:strVal val="visible"/>
                                      </p:to>
                                    </p:set>
                                    <p:animEffect transition="in" filter="wipe(left)">
                                      <p:cBhvr>
                                        <p:cTn id="37" dur="300">
                                          <p:stCondLst>
                                            <p:cond delay="0"/>
                                          </p:stCondLst>
                                        </p:cTn>
                                        <p:tgtEl>
                                          <p:spTgt spid="31"/>
                                        </p:tgtEl>
                                      </p:cBhvr>
                                    </p:animEffect>
                                  </p:childTnLst>
                                </p:cTn>
                              </p:par>
                            </p:childTnLst>
                          </p:cTn>
                        </p:par>
                      </p:childTnLst>
                    </p:cTn>
                  </p:par>
                  <p:par>
                    <p:cTn id="39" fill="hold">
                      <p:stCondLst>
                        <p:cond delay="indefinite"/>
                      </p:stCondLst>
                      <p:childTnLst>
                        <p:par>
                          <p:cTn id="40" fill="hold">
                            <p:stCondLst>
                              <p:cond delay="0"/>
                            </p:stCondLst>
                            <p:childTnLst>
                              <p:par>
                                <p:cTn id="45" presetID="53" presetClass="entr" presetSubtype="16" fill="hold" nodeType="click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450" fill="hold">
                                          <p:stCondLst>
                                            <p:cond delay="0"/>
                                          </p:stCondLst>
                                        </p:cTn>
                                        <p:tgtEl>
                                          <p:spTgt spid="32"/>
                                        </p:tgtEl>
                                        <p:attrNameLst>
                                          <p:attrName>ppt_w</p:attrName>
                                        </p:attrNameLst>
                                      </p:cBhvr>
                                      <p:tavLst>
                                        <p:tav tm="0">
                                          <p:val>
                                            <p:fltVal val="0"/>
                                          </p:val>
                                        </p:tav>
                                        <p:tav tm="100000">
                                          <p:val>
                                            <p:strVal val="#ppt_w"/>
                                          </p:val>
                                        </p:tav>
                                      </p:tavLst>
                                    </p:anim>
                                    <p:anim calcmode="lin" valueType="num">
                                      <p:cBhvr>
                                        <p:cTn id="43" dur="450" fill="hold">
                                          <p:stCondLst>
                                            <p:cond delay="0"/>
                                          </p:stCondLst>
                                        </p:cTn>
                                        <p:tgtEl>
                                          <p:spTgt spid="32"/>
                                        </p:tgtEl>
                                        <p:attrNameLst>
                                          <p:attrName>ppt_h</p:attrName>
                                        </p:attrNameLst>
                                      </p:cBhvr>
                                      <p:tavLst>
                                        <p:tav tm="0">
                                          <p:val>
                                            <p:fltVal val="0"/>
                                          </p:val>
                                        </p:tav>
                                        <p:tav tm="100000">
                                          <p:val>
                                            <p:strVal val="#ppt_h"/>
                                          </p:val>
                                        </p:tav>
                                      </p:tavLst>
                                    </p:anim>
                                    <p:animEffect transition="in" filter="fade">
                                      <p:cBhvr>
                                        <p:cTn id="44" dur="450">
                                          <p:stCondLst>
                                            <p:cond delay="0"/>
                                          </p:stCondLst>
                                        </p:cTn>
                                        <p:tgtEl>
                                          <p:spTgt spid="32"/>
                                        </p:tgtEl>
                                      </p:cBhvr>
                                    </p:animEffect>
                                  </p:childTnLst>
                                </p:cTn>
                              </p:par>
                            </p:childTnLst>
                          </p:cTn>
                        </p:par>
                        <p:par>
                          <p:cTn id="46" fill="hold">
                            <p:stCondLst>
                              <p:cond delay="530"/>
                            </p:stCondLst>
                            <p:childTnLst>
                              <p:par>
                                <p:cTn id="49" presetID="22" presetClass="entr" presetSubtype="8" fill="hold" nodeType="after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300">
                                          <p:stCondLst>
                                            <p:cond delay="0"/>
                                          </p:stCondLst>
                                        </p:cTn>
                                        <p:tgtEl>
                                          <p:spTgt spid="38"/>
                                        </p:tgtEl>
                                      </p:cBhvr>
                                    </p:animEffect>
                                  </p:childTnLst>
                                </p:cTn>
                              </p:par>
                            </p:childTnLst>
                          </p:cTn>
                        </p:par>
                        <p:par>
                          <p:cTn id="50" fill="hold">
                            <p:stCondLst>
                              <p:cond delay="930"/>
                            </p:stCondLst>
                            <p:childTnLst>
                              <p:par>
                                <p:cTn id="55" presetID="53" presetClass="entr" presetSubtype="16" fill="hold" nodeType="afterEffect">
                                  <p:stCondLst>
                                    <p:cond delay="0"/>
                                  </p:stCondLst>
                                  <p:childTnLst>
                                    <p:set>
                                      <p:cBhvr>
                                        <p:cTn id="51" dur="1" fill="hold">
                                          <p:stCondLst>
                                            <p:cond delay="0"/>
                                          </p:stCondLst>
                                        </p:cTn>
                                        <p:tgtEl>
                                          <p:spTgt spid="39"/>
                                        </p:tgtEl>
                                        <p:attrNameLst>
                                          <p:attrName>style.visibility</p:attrName>
                                        </p:attrNameLst>
                                      </p:cBhvr>
                                      <p:to>
                                        <p:strVal val="visible"/>
                                      </p:to>
                                    </p:set>
                                    <p:anim calcmode="lin" valueType="num">
                                      <p:cBhvr>
                                        <p:cTn id="52" dur="450" fill="hold">
                                          <p:stCondLst>
                                            <p:cond delay="0"/>
                                          </p:stCondLst>
                                        </p:cTn>
                                        <p:tgtEl>
                                          <p:spTgt spid="39"/>
                                        </p:tgtEl>
                                        <p:attrNameLst>
                                          <p:attrName>ppt_w</p:attrName>
                                        </p:attrNameLst>
                                      </p:cBhvr>
                                      <p:tavLst>
                                        <p:tav tm="0">
                                          <p:val>
                                            <p:fltVal val="0"/>
                                          </p:val>
                                        </p:tav>
                                        <p:tav tm="100000">
                                          <p:val>
                                            <p:strVal val="#ppt_w"/>
                                          </p:val>
                                        </p:tav>
                                      </p:tavLst>
                                    </p:anim>
                                    <p:anim calcmode="lin" valueType="num">
                                      <p:cBhvr>
                                        <p:cTn id="53" dur="450" fill="hold">
                                          <p:stCondLst>
                                            <p:cond delay="0"/>
                                          </p:stCondLst>
                                        </p:cTn>
                                        <p:tgtEl>
                                          <p:spTgt spid="39"/>
                                        </p:tgtEl>
                                        <p:attrNameLst>
                                          <p:attrName>ppt_h</p:attrName>
                                        </p:attrNameLst>
                                      </p:cBhvr>
                                      <p:tavLst>
                                        <p:tav tm="0">
                                          <p:val>
                                            <p:fltVal val="0"/>
                                          </p:val>
                                        </p:tav>
                                        <p:tav tm="100000">
                                          <p:val>
                                            <p:strVal val="#ppt_h"/>
                                          </p:val>
                                        </p:tav>
                                      </p:tavLst>
                                    </p:anim>
                                    <p:animEffect transition="in" filter="fade">
                                      <p:cBhvr>
                                        <p:cTn id="54" dur="450">
                                          <p:stCondLst>
                                            <p:cond delay="0"/>
                                          </p:stCondLst>
                                        </p:cTn>
                                        <p:tgtEl>
                                          <p:spTgt spid="39"/>
                                        </p:tgtEl>
                                      </p:cBhvr>
                                    </p:animEffect>
                                  </p:childTnLst>
                                </p:cTn>
                              </p:par>
                            </p:childTnLst>
                          </p:cTn>
                        </p:par>
                        <p:par>
                          <p:cTn id="56" fill="hold">
                            <p:stCondLst>
                              <p:cond delay="1460"/>
                            </p:stCondLst>
                            <p:childTnLst>
                              <p:par>
                                <p:cTn id="59" presetID="22" presetClass="entr" presetSubtype="8" fill="hold" nodeType="afterEffect">
                                  <p:stCondLst>
                                    <p:cond delay="0"/>
                                  </p:stCondLst>
                                  <p:childTnLst>
                                    <p:set>
                                      <p:cBhvr>
                                        <p:cTn id="57" dur="1" fill="hold">
                                          <p:stCondLst>
                                            <p:cond delay="0"/>
                                          </p:stCondLst>
                                        </p:cTn>
                                        <p:tgtEl>
                                          <p:spTgt spid="45"/>
                                        </p:tgtEl>
                                        <p:attrNameLst>
                                          <p:attrName>style.visibility</p:attrName>
                                        </p:attrNameLst>
                                      </p:cBhvr>
                                      <p:to>
                                        <p:strVal val="visible"/>
                                      </p:to>
                                    </p:set>
                                    <p:animEffect transition="in" filter="wipe(left)">
                                      <p:cBhvr>
                                        <p:cTn id="58" dur="300">
                                          <p:stCondLst>
                                            <p:cond delay="0"/>
                                          </p:stCondLst>
                                        </p:cTn>
                                        <p:tgtEl>
                                          <p:spTgt spid="45"/>
                                        </p:tgtEl>
                                      </p:cBhvr>
                                    </p:animEffect>
                                  </p:childTnLst>
                                </p:cTn>
                              </p:par>
                            </p:childTnLst>
                          </p:cTn>
                        </p:par>
                      </p:childTnLst>
                    </p:cTn>
                  </p:par>
                  <p:par>
                    <p:cTn id="60" fill="hold">
                      <p:stCondLst>
                        <p:cond delay="indefinite"/>
                      </p:stCondLst>
                      <p:childTnLst>
                        <p:par>
                          <p:cTn id="61" fill="hold">
                            <p:stCondLst>
                              <p:cond delay="0"/>
                            </p:stCondLst>
                            <p:childTnLst>
                              <p:par>
                                <p:cTn id="66" presetID="53" presetClass="entr" presetSubtype="16" fill="hold" nodeType="clickEffect">
                                  <p:stCondLst>
                                    <p:cond delay="0"/>
                                  </p:stCondLst>
                                  <p:childTnLst>
                                    <p:set>
                                      <p:cBhvr>
                                        <p:cTn id="62" dur="1" fill="hold">
                                          <p:stCondLst>
                                            <p:cond delay="0"/>
                                          </p:stCondLst>
                                        </p:cTn>
                                        <p:tgtEl>
                                          <p:spTgt spid="46"/>
                                        </p:tgtEl>
                                        <p:attrNameLst>
                                          <p:attrName>style.visibility</p:attrName>
                                        </p:attrNameLst>
                                      </p:cBhvr>
                                      <p:to>
                                        <p:strVal val="visible"/>
                                      </p:to>
                                    </p:set>
                                    <p:anim calcmode="lin" valueType="num">
                                      <p:cBhvr>
                                        <p:cTn id="63" dur="450" fill="hold">
                                          <p:stCondLst>
                                            <p:cond delay="0"/>
                                          </p:stCondLst>
                                        </p:cTn>
                                        <p:tgtEl>
                                          <p:spTgt spid="46"/>
                                        </p:tgtEl>
                                        <p:attrNameLst>
                                          <p:attrName>ppt_w</p:attrName>
                                        </p:attrNameLst>
                                      </p:cBhvr>
                                      <p:tavLst>
                                        <p:tav tm="0">
                                          <p:val>
                                            <p:fltVal val="0"/>
                                          </p:val>
                                        </p:tav>
                                        <p:tav tm="100000">
                                          <p:val>
                                            <p:strVal val="#ppt_w"/>
                                          </p:val>
                                        </p:tav>
                                      </p:tavLst>
                                    </p:anim>
                                    <p:anim calcmode="lin" valueType="num">
                                      <p:cBhvr>
                                        <p:cTn id="64" dur="450" fill="hold">
                                          <p:stCondLst>
                                            <p:cond delay="0"/>
                                          </p:stCondLst>
                                        </p:cTn>
                                        <p:tgtEl>
                                          <p:spTgt spid="46"/>
                                        </p:tgtEl>
                                        <p:attrNameLst>
                                          <p:attrName>ppt_h</p:attrName>
                                        </p:attrNameLst>
                                      </p:cBhvr>
                                      <p:tavLst>
                                        <p:tav tm="0">
                                          <p:val>
                                            <p:fltVal val="0"/>
                                          </p:val>
                                        </p:tav>
                                        <p:tav tm="100000">
                                          <p:val>
                                            <p:strVal val="#ppt_h"/>
                                          </p:val>
                                        </p:tav>
                                      </p:tavLst>
                                    </p:anim>
                                    <p:animEffect transition="in" filter="fade">
                                      <p:cBhvr>
                                        <p:cTn id="65" dur="450">
                                          <p:stCondLst>
                                            <p:cond delay="0"/>
                                          </p:stCondLst>
                                        </p:cTn>
                                        <p:tgtEl>
                                          <p:spTgt spid="46"/>
                                        </p:tgtEl>
                                      </p:cBhvr>
                                    </p:animEffect>
                                  </p:childTnLst>
                                </p:cTn>
                              </p:par>
                            </p:childTnLst>
                          </p:cTn>
                        </p:par>
                        <p:par>
                          <p:cTn id="67" fill="hold">
                            <p:stCondLst>
                              <p:cond delay="530"/>
                            </p:stCondLst>
                            <p:childTnLst>
                              <p:par>
                                <p:cTn id="70" presetID="22" presetClass="entr" presetSubtype="8" fill="hold"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wipe(left)">
                                      <p:cBhvr>
                                        <p:cTn id="69" dur="300">
                                          <p:stCondLst>
                                            <p:cond delay="0"/>
                                          </p:stCondLst>
                                        </p:cTn>
                                        <p:tgtEl>
                                          <p:spTgt spid="52"/>
                                        </p:tgtEl>
                                      </p:cBhvr>
                                    </p:animEffect>
                                  </p:childTnLst>
                                </p:cTn>
                              </p:par>
                            </p:childTnLst>
                          </p:cTn>
                        </p:par>
                        <p:par>
                          <p:cTn id="71" fill="hold">
                            <p:stCondLst>
                              <p:cond delay="930"/>
                            </p:stCondLst>
                            <p:childTnLst>
                              <p:par>
                                <p:cTn id="76" presetID="53" presetClass="entr" presetSubtype="16" fill="hold" nodeType="afterEffect">
                                  <p:stCondLst>
                                    <p:cond delay="0"/>
                                  </p:stCondLst>
                                  <p:childTnLst>
                                    <p:set>
                                      <p:cBhvr>
                                        <p:cTn id="72" dur="1" fill="hold">
                                          <p:stCondLst>
                                            <p:cond delay="0"/>
                                          </p:stCondLst>
                                        </p:cTn>
                                        <p:tgtEl>
                                          <p:spTgt spid="53"/>
                                        </p:tgtEl>
                                        <p:attrNameLst>
                                          <p:attrName>style.visibility</p:attrName>
                                        </p:attrNameLst>
                                      </p:cBhvr>
                                      <p:to>
                                        <p:strVal val="visible"/>
                                      </p:to>
                                    </p:set>
                                    <p:anim calcmode="lin" valueType="num">
                                      <p:cBhvr>
                                        <p:cTn id="73" dur="450" fill="hold">
                                          <p:stCondLst>
                                            <p:cond delay="0"/>
                                          </p:stCondLst>
                                        </p:cTn>
                                        <p:tgtEl>
                                          <p:spTgt spid="53"/>
                                        </p:tgtEl>
                                        <p:attrNameLst>
                                          <p:attrName>ppt_w</p:attrName>
                                        </p:attrNameLst>
                                      </p:cBhvr>
                                      <p:tavLst>
                                        <p:tav tm="0">
                                          <p:val>
                                            <p:fltVal val="0"/>
                                          </p:val>
                                        </p:tav>
                                        <p:tav tm="100000">
                                          <p:val>
                                            <p:strVal val="#ppt_w"/>
                                          </p:val>
                                        </p:tav>
                                      </p:tavLst>
                                    </p:anim>
                                    <p:anim calcmode="lin" valueType="num">
                                      <p:cBhvr>
                                        <p:cTn id="74" dur="450" fill="hold">
                                          <p:stCondLst>
                                            <p:cond delay="0"/>
                                          </p:stCondLst>
                                        </p:cTn>
                                        <p:tgtEl>
                                          <p:spTgt spid="53"/>
                                        </p:tgtEl>
                                        <p:attrNameLst>
                                          <p:attrName>ppt_h</p:attrName>
                                        </p:attrNameLst>
                                      </p:cBhvr>
                                      <p:tavLst>
                                        <p:tav tm="0">
                                          <p:val>
                                            <p:fltVal val="0"/>
                                          </p:val>
                                        </p:tav>
                                        <p:tav tm="100000">
                                          <p:val>
                                            <p:strVal val="#ppt_h"/>
                                          </p:val>
                                        </p:tav>
                                      </p:tavLst>
                                    </p:anim>
                                    <p:animEffect transition="in" filter="fade">
                                      <p:cBhvr>
                                        <p:cTn id="75" dur="450">
                                          <p:stCondLst>
                                            <p:cond delay="0"/>
                                          </p:stCondLst>
                                        </p:cTn>
                                        <p:tgtEl>
                                          <p:spTgt spid="53"/>
                                        </p:tgtEl>
                                      </p:cBhvr>
                                    </p:animEffect>
                                  </p:childTnLst>
                                </p:cTn>
                              </p:par>
                            </p:childTnLst>
                          </p:cTn>
                        </p:par>
                        <p:par>
                          <p:cTn id="77" fill="hold">
                            <p:stCondLst>
                              <p:cond delay="1580"/>
                            </p:stCondLst>
                            <p:childTnLst>
                              <p:par>
                                <p:cTn id="80" presetID="22" presetClass="entr" presetSubtype="8" fill="hold" nodeType="afterEffect">
                                  <p:stCondLst>
                                    <p:cond delay="0"/>
                                  </p:stCondLst>
                                  <p:childTnLst>
                                    <p:set>
                                      <p:cBhvr>
                                        <p:cTn id="78" dur="1" fill="hold">
                                          <p:stCondLst>
                                            <p:cond delay="0"/>
                                          </p:stCondLst>
                                        </p:cTn>
                                        <p:tgtEl>
                                          <p:spTgt spid="59"/>
                                        </p:tgtEl>
                                        <p:attrNameLst>
                                          <p:attrName>style.visibility</p:attrName>
                                        </p:attrNameLst>
                                      </p:cBhvr>
                                      <p:to>
                                        <p:strVal val="visible"/>
                                      </p:to>
                                    </p:set>
                                    <p:animEffect transition="in" filter="wipe(left)">
                                      <p:cBhvr>
                                        <p:cTn id="79" dur="500">
                                          <p:stCondLst>
                                            <p:cond delay="0"/>
                                          </p:stCondLst>
                                        </p:cTn>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Chấm công bằng khuôn mặt</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8</a:t>
            </a:r>
          </a:p>
        </p:txBody>
      </p:sp>
      <p:grpSp>
        <p:nvGrpSpPr>
          <p:cNvPr id="11" name="S8_Step1"/>
          <p:cNvGrpSpPr/>
          <p:nvPr/>
        </p:nvGrpSpPr>
        <p:grpSpPr>
          <a:xfrm>
            <a:off x="411480" y="1463040"/>
            <a:ext cx="3483864" cy="1783080"/>
            <a:chOff x="411480" y="1463040"/>
            <a:chExt cx="3483864" cy="1783080"/>
          </a:xfrm>
        </p:grpSpPr>
        <p:sp>
          <p:nvSpPr>
            <p:cNvPr id="12" name="Rounded Rectangle 11"/>
            <p:cNvSpPr/>
            <p:nvPr/>
          </p:nvSpPr>
          <p:spPr>
            <a:xfrm>
              <a:off x="411480" y="1463040"/>
              <a:ext cx="3483864"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94360"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1</a:t>
              </a:r>
            </a:p>
          </p:txBody>
        </p:sp>
        <p:sp>
          <p:nvSpPr>
            <p:cNvPr id="14" name="Oval 13"/>
            <p:cNvSpPr/>
            <p:nvPr/>
          </p:nvSpPr>
          <p:spPr>
            <a:xfrm>
              <a:off x="3118103"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15" name="TextBox 14"/>
            <p:cNvSpPr txBox="1"/>
            <p:nvPr/>
          </p:nvSpPr>
          <p:spPr>
            <a:xfrm>
              <a:off x="594360" y="219456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Ghép máy quầy</a:t>
              </a:r>
            </a:p>
          </p:txBody>
        </p:sp>
        <p:sp>
          <p:nvSpPr>
            <p:cNvPr id="16" name="TextBox 15"/>
            <p:cNvSpPr txBox="1"/>
            <p:nvPr/>
          </p:nvSpPr>
          <p:spPr>
            <a:xfrm>
              <a:off x="594360" y="257860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Liên kết riêng, thu hồi được</a:t>
              </a:r>
            </a:p>
          </p:txBody>
        </p:sp>
      </p:grpSp>
      <p:sp>
        <p:nvSpPr>
          <p:cNvPr id="17" name="S8_Arrow1"/>
          <p:cNvSpPr/>
          <p:nvPr/>
        </p:nvSpPr>
        <p:spPr>
          <a:xfrm>
            <a:off x="3959352" y="2176272"/>
            <a:ext cx="329184"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18" name="S8_Step2"/>
          <p:cNvGrpSpPr/>
          <p:nvPr/>
        </p:nvGrpSpPr>
        <p:grpSpPr>
          <a:xfrm>
            <a:off x="4352544" y="1463040"/>
            <a:ext cx="3483864" cy="1783080"/>
            <a:chOff x="4352544" y="1463040"/>
            <a:chExt cx="3483864" cy="1783080"/>
          </a:xfrm>
        </p:grpSpPr>
        <p:sp>
          <p:nvSpPr>
            <p:cNvPr id="19" name="Rounded Rectangle 18"/>
            <p:cNvSpPr/>
            <p:nvPr/>
          </p:nvSpPr>
          <p:spPr>
            <a:xfrm>
              <a:off x="4352544" y="1463040"/>
              <a:ext cx="3483864"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535424"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2</a:t>
              </a:r>
            </a:p>
          </p:txBody>
        </p:sp>
        <p:sp>
          <p:nvSpPr>
            <p:cNvPr id="21" name="Oval 20"/>
            <p:cNvSpPr/>
            <p:nvPr/>
          </p:nvSpPr>
          <p:spPr>
            <a:xfrm>
              <a:off x="7059168"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2" name="TextBox 21"/>
            <p:cNvSpPr txBox="1"/>
            <p:nvPr/>
          </p:nvSpPr>
          <p:spPr>
            <a:xfrm>
              <a:off x="4535424" y="219456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Đăng ký mặt</a:t>
              </a:r>
            </a:p>
          </p:txBody>
        </p:sp>
        <p:sp>
          <p:nvSpPr>
            <p:cNvPr id="23" name="TextBox 22"/>
            <p:cNvSpPr txBox="1"/>
            <p:nvPr/>
          </p:nvSpPr>
          <p:spPr>
            <a:xfrm>
              <a:off x="4535424" y="257860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15 mẫu, kiểm tra cùng người</a:t>
              </a:r>
            </a:p>
          </p:txBody>
        </p:sp>
      </p:grpSp>
      <p:sp>
        <p:nvSpPr>
          <p:cNvPr id="24" name="S8_Arrow2"/>
          <p:cNvSpPr/>
          <p:nvPr/>
        </p:nvSpPr>
        <p:spPr>
          <a:xfrm>
            <a:off x="7900416" y="2176272"/>
            <a:ext cx="329184" cy="36576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25" name="S8_Step3"/>
          <p:cNvGrpSpPr/>
          <p:nvPr/>
        </p:nvGrpSpPr>
        <p:grpSpPr>
          <a:xfrm>
            <a:off x="8293608" y="1463040"/>
            <a:ext cx="3483864" cy="1783080"/>
            <a:chOff x="8293608" y="1463040"/>
            <a:chExt cx="3483864" cy="1783080"/>
          </a:xfrm>
        </p:grpSpPr>
        <p:sp>
          <p:nvSpPr>
            <p:cNvPr id="26" name="Rounded Rectangle 25"/>
            <p:cNvSpPr/>
            <p:nvPr/>
          </p:nvSpPr>
          <p:spPr>
            <a:xfrm>
              <a:off x="8293608" y="1463040"/>
              <a:ext cx="3483864"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Oval 26"/>
            <p:cNvSpPr/>
            <p:nvPr/>
          </p:nvSpPr>
          <p:spPr>
            <a:xfrm>
              <a:off x="8476488" y="164592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3</a:t>
              </a:r>
            </a:p>
          </p:txBody>
        </p:sp>
        <p:sp>
          <p:nvSpPr>
            <p:cNvPr id="28" name="Oval 27"/>
            <p:cNvSpPr/>
            <p:nvPr/>
          </p:nvSpPr>
          <p:spPr>
            <a:xfrm>
              <a:off x="11000232" y="160020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29" name="TextBox 28"/>
            <p:cNvSpPr txBox="1"/>
            <p:nvPr/>
          </p:nvSpPr>
          <p:spPr>
            <a:xfrm>
              <a:off x="8476488" y="219456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Bấm chấm vào</a:t>
              </a:r>
            </a:p>
          </p:txBody>
        </p:sp>
        <p:sp>
          <p:nvSpPr>
            <p:cNvPr id="30" name="TextBox 29"/>
            <p:cNvSpPr txBox="1"/>
            <p:nvPr/>
          </p:nvSpPr>
          <p:spPr>
            <a:xfrm>
              <a:off x="8476488" y="257860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Nhìn thẳng vào camera</a:t>
              </a:r>
            </a:p>
          </p:txBody>
        </p:sp>
      </p:grpSp>
      <p:sp>
        <p:nvSpPr>
          <p:cNvPr id="31" name="S8_Arrow3"/>
          <p:cNvSpPr/>
          <p:nvPr/>
        </p:nvSpPr>
        <p:spPr>
          <a:xfrm>
            <a:off x="9834372" y="3310128"/>
            <a:ext cx="402336" cy="301752"/>
          </a:xfrm>
          <a:prstGeom prst="down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32" name="S8_Step4"/>
          <p:cNvGrpSpPr/>
          <p:nvPr/>
        </p:nvGrpSpPr>
        <p:grpSpPr>
          <a:xfrm>
            <a:off x="8293608" y="3611880"/>
            <a:ext cx="3483864" cy="1783080"/>
            <a:chOff x="8293608" y="3611880"/>
            <a:chExt cx="3483864" cy="1783080"/>
          </a:xfrm>
        </p:grpSpPr>
        <p:sp>
          <p:nvSpPr>
            <p:cNvPr id="33" name="Rounded Rectangle 32"/>
            <p:cNvSpPr/>
            <p:nvPr/>
          </p:nvSpPr>
          <p:spPr>
            <a:xfrm>
              <a:off x="8293608" y="3611880"/>
              <a:ext cx="3483864"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Oval 33"/>
            <p:cNvSpPr/>
            <p:nvPr/>
          </p:nvSpPr>
          <p:spPr>
            <a:xfrm>
              <a:off x="8476488"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4</a:t>
              </a:r>
            </a:p>
          </p:txBody>
        </p:sp>
        <p:sp>
          <p:nvSpPr>
            <p:cNvPr id="35" name="Oval 34"/>
            <p:cNvSpPr/>
            <p:nvPr/>
          </p:nvSpPr>
          <p:spPr>
            <a:xfrm>
              <a:off x="11000232"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36" name="TextBox 35"/>
            <p:cNvSpPr txBox="1"/>
            <p:nvPr/>
          </p:nvSpPr>
          <p:spPr>
            <a:xfrm>
              <a:off x="8476488" y="434340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So khớp 128 số</a:t>
              </a:r>
            </a:p>
          </p:txBody>
        </p:sp>
        <p:sp>
          <p:nvSpPr>
            <p:cNvPr id="37" name="TextBox 36"/>
            <p:cNvSpPr txBox="1"/>
            <p:nvPr/>
          </p:nvSpPr>
          <p:spPr>
            <a:xfrm>
              <a:off x="8476488" y="472744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Ngưỡng 0.35, so mọi chi nhánh</a:t>
              </a:r>
            </a:p>
          </p:txBody>
        </p:sp>
      </p:grpSp>
      <p:sp>
        <p:nvSpPr>
          <p:cNvPr id="38" name="S8_Arrow4"/>
          <p:cNvSpPr/>
          <p:nvPr/>
        </p:nvSpPr>
        <p:spPr>
          <a:xfrm>
            <a:off x="7900416" y="4325112"/>
            <a:ext cx="329184" cy="365760"/>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39" name="S8_Step5"/>
          <p:cNvGrpSpPr/>
          <p:nvPr/>
        </p:nvGrpSpPr>
        <p:grpSpPr>
          <a:xfrm>
            <a:off x="4352544" y="3611880"/>
            <a:ext cx="3483864" cy="1783080"/>
            <a:chOff x="4352544" y="3611880"/>
            <a:chExt cx="3483864" cy="1783080"/>
          </a:xfrm>
        </p:grpSpPr>
        <p:sp>
          <p:nvSpPr>
            <p:cNvPr id="40" name="Rounded Rectangle 39"/>
            <p:cNvSpPr/>
            <p:nvPr/>
          </p:nvSpPr>
          <p:spPr>
            <a:xfrm>
              <a:off x="4352544" y="3611880"/>
              <a:ext cx="3483864" cy="178308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Oval 40"/>
            <p:cNvSpPr/>
            <p:nvPr/>
          </p:nvSpPr>
          <p:spPr>
            <a:xfrm>
              <a:off x="4535424"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5</a:t>
              </a:r>
            </a:p>
          </p:txBody>
        </p:sp>
        <p:sp>
          <p:nvSpPr>
            <p:cNvPr id="42" name="Oval 41"/>
            <p:cNvSpPr/>
            <p:nvPr/>
          </p:nvSpPr>
          <p:spPr>
            <a:xfrm>
              <a:off x="7059168"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43" name="TextBox 42"/>
            <p:cNvSpPr txBox="1"/>
            <p:nvPr/>
          </p:nvSpPr>
          <p:spPr>
            <a:xfrm>
              <a:off x="4535424" y="434340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Ghi công + ảnh</a:t>
              </a:r>
            </a:p>
          </p:txBody>
        </p:sp>
        <p:sp>
          <p:nvSpPr>
            <p:cNvPr id="44" name="TextBox 43"/>
            <p:cNvSpPr txBox="1"/>
            <p:nvPr/>
          </p:nvSpPr>
          <p:spPr>
            <a:xfrm>
              <a:off x="4535424" y="472744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Ảnh minh chứng lưu 30 ngày</a:t>
              </a:r>
            </a:p>
          </p:txBody>
        </p:sp>
      </p:grpSp>
      <p:sp>
        <p:nvSpPr>
          <p:cNvPr id="45" name="S8_Arrow5"/>
          <p:cNvSpPr/>
          <p:nvPr/>
        </p:nvSpPr>
        <p:spPr>
          <a:xfrm>
            <a:off x="3959352" y="4325112"/>
            <a:ext cx="329184" cy="365760"/>
          </a:xfrm>
          <a:prstGeom prst="lef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grpSp>
        <p:nvGrpSpPr>
          <p:cNvPr id="46" name="S8_Step6"/>
          <p:cNvGrpSpPr/>
          <p:nvPr/>
        </p:nvGrpSpPr>
        <p:grpSpPr>
          <a:xfrm>
            <a:off x="411480" y="3611880"/>
            <a:ext cx="3483864" cy="1783080"/>
            <a:chOff x="411480" y="3611880"/>
            <a:chExt cx="3483864" cy="1783080"/>
          </a:xfrm>
        </p:grpSpPr>
        <p:sp>
          <p:nvSpPr>
            <p:cNvPr id="47" name="Rounded Rectangle 46"/>
            <p:cNvSpPr/>
            <p:nvPr/>
          </p:nvSpPr>
          <p:spPr>
            <a:xfrm>
              <a:off x="411480" y="3611880"/>
              <a:ext cx="3483864" cy="1783080"/>
            </a:xfrm>
            <a:prstGeom prst="roundRect">
              <a:avLst>
                <a:gd name="adj" fmla="val 8000"/>
              </a:avLst>
            </a:prstGeom>
            <a:solidFill>
              <a:srgbClr val="FFFFFF"/>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Oval 47"/>
            <p:cNvSpPr/>
            <p:nvPr/>
          </p:nvSpPr>
          <p:spPr>
            <a:xfrm>
              <a:off x="594360" y="3794760"/>
              <a:ext cx="438912" cy="438912"/>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a:solidFill>
                    <a:srgbClr val="FFFFFF"/>
                  </a:solidFill>
                  <a:latin typeface="Segoe UI"/>
                </a:rPr>
                <a:t>6</a:t>
              </a:r>
            </a:p>
          </p:txBody>
        </p:sp>
        <p:sp>
          <p:nvSpPr>
            <p:cNvPr id="49" name="Oval 48"/>
            <p:cNvSpPr/>
            <p:nvPr/>
          </p:nvSpPr>
          <p:spPr>
            <a:xfrm>
              <a:off x="3118103" y="3749040"/>
              <a:ext cx="566928" cy="566928"/>
            </a:xfrm>
            <a:prstGeom prst="ellipse">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100">
                  <a:latin typeface="Segoe UI Emoji"/>
                </a:rPr>
                <a:t>📝</a:t>
              </a:r>
            </a:p>
          </p:txBody>
        </p:sp>
        <p:sp>
          <p:nvSpPr>
            <p:cNvPr id="50" name="TextBox 49"/>
            <p:cNvSpPr txBox="1"/>
            <p:nvPr/>
          </p:nvSpPr>
          <p:spPr>
            <a:xfrm>
              <a:off x="594360" y="4343400"/>
              <a:ext cx="3163824" cy="411480"/>
            </a:xfrm>
            <a:prstGeom prst="rect">
              <a:avLst/>
            </a:prstGeom>
            <a:noFill/>
          </p:spPr>
          <p:txBody>
            <a:bodyPr wrap="square" anchor="t" lIns="36576" rIns="36576" tIns="18288" bIns="18288">
              <a:spAutoFit/>
            </a:bodyPr>
            <a:lstStyle/>
            <a:p>
              <a:pPr algn="l"/>
              <a:r>
                <a:rPr sz="1400" b="1">
                  <a:solidFill>
                    <a:srgbClr val="111827"/>
                  </a:solidFill>
                  <a:latin typeface="Segoe UI"/>
                </a:rPr>
                <a:t>Trễ thì hỏi lý do</a:t>
              </a:r>
            </a:p>
          </p:txBody>
        </p:sp>
        <p:sp>
          <p:nvSpPr>
            <p:cNvPr id="51" name="TextBox 50"/>
            <p:cNvSpPr txBox="1"/>
            <p:nvPr/>
          </p:nvSpPr>
          <p:spPr>
            <a:xfrm>
              <a:off x="594360" y="4727448"/>
              <a:ext cx="3163824" cy="640080"/>
            </a:xfrm>
            <a:prstGeom prst="rect">
              <a:avLst/>
            </a:prstGeom>
            <a:noFill/>
          </p:spPr>
          <p:txBody>
            <a:bodyPr wrap="square" anchor="t" lIns="36576" rIns="36576" tIns="18288" bIns="18288">
              <a:spAutoFit/>
            </a:bodyPr>
            <a:lstStyle/>
            <a:p>
              <a:pPr algn="l"/>
              <a:r>
                <a:rPr sz="1100" b="0">
                  <a:solidFill>
                    <a:srgbClr val="6B7280"/>
                  </a:solidFill>
                  <a:latin typeface="Segoe UI"/>
                </a:rPr>
                <a:t>Trễ &gt; 5′, ra sớm &gt; 10′</a:t>
              </a:r>
            </a:p>
          </p:txBody>
        </p:sp>
      </p:grpSp>
      <p:grpSp>
        <p:nvGrpSpPr>
          <p:cNvPr id="52" name="S8_Footer"/>
          <p:cNvGrpSpPr/>
          <p:nvPr/>
        </p:nvGrpSpPr>
        <p:grpSpPr>
          <a:xfrm>
            <a:off x="411480" y="5760720"/>
            <a:ext cx="11365992" cy="457200"/>
            <a:chOff x="411480" y="5760720"/>
            <a:chExt cx="11365992" cy="457200"/>
          </a:xfrm>
        </p:grpSpPr>
        <p:sp>
          <p:nvSpPr>
            <p:cNvPr id="53" name="Rounded Rectangle 52"/>
            <p:cNvSpPr/>
            <p:nvPr/>
          </p:nvSpPr>
          <p:spPr>
            <a:xfrm>
              <a:off x="411480" y="5760720"/>
              <a:ext cx="11365992" cy="457200"/>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4" name="TextBox 53"/>
            <p:cNvSpPr txBox="1"/>
            <p:nvPr/>
          </p:nvSpPr>
          <p:spPr>
            <a:xfrm>
              <a:off x="548640" y="5760720"/>
              <a:ext cx="11064240" cy="457200"/>
            </a:xfrm>
            <a:prstGeom prst="rect">
              <a:avLst/>
            </a:prstGeom>
            <a:noFill/>
          </p:spPr>
          <p:txBody>
            <a:bodyPr wrap="square" anchor="ctr" lIns="36576" rIns="36576" tIns="18288" bIns="18288">
              <a:spAutoFit/>
            </a:bodyPr>
            <a:lstStyle/>
            <a:p>
              <a:pPr algn="ctr"/>
              <a:r>
                <a:rPr sz="1300" b="1">
                  <a:solidFill>
                    <a:srgbClr val="F59E0B"/>
                  </a:solidFill>
                  <a:latin typeface="Segoe UI"/>
                </a:rPr>
                <a:t>★  </a:t>
              </a:r>
              <a:r>
                <a:rPr sz="1300" b="1">
                  <a:solidFill>
                    <a:srgbClr val="FFFFFF"/>
                  </a:solidFill>
                  <a:latin typeface="Segoe UI"/>
                </a:rPr>
                <a:t>Nhận diện chạy trên trình duyệt · máy chủ chỉ nhận vectơ 128 số, không nhận ảnh khuôn mặt</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450" fill="hold">
                                          <p:stCondLst>
                                            <p:cond delay="0"/>
                                          </p:stCondLst>
                                        </p:cTn>
                                        <p:tgtEl>
                                          <p:spTgt spid="11"/>
                                        </p:tgtEl>
                                        <p:attrNameLst>
                                          <p:attrName>ppt_w</p:attrName>
                                        </p:attrNameLst>
                                      </p:cBhvr>
                                      <p:tavLst>
                                        <p:tav tm="0">
                                          <p:val>
                                            <p:fltVal val="0"/>
                                          </p:val>
                                        </p:tav>
                                        <p:tav tm="100000">
                                          <p:val>
                                            <p:strVal val="#ppt_w"/>
                                          </p:val>
                                        </p:tav>
                                      </p:tavLst>
                                    </p:anim>
                                    <p:anim calcmode="lin" valueType="num">
                                      <p:cBhvr>
                                        <p:cTn id="12" dur="450" fill="hold">
                                          <p:stCondLst>
                                            <p:cond delay="0"/>
                                          </p:stCondLst>
                                        </p:cTn>
                                        <p:tgtEl>
                                          <p:spTgt spid="11"/>
                                        </p:tgtEl>
                                        <p:attrNameLst>
                                          <p:attrName>ppt_h</p:attrName>
                                        </p:attrNameLst>
                                      </p:cBhvr>
                                      <p:tavLst>
                                        <p:tav tm="0">
                                          <p:val>
                                            <p:fltVal val="0"/>
                                          </p:val>
                                        </p:tav>
                                        <p:tav tm="100000">
                                          <p:val>
                                            <p:strVal val="#ppt_h"/>
                                          </p:val>
                                        </p:tav>
                                      </p:tavLst>
                                    </p:anim>
                                    <p:animEffect transition="in" filter="fade">
                                      <p:cBhvr>
                                        <p:cTn id="13" dur="450">
                                          <p:stCondLst>
                                            <p:cond delay="0"/>
                                          </p:stCondLst>
                                        </p:cTn>
                                        <p:tgtEl>
                                          <p:spTgt spid="11"/>
                                        </p:tgtEl>
                                      </p:cBhvr>
                                    </p:animEffect>
                                  </p:childTnLst>
                                </p:cTn>
                              </p:par>
                            </p:childTnLst>
                          </p:cTn>
                        </p:par>
                        <p:par>
                          <p:cTn id="15" fill="hold">
                            <p:stCondLst>
                              <p:cond delay="530"/>
                            </p:stCondLst>
                            <p:childTnLst>
                              <p:par>
                                <p:cTn id="18" presetID="22" presetClass="entr" presetSubtype="8" fill="hold" nodeType="afterEffect">
                                  <p:stCondLst>
                                    <p:cond delay="0"/>
                                  </p:stCondLst>
                                  <p:childTnLst>
                                    <p:set>
                                      <p:cBhvr>
                                        <p:cTn id="16" dur="1" fill="hold">
                                          <p:stCondLst>
                                            <p:cond delay="0"/>
                                          </p:stCondLst>
                                        </p:cTn>
                                        <p:tgtEl>
                                          <p:spTgt spid="17"/>
                                        </p:tgtEl>
                                        <p:attrNameLst>
                                          <p:attrName>style.visibility</p:attrName>
                                        </p:attrNameLst>
                                      </p:cBhvr>
                                      <p:to>
                                        <p:strVal val="visible"/>
                                      </p:to>
                                    </p:set>
                                    <p:animEffect transition="in" filter="wipe(left)">
                                      <p:cBhvr>
                                        <p:cTn id="17" dur="300">
                                          <p:stCondLst>
                                            <p:cond delay="0"/>
                                          </p:stCondLst>
                                        </p:cTn>
                                        <p:tgtEl>
                                          <p:spTgt spid="17"/>
                                        </p:tgtEl>
                                      </p:cBhvr>
                                    </p:animEffect>
                                  </p:childTnLst>
                                </p:cTn>
                              </p:par>
                            </p:childTnLst>
                          </p:cTn>
                        </p:par>
                        <p:par>
                          <p:cTn id="19" fill="hold">
                            <p:stCondLst>
                              <p:cond delay="930"/>
                            </p:stCondLst>
                            <p:childTnLst>
                              <p:par>
                                <p:cTn id="24" presetID="53" presetClass="entr" presetSubtype="16" fill="hold" nodeType="afterEffect">
                                  <p:stCondLst>
                                    <p:cond delay="0"/>
                                  </p:stCondLst>
                                  <p:childTnLst>
                                    <p:set>
                                      <p:cBhvr>
                                        <p:cTn id="20" dur="1" fill="hold">
                                          <p:stCondLst>
                                            <p:cond delay="0"/>
                                          </p:stCondLst>
                                        </p:cTn>
                                        <p:tgtEl>
                                          <p:spTgt spid="18"/>
                                        </p:tgtEl>
                                        <p:attrNameLst>
                                          <p:attrName>style.visibility</p:attrName>
                                        </p:attrNameLst>
                                      </p:cBhvr>
                                      <p:to>
                                        <p:strVal val="visible"/>
                                      </p:to>
                                    </p:set>
                                    <p:anim calcmode="lin" valueType="num">
                                      <p:cBhvr>
                                        <p:cTn id="21" dur="450" fill="hold">
                                          <p:stCondLst>
                                            <p:cond delay="0"/>
                                          </p:stCondLst>
                                        </p:cTn>
                                        <p:tgtEl>
                                          <p:spTgt spid="18"/>
                                        </p:tgtEl>
                                        <p:attrNameLst>
                                          <p:attrName>ppt_w</p:attrName>
                                        </p:attrNameLst>
                                      </p:cBhvr>
                                      <p:tavLst>
                                        <p:tav tm="0">
                                          <p:val>
                                            <p:fltVal val="0"/>
                                          </p:val>
                                        </p:tav>
                                        <p:tav tm="100000">
                                          <p:val>
                                            <p:strVal val="#ppt_w"/>
                                          </p:val>
                                        </p:tav>
                                      </p:tavLst>
                                    </p:anim>
                                    <p:anim calcmode="lin" valueType="num">
                                      <p:cBhvr>
                                        <p:cTn id="22" dur="450" fill="hold">
                                          <p:stCondLst>
                                            <p:cond delay="0"/>
                                          </p:stCondLst>
                                        </p:cTn>
                                        <p:tgtEl>
                                          <p:spTgt spid="18"/>
                                        </p:tgtEl>
                                        <p:attrNameLst>
                                          <p:attrName>ppt_h</p:attrName>
                                        </p:attrNameLst>
                                      </p:cBhvr>
                                      <p:tavLst>
                                        <p:tav tm="0">
                                          <p:val>
                                            <p:fltVal val="0"/>
                                          </p:val>
                                        </p:tav>
                                        <p:tav tm="100000">
                                          <p:val>
                                            <p:strVal val="#ppt_h"/>
                                          </p:val>
                                        </p:tav>
                                      </p:tavLst>
                                    </p:anim>
                                    <p:animEffect transition="in" filter="fade">
                                      <p:cBhvr>
                                        <p:cTn id="23" dur="450">
                                          <p:stCondLst>
                                            <p:cond delay="0"/>
                                          </p:stCondLst>
                                        </p:cTn>
                                        <p:tgtEl>
                                          <p:spTgt spid="18"/>
                                        </p:tgtEl>
                                      </p:cBhvr>
                                    </p:animEffect>
                                  </p:childTnLst>
                                </p:cTn>
                              </p:par>
                            </p:childTnLst>
                          </p:cTn>
                        </p:par>
                        <p:par>
                          <p:cTn id="25" fill="hold">
                            <p:stCondLst>
                              <p:cond delay="1460"/>
                            </p:stCondLst>
                            <p:childTnLst>
                              <p:par>
                                <p:cTn id="28" presetID="22" presetClass="entr" presetSubtype="8" fill="hold" nodeType="afterEffect">
                                  <p:stCondLst>
                                    <p:cond delay="0"/>
                                  </p:stCondLst>
                                  <p:childTnLst>
                                    <p:set>
                                      <p:cBhvr>
                                        <p:cTn id="26" dur="1" fill="hold">
                                          <p:stCondLst>
                                            <p:cond delay="0"/>
                                          </p:stCondLst>
                                        </p:cTn>
                                        <p:tgtEl>
                                          <p:spTgt spid="24"/>
                                        </p:tgtEl>
                                        <p:attrNameLst>
                                          <p:attrName>style.visibility</p:attrName>
                                        </p:attrNameLst>
                                      </p:cBhvr>
                                      <p:to>
                                        <p:strVal val="visible"/>
                                      </p:to>
                                    </p:set>
                                    <p:animEffect transition="in" filter="wipe(left)">
                                      <p:cBhvr>
                                        <p:cTn id="27" dur="300">
                                          <p:stCondLst>
                                            <p:cond delay="0"/>
                                          </p:stCondLst>
                                        </p:cTn>
                                        <p:tgtEl>
                                          <p:spTgt spid="24"/>
                                        </p:tgtEl>
                                      </p:cBhvr>
                                    </p:animEffect>
                                  </p:childTnLst>
                                </p:cTn>
                              </p:par>
                            </p:childTnLst>
                          </p:cTn>
                        </p:par>
                      </p:childTnLst>
                    </p:cTn>
                  </p:par>
                  <p:par>
                    <p:cTn id="29" fill="hold">
                      <p:stCondLst>
                        <p:cond delay="indefinite"/>
                      </p:stCondLst>
                      <p:childTnLst>
                        <p:par>
                          <p:cTn id="30" fill="hold">
                            <p:stCondLst>
                              <p:cond delay="0"/>
                            </p:stCondLst>
                            <p:childTnLst>
                              <p:par>
                                <p:cTn id="35" presetID="53" presetClass="entr" presetSubtype="16" fill="hold" nodeType="clickEffect">
                                  <p:stCondLst>
                                    <p:cond delay="0"/>
                                  </p:stCondLst>
                                  <p:childTnLst>
                                    <p:set>
                                      <p:cBhvr>
                                        <p:cTn id="31" dur="1" fill="hold">
                                          <p:stCondLst>
                                            <p:cond delay="0"/>
                                          </p:stCondLst>
                                        </p:cTn>
                                        <p:tgtEl>
                                          <p:spTgt spid="25"/>
                                        </p:tgtEl>
                                        <p:attrNameLst>
                                          <p:attrName>style.visibility</p:attrName>
                                        </p:attrNameLst>
                                      </p:cBhvr>
                                      <p:to>
                                        <p:strVal val="visible"/>
                                      </p:to>
                                    </p:set>
                                    <p:anim calcmode="lin" valueType="num">
                                      <p:cBhvr>
                                        <p:cTn id="32" dur="450" fill="hold">
                                          <p:stCondLst>
                                            <p:cond delay="0"/>
                                          </p:stCondLst>
                                        </p:cTn>
                                        <p:tgtEl>
                                          <p:spTgt spid="25"/>
                                        </p:tgtEl>
                                        <p:attrNameLst>
                                          <p:attrName>ppt_w</p:attrName>
                                        </p:attrNameLst>
                                      </p:cBhvr>
                                      <p:tavLst>
                                        <p:tav tm="0">
                                          <p:val>
                                            <p:fltVal val="0"/>
                                          </p:val>
                                        </p:tav>
                                        <p:tav tm="100000">
                                          <p:val>
                                            <p:strVal val="#ppt_w"/>
                                          </p:val>
                                        </p:tav>
                                      </p:tavLst>
                                    </p:anim>
                                    <p:anim calcmode="lin" valueType="num">
                                      <p:cBhvr>
                                        <p:cTn id="33" dur="450" fill="hold">
                                          <p:stCondLst>
                                            <p:cond delay="0"/>
                                          </p:stCondLst>
                                        </p:cTn>
                                        <p:tgtEl>
                                          <p:spTgt spid="25"/>
                                        </p:tgtEl>
                                        <p:attrNameLst>
                                          <p:attrName>ppt_h</p:attrName>
                                        </p:attrNameLst>
                                      </p:cBhvr>
                                      <p:tavLst>
                                        <p:tav tm="0">
                                          <p:val>
                                            <p:fltVal val="0"/>
                                          </p:val>
                                        </p:tav>
                                        <p:tav tm="100000">
                                          <p:val>
                                            <p:strVal val="#ppt_h"/>
                                          </p:val>
                                        </p:tav>
                                      </p:tavLst>
                                    </p:anim>
                                    <p:animEffect transition="in" filter="fade">
                                      <p:cBhvr>
                                        <p:cTn id="34" dur="450">
                                          <p:stCondLst>
                                            <p:cond delay="0"/>
                                          </p:stCondLst>
                                        </p:cTn>
                                        <p:tgtEl>
                                          <p:spTgt spid="25"/>
                                        </p:tgtEl>
                                      </p:cBhvr>
                                    </p:animEffect>
                                  </p:childTnLst>
                                </p:cTn>
                              </p:par>
                            </p:childTnLst>
                          </p:cTn>
                        </p:par>
                        <p:par>
                          <p:cTn id="36" fill="hold">
                            <p:stCondLst>
                              <p:cond delay="530"/>
                            </p:stCondLst>
                            <p:childTnLst>
                              <p:par>
                                <p:cTn id="39" presetID="22" presetClass="entr" presetSubtype="8" fill="hold" nodeType="afterEffect">
                                  <p:stCondLst>
                                    <p:cond delay="0"/>
                                  </p:stCondLst>
                                  <p:childTnLst>
                                    <p:set>
                                      <p:cBhvr>
                                        <p:cTn id="37" dur="1" fill="hold">
                                          <p:stCondLst>
                                            <p:cond delay="0"/>
                                          </p:stCondLst>
                                        </p:cTn>
                                        <p:tgtEl>
                                          <p:spTgt spid="31"/>
                                        </p:tgtEl>
                                        <p:attrNameLst>
                                          <p:attrName>style.visibility</p:attrName>
                                        </p:attrNameLst>
                                      </p:cBhvr>
                                      <p:to>
                                        <p:strVal val="visible"/>
                                      </p:to>
                                    </p:set>
                                    <p:animEffect transition="in" filter="wipe(left)">
                                      <p:cBhvr>
                                        <p:cTn id="38" dur="300">
                                          <p:stCondLst>
                                            <p:cond delay="0"/>
                                          </p:stCondLst>
                                        </p:cTn>
                                        <p:tgtEl>
                                          <p:spTgt spid="31"/>
                                        </p:tgtEl>
                                      </p:cBhvr>
                                    </p:animEffect>
                                  </p:childTnLst>
                                </p:cTn>
                              </p:par>
                            </p:childTnLst>
                          </p:cTn>
                        </p:par>
                        <p:par>
                          <p:cTn id="40" fill="hold">
                            <p:stCondLst>
                              <p:cond delay="930"/>
                            </p:stCondLst>
                            <p:childTnLst>
                              <p:par>
                                <p:cTn id="45" presetID="53" presetClass="entr" presetSubtype="16" fill="hold" nodeType="afterEffect">
                                  <p:stCondLst>
                                    <p:cond delay="0"/>
                                  </p:stCondLst>
                                  <p:childTnLst>
                                    <p:set>
                                      <p:cBhvr>
                                        <p:cTn id="41" dur="1" fill="hold">
                                          <p:stCondLst>
                                            <p:cond delay="0"/>
                                          </p:stCondLst>
                                        </p:cTn>
                                        <p:tgtEl>
                                          <p:spTgt spid="32"/>
                                        </p:tgtEl>
                                        <p:attrNameLst>
                                          <p:attrName>style.visibility</p:attrName>
                                        </p:attrNameLst>
                                      </p:cBhvr>
                                      <p:to>
                                        <p:strVal val="visible"/>
                                      </p:to>
                                    </p:set>
                                    <p:anim calcmode="lin" valueType="num">
                                      <p:cBhvr>
                                        <p:cTn id="42" dur="450" fill="hold">
                                          <p:stCondLst>
                                            <p:cond delay="0"/>
                                          </p:stCondLst>
                                        </p:cTn>
                                        <p:tgtEl>
                                          <p:spTgt spid="32"/>
                                        </p:tgtEl>
                                        <p:attrNameLst>
                                          <p:attrName>ppt_w</p:attrName>
                                        </p:attrNameLst>
                                      </p:cBhvr>
                                      <p:tavLst>
                                        <p:tav tm="0">
                                          <p:val>
                                            <p:fltVal val="0"/>
                                          </p:val>
                                        </p:tav>
                                        <p:tav tm="100000">
                                          <p:val>
                                            <p:strVal val="#ppt_w"/>
                                          </p:val>
                                        </p:tav>
                                      </p:tavLst>
                                    </p:anim>
                                    <p:anim calcmode="lin" valueType="num">
                                      <p:cBhvr>
                                        <p:cTn id="43" dur="450" fill="hold">
                                          <p:stCondLst>
                                            <p:cond delay="0"/>
                                          </p:stCondLst>
                                        </p:cTn>
                                        <p:tgtEl>
                                          <p:spTgt spid="32"/>
                                        </p:tgtEl>
                                        <p:attrNameLst>
                                          <p:attrName>ppt_h</p:attrName>
                                        </p:attrNameLst>
                                      </p:cBhvr>
                                      <p:tavLst>
                                        <p:tav tm="0">
                                          <p:val>
                                            <p:fltVal val="0"/>
                                          </p:val>
                                        </p:tav>
                                        <p:tav tm="100000">
                                          <p:val>
                                            <p:strVal val="#ppt_h"/>
                                          </p:val>
                                        </p:tav>
                                      </p:tavLst>
                                    </p:anim>
                                    <p:animEffect transition="in" filter="fade">
                                      <p:cBhvr>
                                        <p:cTn id="44" dur="450">
                                          <p:stCondLst>
                                            <p:cond delay="0"/>
                                          </p:stCondLst>
                                        </p:cTn>
                                        <p:tgtEl>
                                          <p:spTgt spid="32"/>
                                        </p:tgtEl>
                                      </p:cBhvr>
                                    </p:animEffect>
                                  </p:childTnLst>
                                </p:cTn>
                              </p:par>
                            </p:childTnLst>
                          </p:cTn>
                        </p:par>
                        <p:par>
                          <p:cTn id="46" fill="hold">
                            <p:stCondLst>
                              <p:cond delay="1460"/>
                            </p:stCondLst>
                            <p:childTnLst>
                              <p:par>
                                <p:cTn id="49" presetID="22" presetClass="entr" presetSubtype="8" fill="hold" nodeType="afterEffect">
                                  <p:stCondLst>
                                    <p:cond delay="0"/>
                                  </p:stCondLst>
                                  <p:childTnLst>
                                    <p:set>
                                      <p:cBhvr>
                                        <p:cTn id="47" dur="1" fill="hold">
                                          <p:stCondLst>
                                            <p:cond delay="0"/>
                                          </p:stCondLst>
                                        </p:cTn>
                                        <p:tgtEl>
                                          <p:spTgt spid="38"/>
                                        </p:tgtEl>
                                        <p:attrNameLst>
                                          <p:attrName>style.visibility</p:attrName>
                                        </p:attrNameLst>
                                      </p:cBhvr>
                                      <p:to>
                                        <p:strVal val="visible"/>
                                      </p:to>
                                    </p:set>
                                    <p:animEffect transition="in" filter="wipe(left)">
                                      <p:cBhvr>
                                        <p:cTn id="48" dur="300">
                                          <p:stCondLst>
                                            <p:cond delay="0"/>
                                          </p:stCondLst>
                                        </p:cTn>
                                        <p:tgtEl>
                                          <p:spTgt spid="38"/>
                                        </p:tgtEl>
                                      </p:cBhvr>
                                    </p:animEffect>
                                  </p:childTnLst>
                                </p:cTn>
                              </p:par>
                            </p:childTnLst>
                          </p:cTn>
                        </p:par>
                      </p:childTnLst>
                    </p:cTn>
                  </p:par>
                  <p:par>
                    <p:cTn id="50" fill="hold">
                      <p:stCondLst>
                        <p:cond delay="indefinite"/>
                      </p:stCondLst>
                      <p:childTnLst>
                        <p:par>
                          <p:cTn id="51" fill="hold">
                            <p:stCondLst>
                              <p:cond delay="0"/>
                            </p:stCondLst>
                            <p:childTnLst>
                              <p:par>
                                <p:cTn id="56" presetID="53" presetClass="entr" presetSubtype="16" fill="hold" nodeType="clickEffect">
                                  <p:stCondLst>
                                    <p:cond delay="0"/>
                                  </p:stCondLst>
                                  <p:childTnLst>
                                    <p:set>
                                      <p:cBhvr>
                                        <p:cTn id="52" dur="1" fill="hold">
                                          <p:stCondLst>
                                            <p:cond delay="0"/>
                                          </p:stCondLst>
                                        </p:cTn>
                                        <p:tgtEl>
                                          <p:spTgt spid="39"/>
                                        </p:tgtEl>
                                        <p:attrNameLst>
                                          <p:attrName>style.visibility</p:attrName>
                                        </p:attrNameLst>
                                      </p:cBhvr>
                                      <p:to>
                                        <p:strVal val="visible"/>
                                      </p:to>
                                    </p:set>
                                    <p:anim calcmode="lin" valueType="num">
                                      <p:cBhvr>
                                        <p:cTn id="53" dur="450" fill="hold">
                                          <p:stCondLst>
                                            <p:cond delay="0"/>
                                          </p:stCondLst>
                                        </p:cTn>
                                        <p:tgtEl>
                                          <p:spTgt spid="39"/>
                                        </p:tgtEl>
                                        <p:attrNameLst>
                                          <p:attrName>ppt_w</p:attrName>
                                        </p:attrNameLst>
                                      </p:cBhvr>
                                      <p:tavLst>
                                        <p:tav tm="0">
                                          <p:val>
                                            <p:fltVal val="0"/>
                                          </p:val>
                                        </p:tav>
                                        <p:tav tm="100000">
                                          <p:val>
                                            <p:strVal val="#ppt_w"/>
                                          </p:val>
                                        </p:tav>
                                      </p:tavLst>
                                    </p:anim>
                                    <p:anim calcmode="lin" valueType="num">
                                      <p:cBhvr>
                                        <p:cTn id="54" dur="450" fill="hold">
                                          <p:stCondLst>
                                            <p:cond delay="0"/>
                                          </p:stCondLst>
                                        </p:cTn>
                                        <p:tgtEl>
                                          <p:spTgt spid="39"/>
                                        </p:tgtEl>
                                        <p:attrNameLst>
                                          <p:attrName>ppt_h</p:attrName>
                                        </p:attrNameLst>
                                      </p:cBhvr>
                                      <p:tavLst>
                                        <p:tav tm="0">
                                          <p:val>
                                            <p:fltVal val="0"/>
                                          </p:val>
                                        </p:tav>
                                        <p:tav tm="100000">
                                          <p:val>
                                            <p:strVal val="#ppt_h"/>
                                          </p:val>
                                        </p:tav>
                                      </p:tavLst>
                                    </p:anim>
                                    <p:animEffect transition="in" filter="fade">
                                      <p:cBhvr>
                                        <p:cTn id="55" dur="450">
                                          <p:stCondLst>
                                            <p:cond delay="0"/>
                                          </p:stCondLst>
                                        </p:cTn>
                                        <p:tgtEl>
                                          <p:spTgt spid="39"/>
                                        </p:tgtEl>
                                      </p:cBhvr>
                                    </p:animEffect>
                                  </p:childTnLst>
                                </p:cTn>
                              </p:par>
                            </p:childTnLst>
                          </p:cTn>
                        </p:par>
                        <p:par>
                          <p:cTn id="57" fill="hold">
                            <p:stCondLst>
                              <p:cond delay="530"/>
                            </p:stCondLst>
                            <p:childTnLst>
                              <p:par>
                                <p:cTn id="60" presetID="22" presetClass="entr" presetSubtype="8" fill="hold" nodeType="afterEffect">
                                  <p:stCondLst>
                                    <p:cond delay="0"/>
                                  </p:stCondLst>
                                  <p:childTnLst>
                                    <p:set>
                                      <p:cBhvr>
                                        <p:cTn id="58" dur="1" fill="hold">
                                          <p:stCondLst>
                                            <p:cond delay="0"/>
                                          </p:stCondLst>
                                        </p:cTn>
                                        <p:tgtEl>
                                          <p:spTgt spid="45"/>
                                        </p:tgtEl>
                                        <p:attrNameLst>
                                          <p:attrName>style.visibility</p:attrName>
                                        </p:attrNameLst>
                                      </p:cBhvr>
                                      <p:to>
                                        <p:strVal val="visible"/>
                                      </p:to>
                                    </p:set>
                                    <p:animEffect transition="in" filter="wipe(left)">
                                      <p:cBhvr>
                                        <p:cTn id="59" dur="300">
                                          <p:stCondLst>
                                            <p:cond delay="0"/>
                                          </p:stCondLst>
                                        </p:cTn>
                                        <p:tgtEl>
                                          <p:spTgt spid="45"/>
                                        </p:tgtEl>
                                      </p:cBhvr>
                                    </p:animEffect>
                                  </p:childTnLst>
                                </p:cTn>
                              </p:par>
                            </p:childTnLst>
                          </p:cTn>
                        </p:par>
                        <p:par>
                          <p:cTn id="61" fill="hold">
                            <p:stCondLst>
                              <p:cond delay="930"/>
                            </p:stCondLst>
                            <p:childTnLst>
                              <p:par>
                                <p:cTn id="66" presetID="53" presetClass="entr" presetSubtype="16" fill="hold" nodeType="afterEffect">
                                  <p:stCondLst>
                                    <p:cond delay="0"/>
                                  </p:stCondLst>
                                  <p:childTnLst>
                                    <p:set>
                                      <p:cBhvr>
                                        <p:cTn id="62" dur="1" fill="hold">
                                          <p:stCondLst>
                                            <p:cond delay="0"/>
                                          </p:stCondLst>
                                        </p:cTn>
                                        <p:tgtEl>
                                          <p:spTgt spid="46"/>
                                        </p:tgtEl>
                                        <p:attrNameLst>
                                          <p:attrName>style.visibility</p:attrName>
                                        </p:attrNameLst>
                                      </p:cBhvr>
                                      <p:to>
                                        <p:strVal val="visible"/>
                                      </p:to>
                                    </p:set>
                                    <p:anim calcmode="lin" valueType="num">
                                      <p:cBhvr>
                                        <p:cTn id="63" dur="450" fill="hold">
                                          <p:stCondLst>
                                            <p:cond delay="0"/>
                                          </p:stCondLst>
                                        </p:cTn>
                                        <p:tgtEl>
                                          <p:spTgt spid="46"/>
                                        </p:tgtEl>
                                        <p:attrNameLst>
                                          <p:attrName>ppt_w</p:attrName>
                                        </p:attrNameLst>
                                      </p:cBhvr>
                                      <p:tavLst>
                                        <p:tav tm="0">
                                          <p:val>
                                            <p:fltVal val="0"/>
                                          </p:val>
                                        </p:tav>
                                        <p:tav tm="100000">
                                          <p:val>
                                            <p:strVal val="#ppt_w"/>
                                          </p:val>
                                        </p:tav>
                                      </p:tavLst>
                                    </p:anim>
                                    <p:anim calcmode="lin" valueType="num">
                                      <p:cBhvr>
                                        <p:cTn id="64" dur="450" fill="hold">
                                          <p:stCondLst>
                                            <p:cond delay="0"/>
                                          </p:stCondLst>
                                        </p:cTn>
                                        <p:tgtEl>
                                          <p:spTgt spid="46"/>
                                        </p:tgtEl>
                                        <p:attrNameLst>
                                          <p:attrName>ppt_h</p:attrName>
                                        </p:attrNameLst>
                                      </p:cBhvr>
                                      <p:tavLst>
                                        <p:tav tm="0">
                                          <p:val>
                                            <p:fltVal val="0"/>
                                          </p:val>
                                        </p:tav>
                                        <p:tav tm="100000">
                                          <p:val>
                                            <p:strVal val="#ppt_h"/>
                                          </p:val>
                                        </p:tav>
                                      </p:tavLst>
                                    </p:anim>
                                    <p:animEffect transition="in" filter="fade">
                                      <p:cBhvr>
                                        <p:cTn id="65" dur="450">
                                          <p:stCondLst>
                                            <p:cond delay="0"/>
                                          </p:stCondLst>
                                        </p:cTn>
                                        <p:tgtEl>
                                          <p:spTgt spid="46"/>
                                        </p:tgtEl>
                                      </p:cBhvr>
                                    </p:animEffect>
                                  </p:childTnLst>
                                </p:cTn>
                              </p:par>
                            </p:childTnLst>
                          </p:cTn>
                        </p:par>
                        <p:par>
                          <p:cTn id="67" fill="hold">
                            <p:stCondLst>
                              <p:cond delay="1580"/>
                            </p:stCondLst>
                            <p:childTnLst>
                              <p:par>
                                <p:cTn id="70" presetID="22" presetClass="entr" presetSubtype="8" fill="hold" nodeType="afterEffect">
                                  <p:stCondLst>
                                    <p:cond delay="0"/>
                                  </p:stCondLst>
                                  <p:childTnLst>
                                    <p:set>
                                      <p:cBhvr>
                                        <p:cTn id="68" dur="1" fill="hold">
                                          <p:stCondLst>
                                            <p:cond delay="0"/>
                                          </p:stCondLst>
                                        </p:cTn>
                                        <p:tgtEl>
                                          <p:spTgt spid="52"/>
                                        </p:tgtEl>
                                        <p:attrNameLst>
                                          <p:attrName>style.visibility</p:attrName>
                                        </p:attrNameLst>
                                      </p:cBhvr>
                                      <p:to>
                                        <p:strVal val="visible"/>
                                      </p:to>
                                    </p:set>
                                    <p:animEffect transition="in" filter="wipe(left)">
                                      <p:cBhvr>
                                        <p:cTn id="69" dur="500">
                                          <p:stCondLst>
                                            <p:cond delay="0"/>
                                          </p:stCondLst>
                                        </p:cTn>
                                        <p:tgtEl>
                                          <p:spTgt spid="5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Ca làm, lịch và bảng lương</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9</a:t>
            </a:r>
          </a:p>
        </p:txBody>
      </p:sp>
      <p:grpSp>
        <p:nvGrpSpPr>
          <p:cNvPr id="11" name="S9_Card1"/>
          <p:cNvGrpSpPr/>
          <p:nvPr/>
        </p:nvGrpSpPr>
        <p:grpSpPr>
          <a:xfrm>
            <a:off x="411480" y="1371600"/>
            <a:ext cx="2724912" cy="3429000"/>
            <a:chOff x="411480" y="1371600"/>
            <a:chExt cx="2724912" cy="3429000"/>
          </a:xfrm>
        </p:grpSpPr>
        <p:sp>
          <p:nvSpPr>
            <p:cNvPr id="12" name="Rounded Rectangle 11"/>
            <p:cNvSpPr/>
            <p:nvPr/>
          </p:nvSpPr>
          <p:spPr>
            <a:xfrm>
              <a:off x="411480" y="1371600"/>
              <a:ext cx="2724912" cy="34290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411480" y="1371600"/>
              <a:ext cx="2724912" cy="12344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Oval 13"/>
            <p:cNvSpPr/>
            <p:nvPr/>
          </p:nvSpPr>
          <p:spPr>
            <a:xfrm>
              <a:off x="1408176" y="155448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15" name="TextBox 14"/>
            <p:cNvSpPr txBox="1"/>
            <p:nvPr/>
          </p:nvSpPr>
          <p:spPr>
            <a:xfrm>
              <a:off x="548640" y="2697480"/>
              <a:ext cx="2468880" cy="457200"/>
            </a:xfrm>
            <a:prstGeom prst="rect">
              <a:avLst/>
            </a:prstGeom>
            <a:noFill/>
          </p:spPr>
          <p:txBody>
            <a:bodyPr wrap="square" anchor="t" lIns="36576" rIns="36576" tIns="18288" bIns="18288">
              <a:spAutoFit/>
            </a:bodyPr>
            <a:lstStyle/>
            <a:p>
              <a:pPr algn="ctr"/>
              <a:r>
                <a:rPr sz="1600" b="1">
                  <a:solidFill>
                    <a:srgbClr val="111827"/>
                  </a:solidFill>
                  <a:latin typeface="Segoe UI"/>
                </a:rPr>
                <a:t>Xếp lịch tuần</a:t>
              </a:r>
            </a:p>
          </p:txBody>
        </p:sp>
        <p:sp>
          <p:nvSpPr>
            <p:cNvPr id="16" name="TextBox 15"/>
            <p:cNvSpPr txBox="1"/>
            <p:nvPr/>
          </p:nvSpPr>
          <p:spPr>
            <a:xfrm>
              <a:off x="594360" y="3200400"/>
              <a:ext cx="2468880" cy="155448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Bảng nhân viên × 7 ngày</a:t>
              </a:r>
            </a:p>
            <a:p>
              <a:pPr algn="l">
                <a:spcAft>
                  <a:spcPts val="400"/>
                </a:spcAft>
              </a:pPr>
              <a:r>
                <a:rPr sz="1300" b="1">
                  <a:solidFill>
                    <a:srgbClr val="EF4444"/>
                  </a:solidFill>
                  <a:latin typeface="Segoe UI"/>
                </a:rPr>
                <a:t>✔  </a:t>
              </a:r>
              <a:r>
                <a:rPr sz="1300" b="0">
                  <a:solidFill>
                    <a:srgbClr val="1F2937"/>
                  </a:solidFill>
                  <a:latin typeface="Segoe UI"/>
                </a:rPr>
                <a:t>Một người nhiều ca/ngày</a:t>
              </a:r>
            </a:p>
            <a:p>
              <a:pPr algn="l">
                <a:spcAft>
                  <a:spcPts val="400"/>
                </a:spcAft>
              </a:pPr>
              <a:r>
                <a:rPr sz="1300" b="1">
                  <a:solidFill>
                    <a:srgbClr val="EF4444"/>
                  </a:solidFill>
                  <a:latin typeface="Segoe UI"/>
                </a:rPr>
                <a:t>✔  </a:t>
              </a:r>
              <a:r>
                <a:rPr sz="1300" b="0">
                  <a:solidFill>
                    <a:srgbClr val="1F2937"/>
                  </a:solidFill>
                  <a:latin typeface="Segoe UI"/>
                </a:rPr>
                <a:t>Xuất Excel dán tại quầy</a:t>
              </a:r>
            </a:p>
          </p:txBody>
        </p:sp>
      </p:grpSp>
      <p:grpSp>
        <p:nvGrpSpPr>
          <p:cNvPr id="17" name="S9_Card2"/>
          <p:cNvGrpSpPr/>
          <p:nvPr/>
        </p:nvGrpSpPr>
        <p:grpSpPr>
          <a:xfrm>
            <a:off x="3282696" y="1371600"/>
            <a:ext cx="2724912" cy="3429000"/>
            <a:chOff x="3282696" y="1371600"/>
            <a:chExt cx="2724912" cy="3429000"/>
          </a:xfrm>
        </p:grpSpPr>
        <p:sp>
          <p:nvSpPr>
            <p:cNvPr id="18" name="Rounded Rectangle 17"/>
            <p:cNvSpPr/>
            <p:nvPr/>
          </p:nvSpPr>
          <p:spPr>
            <a:xfrm>
              <a:off x="3282696" y="1371600"/>
              <a:ext cx="2724912" cy="34290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Rounded Rectangle 18"/>
            <p:cNvSpPr/>
            <p:nvPr/>
          </p:nvSpPr>
          <p:spPr>
            <a:xfrm>
              <a:off x="3282696" y="1371600"/>
              <a:ext cx="2724912" cy="1234440"/>
            </a:xfrm>
            <a:prstGeom prst="roundRect">
              <a:avLst>
                <a:gd name="adj" fmla="val 12000"/>
              </a:avLst>
            </a:prstGeom>
            <a:solidFill>
              <a:srgbClr val="FEF3C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Oval 19"/>
            <p:cNvSpPr/>
            <p:nvPr/>
          </p:nvSpPr>
          <p:spPr>
            <a:xfrm>
              <a:off x="4279392" y="155448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21" name="TextBox 20"/>
            <p:cNvSpPr txBox="1"/>
            <p:nvPr/>
          </p:nvSpPr>
          <p:spPr>
            <a:xfrm>
              <a:off x="3419856" y="2697480"/>
              <a:ext cx="2468880" cy="457200"/>
            </a:xfrm>
            <a:prstGeom prst="rect">
              <a:avLst/>
            </a:prstGeom>
            <a:noFill/>
          </p:spPr>
          <p:txBody>
            <a:bodyPr wrap="square" anchor="t" lIns="36576" rIns="36576" tIns="18288" bIns="18288">
              <a:spAutoFit/>
            </a:bodyPr>
            <a:lstStyle/>
            <a:p>
              <a:pPr algn="ctr"/>
              <a:r>
                <a:rPr sz="1600" b="1">
                  <a:solidFill>
                    <a:srgbClr val="111827"/>
                  </a:solidFill>
                  <a:latin typeface="Segoe UI"/>
                </a:rPr>
                <a:t>Chấm công</a:t>
              </a:r>
            </a:p>
          </p:txBody>
        </p:sp>
        <p:sp>
          <p:nvSpPr>
            <p:cNvPr id="22" name="TextBox 21"/>
            <p:cNvSpPr txBox="1"/>
            <p:nvPr/>
          </p:nvSpPr>
          <p:spPr>
            <a:xfrm>
              <a:off x="3465576" y="3200400"/>
              <a:ext cx="2468880" cy="155448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Tự nhận diện ca đang diễn ra</a:t>
              </a:r>
            </a:p>
            <a:p>
              <a:pPr algn="l">
                <a:spcAft>
                  <a:spcPts val="400"/>
                </a:spcAft>
              </a:pPr>
              <a:r>
                <a:rPr sz="1300" b="1">
                  <a:solidFill>
                    <a:srgbClr val="EF4444"/>
                  </a:solidFill>
                  <a:latin typeface="Segoe UI"/>
                </a:rPr>
                <a:t>✔  </a:t>
              </a:r>
              <a:r>
                <a:rPr sz="1300" b="0">
                  <a:solidFill>
                    <a:srgbClr val="1F2937"/>
                  </a:solidFill>
                  <a:latin typeface="Segoe UI"/>
                </a:rPr>
                <a:t>Hỗ trợ ca qua đêm</a:t>
              </a:r>
            </a:p>
            <a:p>
              <a:pPr algn="l">
                <a:spcAft>
                  <a:spcPts val="400"/>
                </a:spcAft>
              </a:pPr>
              <a:r>
                <a:rPr sz="1300" b="1">
                  <a:solidFill>
                    <a:srgbClr val="EF4444"/>
                  </a:solidFill>
                  <a:latin typeface="Segoe UI"/>
                </a:rPr>
                <a:t>✔  </a:t>
              </a:r>
              <a:r>
                <a:rPr sz="1300" b="0">
                  <a:solidFill>
                    <a:srgbClr val="1F2937"/>
                  </a:solidFill>
                  <a:latin typeface="Segoe UI"/>
                </a:rPr>
                <a:t>Quản lý chấm tay khi sự cố</a:t>
              </a:r>
            </a:p>
          </p:txBody>
        </p:sp>
      </p:grpSp>
      <p:grpSp>
        <p:nvGrpSpPr>
          <p:cNvPr id="23" name="S9_Card3"/>
          <p:cNvGrpSpPr/>
          <p:nvPr/>
        </p:nvGrpSpPr>
        <p:grpSpPr>
          <a:xfrm>
            <a:off x="6153912" y="1371600"/>
            <a:ext cx="2724912" cy="3429000"/>
            <a:chOff x="6153912" y="1371600"/>
            <a:chExt cx="2724912" cy="3429000"/>
          </a:xfrm>
        </p:grpSpPr>
        <p:sp>
          <p:nvSpPr>
            <p:cNvPr id="24" name="Rounded Rectangle 23"/>
            <p:cNvSpPr/>
            <p:nvPr/>
          </p:nvSpPr>
          <p:spPr>
            <a:xfrm>
              <a:off x="6153912" y="1371600"/>
              <a:ext cx="2724912" cy="34290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6153912" y="1371600"/>
              <a:ext cx="2724912" cy="1234440"/>
            </a:xfrm>
            <a:prstGeom prst="roundRect">
              <a:avLst>
                <a:gd name="adj" fmla="val 12000"/>
              </a:avLst>
            </a:prstGeom>
            <a:solidFill>
              <a:srgbClr val="FFEDD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Oval 25"/>
            <p:cNvSpPr/>
            <p:nvPr/>
          </p:nvSpPr>
          <p:spPr>
            <a:xfrm>
              <a:off x="7150608" y="155448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27" name="TextBox 26"/>
            <p:cNvSpPr txBox="1"/>
            <p:nvPr/>
          </p:nvSpPr>
          <p:spPr>
            <a:xfrm>
              <a:off x="6291072" y="2697480"/>
              <a:ext cx="2468880" cy="457200"/>
            </a:xfrm>
            <a:prstGeom prst="rect">
              <a:avLst/>
            </a:prstGeom>
            <a:noFill/>
          </p:spPr>
          <p:txBody>
            <a:bodyPr wrap="square" anchor="t" lIns="36576" rIns="36576" tIns="18288" bIns="18288">
              <a:spAutoFit/>
            </a:bodyPr>
            <a:lstStyle/>
            <a:p>
              <a:pPr algn="ctr"/>
              <a:r>
                <a:rPr sz="1600" b="1">
                  <a:solidFill>
                    <a:srgbClr val="111827"/>
                  </a:solidFill>
                  <a:latin typeface="Segoe UI"/>
                </a:rPr>
                <a:t>Tính lương</a:t>
              </a:r>
            </a:p>
          </p:txBody>
        </p:sp>
        <p:sp>
          <p:nvSpPr>
            <p:cNvPr id="28" name="TextBox 27"/>
            <p:cNvSpPr txBox="1"/>
            <p:nvPr/>
          </p:nvSpPr>
          <p:spPr>
            <a:xfrm>
              <a:off x="6336792" y="3200400"/>
              <a:ext cx="2468880" cy="155448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Giờ công × đơn giá theo giờ</a:t>
              </a:r>
            </a:p>
            <a:p>
              <a:pPr algn="l">
                <a:spcAft>
                  <a:spcPts val="400"/>
                </a:spcAft>
              </a:pPr>
              <a:r>
                <a:rPr sz="1300" b="1">
                  <a:solidFill>
                    <a:srgbClr val="EF4444"/>
                  </a:solidFill>
                  <a:latin typeface="Segoe UI"/>
                </a:rPr>
                <a:t>✔  </a:t>
              </a:r>
              <a:r>
                <a:rPr sz="1300" b="0">
                  <a:solidFill>
                    <a:srgbClr val="1F2937"/>
                  </a:solidFill>
                  <a:latin typeface="Segoe UI"/>
                </a:rPr>
                <a:t>7 ngày đầu: đơn giá thử việc</a:t>
              </a:r>
            </a:p>
            <a:p>
              <a:pPr algn="l">
                <a:spcAft>
                  <a:spcPts val="400"/>
                </a:spcAft>
              </a:pPr>
              <a:r>
                <a:rPr sz="1300" b="1">
                  <a:solidFill>
                    <a:srgbClr val="EF4444"/>
                  </a:solidFill>
                  <a:latin typeface="Segoe UI"/>
                </a:rPr>
                <a:t>✔  </a:t>
              </a:r>
              <a:r>
                <a:rPr sz="1300" b="0">
                  <a:solidFill>
                    <a:srgbClr val="1F2937"/>
                  </a:solidFill>
                  <a:latin typeface="Segoe UI"/>
                </a:rPr>
                <a:t>Thưởng, phạt ghi rõ lý do</a:t>
              </a:r>
            </a:p>
          </p:txBody>
        </p:sp>
      </p:grpSp>
      <p:grpSp>
        <p:nvGrpSpPr>
          <p:cNvPr id="29" name="S9_Card4"/>
          <p:cNvGrpSpPr/>
          <p:nvPr/>
        </p:nvGrpSpPr>
        <p:grpSpPr>
          <a:xfrm>
            <a:off x="9025128" y="1371600"/>
            <a:ext cx="2724912" cy="3429000"/>
            <a:chOff x="9025128" y="1371600"/>
            <a:chExt cx="2724912" cy="3429000"/>
          </a:xfrm>
        </p:grpSpPr>
        <p:sp>
          <p:nvSpPr>
            <p:cNvPr id="30" name="Rounded Rectangle 29"/>
            <p:cNvSpPr/>
            <p:nvPr/>
          </p:nvSpPr>
          <p:spPr>
            <a:xfrm>
              <a:off x="9025128" y="1371600"/>
              <a:ext cx="2724912" cy="342900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Rounded Rectangle 30"/>
            <p:cNvSpPr/>
            <p:nvPr/>
          </p:nvSpPr>
          <p:spPr>
            <a:xfrm>
              <a:off x="9025128" y="1371600"/>
              <a:ext cx="2724912" cy="1234440"/>
            </a:xfrm>
            <a:prstGeom prst="roundRect">
              <a:avLst>
                <a:gd name="adj" fmla="val 12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Oval 31"/>
            <p:cNvSpPr/>
            <p:nvPr/>
          </p:nvSpPr>
          <p:spPr>
            <a:xfrm>
              <a:off x="10021824" y="1554480"/>
              <a:ext cx="731520" cy="731520"/>
            </a:xfrm>
            <a:prstGeom prst="ellipse">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700">
                  <a:latin typeface="Segoe UI Emoji"/>
                </a:rPr>
                <a:t>🔒</a:t>
              </a:r>
            </a:p>
          </p:txBody>
        </p:sp>
        <p:sp>
          <p:nvSpPr>
            <p:cNvPr id="33" name="TextBox 32"/>
            <p:cNvSpPr txBox="1"/>
            <p:nvPr/>
          </p:nvSpPr>
          <p:spPr>
            <a:xfrm>
              <a:off x="9162288" y="2697480"/>
              <a:ext cx="2468880" cy="457200"/>
            </a:xfrm>
            <a:prstGeom prst="rect">
              <a:avLst/>
            </a:prstGeom>
            <a:noFill/>
          </p:spPr>
          <p:txBody>
            <a:bodyPr wrap="square" anchor="t" lIns="36576" rIns="36576" tIns="18288" bIns="18288">
              <a:spAutoFit/>
            </a:bodyPr>
            <a:lstStyle/>
            <a:p>
              <a:pPr algn="ctr"/>
              <a:r>
                <a:rPr sz="1600" b="1">
                  <a:solidFill>
                    <a:srgbClr val="111827"/>
                  </a:solidFill>
                  <a:latin typeface="Segoe UI"/>
                </a:rPr>
                <a:t>Chốt &amp; chi trả</a:t>
              </a:r>
            </a:p>
          </p:txBody>
        </p:sp>
        <p:sp>
          <p:nvSpPr>
            <p:cNvPr id="34" name="TextBox 33"/>
            <p:cNvSpPr txBox="1"/>
            <p:nvPr/>
          </p:nvSpPr>
          <p:spPr>
            <a:xfrm>
              <a:off x="9208007" y="3200400"/>
              <a:ext cx="2468880" cy="1554480"/>
            </a:xfrm>
            <a:prstGeom prst="rect">
              <a:avLst/>
            </a:prstGeom>
            <a:noFill/>
          </p:spPr>
          <p:txBody>
            <a:bodyPr wrap="square" anchor="t" lIns="36576" rIns="36576" tIns="18288" bIns="18288">
              <a:spAutoFit/>
            </a:bodyPr>
            <a:lstStyle/>
            <a:p>
              <a:pPr algn="l">
                <a:spcAft>
                  <a:spcPts val="400"/>
                </a:spcAft>
              </a:pPr>
              <a:r>
                <a:rPr sz="1300" b="1">
                  <a:solidFill>
                    <a:srgbClr val="EF4444"/>
                  </a:solidFill>
                  <a:latin typeface="Segoe UI"/>
                </a:rPr>
                <a:t>✔  </a:t>
              </a:r>
              <a:r>
                <a:rPr sz="1300" b="0">
                  <a:solidFill>
                    <a:srgbClr val="1F2937"/>
                  </a:solidFill>
                  <a:latin typeface="Segoe UI"/>
                </a:rPr>
                <a:t>Nháp → Đã chốt → Đã trả</a:t>
              </a:r>
            </a:p>
            <a:p>
              <a:pPr algn="l">
                <a:spcAft>
                  <a:spcPts val="400"/>
                </a:spcAft>
              </a:pPr>
              <a:r>
                <a:rPr sz="1300" b="1">
                  <a:solidFill>
                    <a:srgbClr val="EF4444"/>
                  </a:solidFill>
                  <a:latin typeface="Segoe UI"/>
                </a:rPr>
                <a:t>✔  </a:t>
              </a:r>
              <a:r>
                <a:rPr sz="1300" b="0">
                  <a:solidFill>
                    <a:srgbClr val="1F2937"/>
                  </a:solidFill>
                  <a:latin typeface="Segoe UI"/>
                </a:rPr>
                <a:t>Đã trả thì không sửa được</a:t>
              </a:r>
            </a:p>
            <a:p>
              <a:pPr algn="l">
                <a:spcAft>
                  <a:spcPts val="400"/>
                </a:spcAft>
              </a:pPr>
              <a:r>
                <a:rPr sz="1300" b="1">
                  <a:solidFill>
                    <a:srgbClr val="EF4444"/>
                  </a:solidFill>
                  <a:latin typeface="Segoe UI"/>
                </a:rPr>
                <a:t>✔  </a:t>
              </a:r>
              <a:r>
                <a:rPr sz="1300" b="0">
                  <a:solidFill>
                    <a:srgbClr val="1F2937"/>
                  </a:solidFill>
                  <a:latin typeface="Segoe UI"/>
                </a:rPr>
                <a:t>Nhân viên tự xem lương mình</a:t>
              </a:r>
            </a:p>
          </p:txBody>
        </p:sp>
      </p:grpSp>
      <p:grpSp>
        <p:nvGrpSpPr>
          <p:cNvPr id="35" name="S9_Footer"/>
          <p:cNvGrpSpPr/>
          <p:nvPr/>
        </p:nvGrpSpPr>
        <p:grpSpPr>
          <a:xfrm>
            <a:off x="411480" y="5074920"/>
            <a:ext cx="11365992" cy="457200"/>
            <a:chOff x="411480" y="5074920"/>
            <a:chExt cx="11365992" cy="457200"/>
          </a:xfrm>
        </p:grpSpPr>
        <p:sp>
          <p:nvSpPr>
            <p:cNvPr id="36" name="Rounded Rectangle 35"/>
            <p:cNvSpPr/>
            <p:nvPr/>
          </p:nvSpPr>
          <p:spPr>
            <a:xfrm>
              <a:off x="411480" y="5074920"/>
              <a:ext cx="11365992" cy="457200"/>
            </a:xfrm>
            <a:prstGeom prst="roundRect">
              <a:avLst>
                <a:gd name="adj" fmla="val 50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48640" y="5074920"/>
              <a:ext cx="11064240" cy="457200"/>
            </a:xfrm>
            <a:prstGeom prst="rect">
              <a:avLst/>
            </a:prstGeom>
            <a:noFill/>
          </p:spPr>
          <p:txBody>
            <a:bodyPr wrap="square" anchor="ctr" lIns="36576" rIns="36576" tIns="18288" bIns="18288">
              <a:spAutoFit/>
            </a:bodyPr>
            <a:lstStyle/>
            <a:p>
              <a:pPr algn="ctr"/>
              <a:r>
                <a:rPr sz="1300" b="1">
                  <a:solidFill>
                    <a:srgbClr val="F59E0B"/>
                  </a:solidFill>
                  <a:latin typeface="Segoe UI"/>
                </a:rPr>
                <a:t>★  </a:t>
              </a:r>
              <a:r>
                <a:rPr sz="1300" b="1">
                  <a:solidFill>
                    <a:srgbClr val="FFFFFF"/>
                  </a:solidFill>
                  <a:latin typeface="Segoe UI"/>
                </a:rPr>
                <a:t>Giờ công lấy thẳng từ dữ liệu chấm công → lương không nhập tay, không lệch số</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45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7"/>
                                        </p:tgtEl>
                                        <p:attrNameLst>
                                          <p:attrName>style.visibility</p:attrName>
                                        </p:attrNameLst>
                                      </p:cBhvr>
                                      <p:to>
                                        <p:strVal val="visible"/>
                                      </p:to>
                                    </p:set>
                                    <p:animEffect transition="in" filter="fade">
                                      <p:cBhvr>
                                        <p:cTn id="16" dur="450">
                                          <p:stCondLst>
                                            <p:cond delay="0"/>
                                          </p:stCondLst>
                                        </p:cTn>
                                        <p:tgtEl>
                                          <p:spTgt spid="17"/>
                                        </p:tgtEl>
                                      </p:cBhvr>
                                    </p:animEffect>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nodeType="clickEffect">
                                  <p:stCondLst>
                                    <p:cond delay="0"/>
                                  </p:stCondLst>
                                  <p:childTnLst>
                                    <p:set>
                                      <p:cBhvr>
                                        <p:cTn id="20" dur="1" fill="hold">
                                          <p:stCondLst>
                                            <p:cond delay="0"/>
                                          </p:stCondLst>
                                        </p:cTn>
                                        <p:tgtEl>
                                          <p:spTgt spid="23"/>
                                        </p:tgtEl>
                                        <p:attrNameLst>
                                          <p:attrName>style.visibility</p:attrName>
                                        </p:attrNameLst>
                                      </p:cBhvr>
                                      <p:to>
                                        <p:strVal val="visible"/>
                                      </p:to>
                                    </p:set>
                                    <p:animEffect transition="in" filter="fade">
                                      <p:cBhvr>
                                        <p:cTn id="21" dur="450">
                                          <p:stCondLst>
                                            <p:cond delay="0"/>
                                          </p:stCondLst>
                                        </p:cTn>
                                        <p:tgtEl>
                                          <p:spTgt spid="23"/>
                                        </p:tgtEl>
                                      </p:cBhvr>
                                    </p:animEffect>
                                  </p:childTnLst>
                                </p:cTn>
                              </p:par>
                            </p:childTnLst>
                          </p:cTn>
                        </p:par>
                      </p:childTnLst>
                    </p:cTn>
                  </p:par>
                  <p:par>
                    <p:cTn id="23" fill="hold">
                      <p:stCondLst>
                        <p:cond delay="indefinite"/>
                      </p:stCondLst>
                      <p:childTnLst>
                        <p:par>
                          <p:cTn id="24" fill="hold">
                            <p:stCondLst>
                              <p:cond delay="0"/>
                            </p:stCondLst>
                            <p:childTnLst>
                              <p:par>
                                <p:cTn id="27" presetID="10" presetClass="entr" presetSubtype="0" fill="hold" nodeType="clickEffect">
                                  <p:stCondLst>
                                    <p:cond delay="0"/>
                                  </p:stCondLst>
                                  <p:childTnLst>
                                    <p:set>
                                      <p:cBhvr>
                                        <p:cTn id="25" dur="1" fill="hold">
                                          <p:stCondLst>
                                            <p:cond delay="0"/>
                                          </p:stCondLst>
                                        </p:cTn>
                                        <p:tgtEl>
                                          <p:spTgt spid="29"/>
                                        </p:tgtEl>
                                        <p:attrNameLst>
                                          <p:attrName>style.visibility</p:attrName>
                                        </p:attrNameLst>
                                      </p:cBhvr>
                                      <p:to>
                                        <p:strVal val="visible"/>
                                      </p:to>
                                    </p:set>
                                    <p:animEffect transition="in" filter="fade">
                                      <p:cBhvr>
                                        <p:cTn id="26" dur="450">
                                          <p:stCondLst>
                                            <p:cond delay="0"/>
                                          </p:stCondLst>
                                        </p:cTn>
                                        <p:tgtEl>
                                          <p:spTgt spid="29"/>
                                        </p:tgtEl>
                                      </p:cBhvr>
                                    </p:animEffect>
                                  </p:childTnLst>
                                </p:cTn>
                              </p:par>
                            </p:childTnLst>
                          </p:cTn>
                        </p:par>
                        <p:par>
                          <p:cTn id="28" fill="hold">
                            <p:stCondLst>
                              <p:cond delay="650"/>
                            </p:stCondLst>
                            <p:childTnLst>
                              <p:par>
                                <p:cTn id="31" presetID="22" presetClass="entr" presetSubtype="8" fill="hold" nodeType="afterEffect">
                                  <p:stCondLst>
                                    <p:cond delay="0"/>
                                  </p:stCondLst>
                                  <p:childTnLst>
                                    <p:set>
                                      <p:cBhvr>
                                        <p:cTn id="29" dur="1" fill="hold">
                                          <p:stCondLst>
                                            <p:cond delay="0"/>
                                          </p:stCondLst>
                                        </p:cTn>
                                        <p:tgtEl>
                                          <p:spTgt spid="35"/>
                                        </p:tgtEl>
                                        <p:attrNameLst>
                                          <p:attrName>style.visibility</p:attrName>
                                        </p:attrNameLst>
                                      </p:cBhvr>
                                      <p:to>
                                        <p:strVal val="visible"/>
                                      </p:to>
                                    </p:set>
                                    <p:animEffect transition="in" filter="wipe(left)">
                                      <p:cBhvr>
                                        <p:cTn id="30" dur="500">
                                          <p:stCondLst>
                                            <p:cond delay="0"/>
                                          </p:stCondLst>
                                        </p:cTn>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Giao diện khách hàng</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10</a:t>
            </a:r>
          </a:p>
        </p:txBody>
      </p:sp>
      <p:grpSp>
        <p:nvGrpSpPr>
          <p:cNvPr id="11" name="S10_Home"/>
          <p:cNvGrpSpPr/>
          <p:nvPr/>
        </p:nvGrpSpPr>
        <p:grpSpPr>
          <a:xfrm>
            <a:off x="429768" y="1389888"/>
            <a:ext cx="5358384" cy="3842765"/>
            <a:chOff x="429768" y="1389888"/>
            <a:chExt cx="5358384" cy="3842765"/>
          </a:xfrm>
        </p:grpSpPr>
        <p:sp>
          <p:nvSpPr>
            <p:cNvPr id="12" name="Rounded Rectangle 11"/>
            <p:cNvSpPr/>
            <p:nvPr/>
          </p:nvSpPr>
          <p:spPr>
            <a:xfrm>
              <a:off x="429768" y="1389888"/>
              <a:ext cx="5358384" cy="3403854"/>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trang-chu.jpg"/>
            <p:cNvPicPr>
              <a:picLocks noChangeAspect="1"/>
            </p:cNvPicPr>
            <p:nvPr/>
          </p:nvPicPr>
          <p:blipFill>
            <a:blip r:embed="rId3"/>
            <a:stretch>
              <a:fillRect/>
            </a:stretch>
          </p:blipFill>
          <p:spPr>
            <a:xfrm>
              <a:off x="502920" y="1463040"/>
              <a:ext cx="5212080" cy="3257550"/>
            </a:xfrm>
            <a:prstGeom prst="rect">
              <a:avLst/>
            </a:prstGeom>
          </p:spPr>
        </p:pic>
        <p:sp>
          <p:nvSpPr>
            <p:cNvPr id="14" name="Rounded Rectangle 13"/>
            <p:cNvSpPr/>
            <p:nvPr/>
          </p:nvSpPr>
          <p:spPr>
            <a:xfrm>
              <a:off x="1920240" y="4885181"/>
              <a:ext cx="2377440" cy="347472"/>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1920240" y="4885181"/>
              <a:ext cx="2377440" cy="347472"/>
            </a:xfrm>
            <a:prstGeom prst="rect">
              <a:avLst/>
            </a:prstGeom>
            <a:noFill/>
          </p:spPr>
          <p:txBody>
            <a:bodyPr wrap="square" anchor="ctr" lIns="36576" rIns="36576" tIns="18288" bIns="18288">
              <a:spAutoFit/>
            </a:bodyPr>
            <a:lstStyle/>
            <a:p>
              <a:pPr algn="ctr"/>
              <a:r>
                <a:rPr sz="1100" b="1">
                  <a:solidFill>
                    <a:srgbClr val="111827"/>
                  </a:solidFill>
                  <a:latin typeface="Segoe UI"/>
                </a:rPr>
                <a:t>Trang chủ theo chi nhánh</a:t>
              </a:r>
            </a:p>
          </p:txBody>
        </p:sp>
      </p:grpSp>
      <p:grpSp>
        <p:nvGrpSpPr>
          <p:cNvPr id="16" name="S10_Chat"/>
          <p:cNvGrpSpPr/>
          <p:nvPr/>
        </p:nvGrpSpPr>
        <p:grpSpPr>
          <a:xfrm>
            <a:off x="5916168" y="1389888"/>
            <a:ext cx="4078224" cy="3042665"/>
            <a:chOff x="5916168" y="1389888"/>
            <a:chExt cx="4078224" cy="3042665"/>
          </a:xfrm>
        </p:grpSpPr>
        <p:sp>
          <p:nvSpPr>
            <p:cNvPr id="17" name="Rounded Rectangle 16"/>
            <p:cNvSpPr/>
            <p:nvPr/>
          </p:nvSpPr>
          <p:spPr>
            <a:xfrm>
              <a:off x="5916168" y="1389888"/>
              <a:ext cx="4078224" cy="2603753"/>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chatbot.jpg"/>
            <p:cNvPicPr>
              <a:picLocks noChangeAspect="1"/>
            </p:cNvPicPr>
            <p:nvPr/>
          </p:nvPicPr>
          <p:blipFill>
            <a:blip r:embed="rId4"/>
            <a:stretch>
              <a:fillRect/>
            </a:stretch>
          </p:blipFill>
          <p:spPr>
            <a:xfrm>
              <a:off x="5989320" y="1463040"/>
              <a:ext cx="3931920" cy="2457449"/>
            </a:xfrm>
            <a:prstGeom prst="rect">
              <a:avLst/>
            </a:prstGeom>
          </p:spPr>
        </p:pic>
        <p:sp>
          <p:nvSpPr>
            <p:cNvPr id="19" name="Rounded Rectangle 18"/>
            <p:cNvSpPr/>
            <p:nvPr/>
          </p:nvSpPr>
          <p:spPr>
            <a:xfrm>
              <a:off x="6766559" y="4085081"/>
              <a:ext cx="2377440" cy="347472"/>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6766559" y="4085081"/>
              <a:ext cx="2377440" cy="347472"/>
            </a:xfrm>
            <a:prstGeom prst="rect">
              <a:avLst/>
            </a:prstGeom>
            <a:noFill/>
          </p:spPr>
          <p:txBody>
            <a:bodyPr wrap="square" anchor="ctr" lIns="36576" rIns="36576" tIns="18288" bIns="18288">
              <a:spAutoFit/>
            </a:bodyPr>
            <a:lstStyle/>
            <a:p>
              <a:pPr algn="ctr"/>
              <a:r>
                <a:rPr sz="1100" b="1">
                  <a:solidFill>
                    <a:srgbClr val="111827"/>
                  </a:solidFill>
                  <a:latin typeface="Segoe UI"/>
                </a:rPr>
                <a:t>Trợ lý chatbot</a:t>
              </a:r>
            </a:p>
          </p:txBody>
        </p:sp>
      </p:grpSp>
      <p:grpSp>
        <p:nvGrpSpPr>
          <p:cNvPr id="21" name="S10_Phone"/>
          <p:cNvGrpSpPr/>
          <p:nvPr/>
        </p:nvGrpSpPr>
        <p:grpSpPr>
          <a:xfrm>
            <a:off x="9400032" y="1389888"/>
            <a:ext cx="2558803" cy="4242815"/>
            <a:chOff x="9400032" y="1389888"/>
            <a:chExt cx="2558803" cy="4242815"/>
          </a:xfrm>
        </p:grpSpPr>
        <p:sp>
          <p:nvSpPr>
            <p:cNvPr id="22" name="Rounded Rectangle 21"/>
            <p:cNvSpPr/>
            <p:nvPr/>
          </p:nvSpPr>
          <p:spPr>
            <a:xfrm>
              <a:off x="10122408" y="1389888"/>
              <a:ext cx="1836427" cy="3803904"/>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23" name="Picture 22" descr="dien-thoai.jpg"/>
            <p:cNvPicPr>
              <a:picLocks noChangeAspect="1"/>
            </p:cNvPicPr>
            <p:nvPr/>
          </p:nvPicPr>
          <p:blipFill>
            <a:blip r:embed="rId5"/>
            <a:stretch>
              <a:fillRect/>
            </a:stretch>
          </p:blipFill>
          <p:spPr>
            <a:xfrm>
              <a:off x="10195560" y="1463040"/>
              <a:ext cx="1690123" cy="3657600"/>
            </a:xfrm>
            <a:prstGeom prst="rect">
              <a:avLst/>
            </a:prstGeom>
          </p:spPr>
        </p:pic>
        <p:sp>
          <p:nvSpPr>
            <p:cNvPr id="24" name="Rounded Rectangle 23"/>
            <p:cNvSpPr/>
            <p:nvPr/>
          </p:nvSpPr>
          <p:spPr>
            <a:xfrm>
              <a:off x="9400032" y="5285231"/>
              <a:ext cx="2377440" cy="347472"/>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400032" y="5285231"/>
              <a:ext cx="2377440" cy="347472"/>
            </a:xfrm>
            <a:prstGeom prst="rect">
              <a:avLst/>
            </a:prstGeom>
            <a:noFill/>
          </p:spPr>
          <p:txBody>
            <a:bodyPr wrap="square" anchor="ctr" lIns="36576" rIns="36576" tIns="18288" bIns="18288">
              <a:spAutoFit/>
            </a:bodyPr>
            <a:lstStyle/>
            <a:p>
              <a:pPr algn="ctr"/>
              <a:r>
                <a:rPr sz="1100" b="1">
                  <a:solidFill>
                    <a:srgbClr val="111827"/>
                  </a:solidFill>
                  <a:latin typeface="Segoe UI"/>
                </a:rPr>
                <a:t>Điện thoại</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stCondLst>
                                            <p:cond delay="0"/>
                                          </p:stCondLst>
                                        </p:cTn>
                                        <p:tgtEl>
                                          <p:spTgt spid="16"/>
                                        </p:tgtEl>
                                      </p:cBhvr>
                                    </p:animEffect>
                                  </p:childTnLst>
                                </p:cTn>
                              </p:par>
                            </p:childTnLst>
                          </p:cTn>
                        </p:par>
                      </p:childTnLst>
                    </p:cTn>
                  </p:par>
                  <p:par>
                    <p:cTn id="18" fill="hold">
                      <p:stCondLst>
                        <p:cond delay="indefinite"/>
                      </p:stCondLst>
                      <p:childTnLst>
                        <p:par>
                          <p:cTn id="19" fill="hold">
                            <p:stCondLst>
                              <p:cond delay="0"/>
                            </p:stCondLst>
                            <p:childTnLst>
                              <p:par>
                                <p:cTn id="24" presetID="53" presetClass="entr" presetSubtype="16" fill="hold" nodeType="clickEffect">
                                  <p:stCondLst>
                                    <p:cond delay="0"/>
                                  </p:stCondLst>
                                  <p:childTnLst>
                                    <p:set>
                                      <p:cBhvr>
                                        <p:cTn id="20" dur="1" fill="hold">
                                          <p:stCondLst>
                                            <p:cond delay="0"/>
                                          </p:stCondLst>
                                        </p:cTn>
                                        <p:tgtEl>
                                          <p:spTgt spid="21"/>
                                        </p:tgtEl>
                                        <p:attrNameLst>
                                          <p:attrName>style.visibility</p:attrName>
                                        </p:attrNameLst>
                                      </p:cBhvr>
                                      <p:to>
                                        <p:strVal val="visible"/>
                                      </p:to>
                                    </p:set>
                                    <p:anim calcmode="lin" valueType="num">
                                      <p:cBhvr>
                                        <p:cTn id="21" dur="500" fill="hold">
                                          <p:stCondLst>
                                            <p:cond delay="0"/>
                                          </p:stCondLst>
                                        </p:cTn>
                                        <p:tgtEl>
                                          <p:spTgt spid="21"/>
                                        </p:tgtEl>
                                        <p:attrNameLst>
                                          <p:attrName>ppt_w</p:attrName>
                                        </p:attrNameLst>
                                      </p:cBhvr>
                                      <p:tavLst>
                                        <p:tav tm="0">
                                          <p:val>
                                            <p:fltVal val="0"/>
                                          </p:val>
                                        </p:tav>
                                        <p:tav tm="100000">
                                          <p:val>
                                            <p:strVal val="#ppt_w"/>
                                          </p:val>
                                        </p:tav>
                                      </p:tavLst>
                                    </p:anim>
                                    <p:anim calcmode="lin" valueType="num">
                                      <p:cBhvr>
                                        <p:cTn id="22" dur="500" fill="hold">
                                          <p:stCondLst>
                                            <p:cond delay="0"/>
                                          </p:stCondLst>
                                        </p:cTn>
                                        <p:tgtEl>
                                          <p:spTgt spid="21"/>
                                        </p:tgtEl>
                                        <p:attrNameLst>
                                          <p:attrName>ppt_h</p:attrName>
                                        </p:attrNameLst>
                                      </p:cBhvr>
                                      <p:tavLst>
                                        <p:tav tm="0">
                                          <p:val>
                                            <p:fltVal val="0"/>
                                          </p:val>
                                        </p:tav>
                                        <p:tav tm="100000">
                                          <p:val>
                                            <p:strVal val="#ppt_h"/>
                                          </p:val>
                                        </p:tav>
                                      </p:tavLst>
                                    </p:anim>
                                    <p:animEffect transition="in" filter="fade">
                                      <p:cBhvr>
                                        <p:cTn id="23" dur="500">
                                          <p:stCondLst>
                                            <p:cond delay="0"/>
                                          </p:stCondLst>
                                        </p:cTn>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Giao diện quản lý</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11</a:t>
            </a:r>
          </a:p>
        </p:txBody>
      </p:sp>
      <p:grpSp>
        <p:nvGrpSpPr>
          <p:cNvPr id="11" name="S11_Manager"/>
          <p:cNvGrpSpPr/>
          <p:nvPr/>
        </p:nvGrpSpPr>
        <p:grpSpPr>
          <a:xfrm>
            <a:off x="429768" y="1389888"/>
            <a:ext cx="5632704" cy="4014215"/>
            <a:chOff x="429768" y="1389888"/>
            <a:chExt cx="5632704" cy="4014215"/>
          </a:xfrm>
        </p:grpSpPr>
        <p:sp>
          <p:nvSpPr>
            <p:cNvPr id="12" name="Rounded Rectangle 11"/>
            <p:cNvSpPr/>
            <p:nvPr/>
          </p:nvSpPr>
          <p:spPr>
            <a:xfrm>
              <a:off x="429768" y="1389888"/>
              <a:ext cx="5632704" cy="3575304"/>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3" name="Picture 12" descr="ql-dashboard.jpg"/>
            <p:cNvPicPr>
              <a:picLocks noChangeAspect="1"/>
            </p:cNvPicPr>
            <p:nvPr/>
          </p:nvPicPr>
          <p:blipFill>
            <a:blip r:embed="rId3"/>
            <a:stretch>
              <a:fillRect/>
            </a:stretch>
          </p:blipFill>
          <p:spPr>
            <a:xfrm>
              <a:off x="502920" y="1463040"/>
              <a:ext cx="5486400" cy="3429000"/>
            </a:xfrm>
            <a:prstGeom prst="rect">
              <a:avLst/>
            </a:prstGeom>
          </p:spPr>
        </p:pic>
        <p:sp>
          <p:nvSpPr>
            <p:cNvPr id="14" name="Rounded Rectangle 13"/>
            <p:cNvSpPr/>
            <p:nvPr/>
          </p:nvSpPr>
          <p:spPr>
            <a:xfrm>
              <a:off x="2057400" y="5056631"/>
              <a:ext cx="2377440" cy="347472"/>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2057400" y="5056631"/>
              <a:ext cx="2377440" cy="347472"/>
            </a:xfrm>
            <a:prstGeom prst="rect">
              <a:avLst/>
            </a:prstGeom>
            <a:noFill/>
          </p:spPr>
          <p:txBody>
            <a:bodyPr wrap="square" anchor="ctr" lIns="36576" rIns="36576" tIns="18288" bIns="18288">
              <a:spAutoFit/>
            </a:bodyPr>
            <a:lstStyle/>
            <a:p>
              <a:pPr algn="ctr"/>
              <a:r>
                <a:rPr sz="1100" b="1">
                  <a:solidFill>
                    <a:srgbClr val="111827"/>
                  </a:solidFill>
                  <a:latin typeface="Segoe UI"/>
                </a:rPr>
                <a:t>Tổng quan chi nhánh</a:t>
              </a:r>
            </a:p>
          </p:txBody>
        </p:sp>
      </p:grpSp>
      <p:grpSp>
        <p:nvGrpSpPr>
          <p:cNvPr id="16" name="S11_Admin"/>
          <p:cNvGrpSpPr/>
          <p:nvPr/>
        </p:nvGrpSpPr>
        <p:grpSpPr>
          <a:xfrm>
            <a:off x="6190488" y="1389888"/>
            <a:ext cx="5632704" cy="4014215"/>
            <a:chOff x="6190488" y="1389888"/>
            <a:chExt cx="5632704" cy="4014215"/>
          </a:xfrm>
        </p:grpSpPr>
        <p:sp>
          <p:nvSpPr>
            <p:cNvPr id="17" name="Rounded Rectangle 16"/>
            <p:cNvSpPr/>
            <p:nvPr/>
          </p:nvSpPr>
          <p:spPr>
            <a:xfrm>
              <a:off x="6190488" y="1389888"/>
              <a:ext cx="5632704" cy="3575304"/>
            </a:xfrm>
            <a:prstGeom prst="roundRect">
              <a:avLst>
                <a:gd name="adj" fmla="val 4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18" name="Picture 17" descr="admin-dashboard.jpg"/>
            <p:cNvPicPr>
              <a:picLocks noChangeAspect="1"/>
            </p:cNvPicPr>
            <p:nvPr/>
          </p:nvPicPr>
          <p:blipFill>
            <a:blip r:embed="rId4"/>
            <a:stretch>
              <a:fillRect/>
            </a:stretch>
          </p:blipFill>
          <p:spPr>
            <a:xfrm>
              <a:off x="6263640" y="1463040"/>
              <a:ext cx="5486400" cy="3429000"/>
            </a:xfrm>
            <a:prstGeom prst="rect">
              <a:avLst/>
            </a:prstGeom>
          </p:spPr>
        </p:pic>
        <p:sp>
          <p:nvSpPr>
            <p:cNvPr id="19" name="Rounded Rectangle 18"/>
            <p:cNvSpPr/>
            <p:nvPr/>
          </p:nvSpPr>
          <p:spPr>
            <a:xfrm>
              <a:off x="7818119" y="5056631"/>
              <a:ext cx="2377440" cy="347472"/>
            </a:xfrm>
            <a:prstGeom prst="roundRect">
              <a:avLst>
                <a:gd name="adj" fmla="val 50000"/>
              </a:avLst>
            </a:prstGeom>
            <a:solidFill>
              <a:srgbClr val="FEE2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extBox 19"/>
            <p:cNvSpPr txBox="1"/>
            <p:nvPr/>
          </p:nvSpPr>
          <p:spPr>
            <a:xfrm>
              <a:off x="7818119" y="5056631"/>
              <a:ext cx="2377440" cy="347472"/>
            </a:xfrm>
            <a:prstGeom prst="rect">
              <a:avLst/>
            </a:prstGeom>
            <a:noFill/>
          </p:spPr>
          <p:txBody>
            <a:bodyPr wrap="square" anchor="ctr" lIns="36576" rIns="36576" tIns="18288" bIns="18288">
              <a:spAutoFit/>
            </a:bodyPr>
            <a:lstStyle/>
            <a:p>
              <a:pPr algn="ctr"/>
              <a:r>
                <a:rPr sz="1100" b="1">
                  <a:solidFill>
                    <a:srgbClr val="111827"/>
                  </a:solidFill>
                  <a:latin typeface="Segoe UI"/>
                </a:rPr>
                <a:t>Tổng quan toàn chuỗi</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Effect transition="in" filter="fade">
                                      <p:cBhvr>
                                        <p:cTn id="11" dur="500">
                                          <p:stCondLst>
                                            <p:cond delay="0"/>
                                          </p:stCondLst>
                                        </p:cTn>
                                        <p:tgtEl>
                                          <p:spTgt spid="11"/>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nodeType="click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stCondLst>
                                            <p:cond delay="0"/>
                                          </p:stCondLst>
                                        </p:cTn>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Kết quả kiểm thử</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12</a:t>
            </a:r>
          </a:p>
        </p:txBody>
      </p:sp>
      <p:grpSp>
        <p:nvGrpSpPr>
          <p:cNvPr id="11" name="S12_Kpi1"/>
          <p:cNvGrpSpPr/>
          <p:nvPr/>
        </p:nvGrpSpPr>
        <p:grpSpPr>
          <a:xfrm>
            <a:off x="411480" y="1371600"/>
            <a:ext cx="2724912" cy="1737360"/>
            <a:chOff x="411480" y="1371600"/>
            <a:chExt cx="2724912" cy="1737360"/>
          </a:xfrm>
        </p:grpSpPr>
        <p:sp>
          <p:nvSpPr>
            <p:cNvPr id="12" name="Rounded Rectangle 11"/>
            <p:cNvSpPr/>
            <p:nvPr/>
          </p:nvSpPr>
          <p:spPr>
            <a:xfrm>
              <a:off x="411480" y="1371600"/>
              <a:ext cx="2724912" cy="1737360"/>
            </a:xfrm>
            <a:prstGeom prst="roundRect">
              <a:avLst>
                <a:gd name="adj" fmla="val 8000"/>
              </a:avLst>
            </a:prstGeom>
            <a:solidFill>
              <a:srgbClr val="EF4444"/>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411480" y="1463040"/>
              <a:ext cx="2724912" cy="960120"/>
            </a:xfrm>
            <a:prstGeom prst="rect">
              <a:avLst/>
            </a:prstGeom>
            <a:noFill/>
          </p:spPr>
          <p:txBody>
            <a:bodyPr wrap="square" anchor="ctr" lIns="36576" rIns="36576" tIns="18288" bIns="18288">
              <a:spAutoFit/>
            </a:bodyPr>
            <a:lstStyle/>
            <a:p>
              <a:pPr algn="ctr"/>
              <a:r>
                <a:rPr sz="4000" b="1">
                  <a:solidFill>
                    <a:srgbClr val="FFFFFF"/>
                  </a:solidFill>
                  <a:latin typeface="Segoe UI"/>
                </a:rPr>
                <a:t>367</a:t>
              </a:r>
            </a:p>
          </p:txBody>
        </p:sp>
        <p:sp>
          <p:nvSpPr>
            <p:cNvPr id="14" name="TextBox 13"/>
            <p:cNvSpPr txBox="1"/>
            <p:nvPr/>
          </p:nvSpPr>
          <p:spPr>
            <a:xfrm>
              <a:off x="411480" y="2423160"/>
              <a:ext cx="2724912" cy="502920"/>
            </a:xfrm>
            <a:prstGeom prst="rect">
              <a:avLst/>
            </a:prstGeom>
            <a:noFill/>
          </p:spPr>
          <p:txBody>
            <a:bodyPr wrap="square" anchor="t" lIns="36576" rIns="36576" tIns="18288" bIns="18288">
              <a:spAutoFit/>
            </a:bodyPr>
            <a:lstStyle/>
            <a:p>
              <a:pPr algn="ctr"/>
              <a:r>
                <a:rPr sz="1300" b="1">
                  <a:solidFill>
                    <a:srgbClr val="FFFFFF"/>
                  </a:solidFill>
                  <a:latin typeface="Segoe UI"/>
                </a:rPr>
                <a:t>ca kiểm thử tự động</a:t>
              </a:r>
            </a:p>
          </p:txBody>
        </p:sp>
      </p:grpSp>
      <p:grpSp>
        <p:nvGrpSpPr>
          <p:cNvPr id="15" name="S12_Kpi2"/>
          <p:cNvGrpSpPr/>
          <p:nvPr/>
        </p:nvGrpSpPr>
        <p:grpSpPr>
          <a:xfrm>
            <a:off x="3282696" y="1371600"/>
            <a:ext cx="2724912" cy="1737360"/>
            <a:chOff x="3282696" y="1371600"/>
            <a:chExt cx="2724912" cy="1737360"/>
          </a:xfrm>
        </p:grpSpPr>
        <p:sp>
          <p:nvSpPr>
            <p:cNvPr id="16" name="Rounded Rectangle 15"/>
            <p:cNvSpPr/>
            <p:nvPr/>
          </p:nvSpPr>
          <p:spPr>
            <a:xfrm>
              <a:off x="3282696" y="1371600"/>
              <a:ext cx="2724912" cy="1737360"/>
            </a:xfrm>
            <a:prstGeom prst="roundRect">
              <a:avLst>
                <a:gd name="adj" fmla="val 8000"/>
              </a:avLst>
            </a:prstGeom>
            <a:solidFill>
              <a:srgbClr val="F59E0B"/>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3282696" y="1463040"/>
              <a:ext cx="2724912" cy="960120"/>
            </a:xfrm>
            <a:prstGeom prst="rect">
              <a:avLst/>
            </a:prstGeom>
            <a:noFill/>
          </p:spPr>
          <p:txBody>
            <a:bodyPr wrap="square" anchor="ctr" lIns="36576" rIns="36576" tIns="18288" bIns="18288">
              <a:spAutoFit/>
            </a:bodyPr>
            <a:lstStyle/>
            <a:p>
              <a:pPr algn="ctr"/>
              <a:r>
                <a:rPr sz="4000" b="1">
                  <a:solidFill>
                    <a:srgbClr val="FFFFFF"/>
                  </a:solidFill>
                  <a:latin typeface="Segoe UI"/>
                </a:rPr>
                <a:t>1.517</a:t>
              </a:r>
            </a:p>
          </p:txBody>
        </p:sp>
        <p:sp>
          <p:nvSpPr>
            <p:cNvPr id="18" name="TextBox 17"/>
            <p:cNvSpPr txBox="1"/>
            <p:nvPr/>
          </p:nvSpPr>
          <p:spPr>
            <a:xfrm>
              <a:off x="3282696" y="2423160"/>
              <a:ext cx="2724912" cy="502920"/>
            </a:xfrm>
            <a:prstGeom prst="rect">
              <a:avLst/>
            </a:prstGeom>
            <a:noFill/>
          </p:spPr>
          <p:txBody>
            <a:bodyPr wrap="square" anchor="t" lIns="36576" rIns="36576" tIns="18288" bIns="18288">
              <a:spAutoFit/>
            </a:bodyPr>
            <a:lstStyle/>
            <a:p>
              <a:pPr algn="ctr"/>
              <a:r>
                <a:rPr sz="1300" b="1">
                  <a:solidFill>
                    <a:srgbClr val="FFFFFF"/>
                  </a:solidFill>
                  <a:latin typeface="Segoe UI"/>
                </a:rPr>
                <a:t>phép kiểm tra</a:t>
              </a:r>
            </a:p>
          </p:txBody>
        </p:sp>
      </p:grpSp>
      <p:grpSp>
        <p:nvGrpSpPr>
          <p:cNvPr id="19" name="S12_Kpi3"/>
          <p:cNvGrpSpPr/>
          <p:nvPr/>
        </p:nvGrpSpPr>
        <p:grpSpPr>
          <a:xfrm>
            <a:off x="6153912" y="1371600"/>
            <a:ext cx="2724912" cy="1737360"/>
            <a:chOff x="6153912" y="1371600"/>
            <a:chExt cx="2724912" cy="1737360"/>
          </a:xfrm>
        </p:grpSpPr>
        <p:sp>
          <p:nvSpPr>
            <p:cNvPr id="20" name="Rounded Rectangle 19"/>
            <p:cNvSpPr/>
            <p:nvPr/>
          </p:nvSpPr>
          <p:spPr>
            <a:xfrm>
              <a:off x="6153912" y="1371600"/>
              <a:ext cx="2724912" cy="1737360"/>
            </a:xfrm>
            <a:prstGeom prst="roundRect">
              <a:avLst>
                <a:gd name="adj" fmla="val 8000"/>
              </a:avLst>
            </a:prstGeom>
            <a:solidFill>
              <a:srgbClr val="EF4444"/>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6153912" y="1463040"/>
              <a:ext cx="2724912" cy="960120"/>
            </a:xfrm>
            <a:prstGeom prst="rect">
              <a:avLst/>
            </a:prstGeom>
            <a:noFill/>
          </p:spPr>
          <p:txBody>
            <a:bodyPr wrap="square" anchor="ctr" lIns="36576" rIns="36576" tIns="18288" bIns="18288">
              <a:spAutoFit/>
            </a:bodyPr>
            <a:lstStyle/>
            <a:p>
              <a:pPr algn="ctr"/>
              <a:r>
                <a:rPr sz="4000" b="1">
                  <a:solidFill>
                    <a:srgbClr val="FFFFFF"/>
                  </a:solidFill>
                  <a:latin typeface="Segoe UI"/>
                </a:rPr>
                <a:t>100%</a:t>
              </a:r>
            </a:p>
          </p:txBody>
        </p:sp>
        <p:sp>
          <p:nvSpPr>
            <p:cNvPr id="22" name="TextBox 21"/>
            <p:cNvSpPr txBox="1"/>
            <p:nvPr/>
          </p:nvSpPr>
          <p:spPr>
            <a:xfrm>
              <a:off x="6153912" y="2423160"/>
              <a:ext cx="2724912" cy="502920"/>
            </a:xfrm>
            <a:prstGeom prst="rect">
              <a:avLst/>
            </a:prstGeom>
            <a:noFill/>
          </p:spPr>
          <p:txBody>
            <a:bodyPr wrap="square" anchor="t" lIns="36576" rIns="36576" tIns="18288" bIns="18288">
              <a:spAutoFit/>
            </a:bodyPr>
            <a:lstStyle/>
            <a:p>
              <a:pPr algn="ctr"/>
              <a:r>
                <a:rPr sz="1300" b="1">
                  <a:solidFill>
                    <a:srgbClr val="FFFFFF"/>
                  </a:solidFill>
                  <a:latin typeface="Segoe UI"/>
                </a:rPr>
                <a:t>ca kiểm thử đạt</a:t>
              </a:r>
            </a:p>
          </p:txBody>
        </p:sp>
      </p:grpSp>
      <p:grpSp>
        <p:nvGrpSpPr>
          <p:cNvPr id="23" name="S12_Kpi4"/>
          <p:cNvGrpSpPr/>
          <p:nvPr/>
        </p:nvGrpSpPr>
        <p:grpSpPr>
          <a:xfrm>
            <a:off x="9025128" y="1371600"/>
            <a:ext cx="2724912" cy="1737360"/>
            <a:chOff x="9025128" y="1371600"/>
            <a:chExt cx="2724912" cy="1737360"/>
          </a:xfrm>
        </p:grpSpPr>
        <p:sp>
          <p:nvSpPr>
            <p:cNvPr id="24" name="Rounded Rectangle 23"/>
            <p:cNvSpPr/>
            <p:nvPr/>
          </p:nvSpPr>
          <p:spPr>
            <a:xfrm>
              <a:off x="9025128" y="1371600"/>
              <a:ext cx="2724912" cy="1737360"/>
            </a:xfrm>
            <a:prstGeom prst="roundRect">
              <a:avLst>
                <a:gd name="adj" fmla="val 8000"/>
              </a:avLst>
            </a:prstGeom>
            <a:solidFill>
              <a:srgbClr val="F59E0B"/>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025128" y="1463040"/>
              <a:ext cx="2724912" cy="960120"/>
            </a:xfrm>
            <a:prstGeom prst="rect">
              <a:avLst/>
            </a:prstGeom>
            <a:noFill/>
          </p:spPr>
          <p:txBody>
            <a:bodyPr wrap="square" anchor="ctr" lIns="36576" rIns="36576" tIns="18288" bIns="18288">
              <a:spAutoFit/>
            </a:bodyPr>
            <a:lstStyle/>
            <a:p>
              <a:pPr algn="ctr"/>
              <a:r>
                <a:rPr sz="4000" b="1">
                  <a:solidFill>
                    <a:srgbClr val="FFFFFF"/>
                  </a:solidFill>
                  <a:latin typeface="Segoe UI"/>
                </a:rPr>
                <a:t>15</a:t>
              </a:r>
            </a:p>
          </p:txBody>
        </p:sp>
        <p:sp>
          <p:nvSpPr>
            <p:cNvPr id="26" name="TextBox 25"/>
            <p:cNvSpPr txBox="1"/>
            <p:nvPr/>
          </p:nvSpPr>
          <p:spPr>
            <a:xfrm>
              <a:off x="9025128" y="2423160"/>
              <a:ext cx="2724912" cy="502920"/>
            </a:xfrm>
            <a:prstGeom prst="rect">
              <a:avLst/>
            </a:prstGeom>
            <a:noFill/>
          </p:spPr>
          <p:txBody>
            <a:bodyPr wrap="square" anchor="t" lIns="36576" rIns="36576" tIns="18288" bIns="18288">
              <a:spAutoFit/>
            </a:bodyPr>
            <a:lstStyle/>
            <a:p>
              <a:pPr algn="ctr"/>
              <a:r>
                <a:rPr sz="1300" b="1">
                  <a:solidFill>
                    <a:srgbClr val="FFFFFF"/>
                  </a:solidFill>
                  <a:latin typeface="Segoe UI"/>
                </a:rPr>
                <a:t>use case đã hiện thực</a:t>
              </a:r>
            </a:p>
          </p:txBody>
        </p:sp>
      </p:grpSp>
      <p:grpSp>
        <p:nvGrpSpPr>
          <p:cNvPr id="27" name="S12_Biz"/>
          <p:cNvGrpSpPr/>
          <p:nvPr/>
        </p:nvGrpSpPr>
        <p:grpSpPr>
          <a:xfrm>
            <a:off x="411480" y="3337560"/>
            <a:ext cx="5632704" cy="2468879"/>
            <a:chOff x="411480" y="3337560"/>
            <a:chExt cx="5632704" cy="2468879"/>
          </a:xfrm>
        </p:grpSpPr>
        <p:sp>
          <p:nvSpPr>
            <p:cNvPr id="28" name="Rounded Rectangle 27"/>
            <p:cNvSpPr/>
            <p:nvPr/>
          </p:nvSpPr>
          <p:spPr>
            <a:xfrm>
              <a:off x="411480" y="3337560"/>
              <a:ext cx="5632704" cy="2011680"/>
            </a:xfrm>
            <a:prstGeom prst="roundRect">
              <a:avLst>
                <a:gd name="adj" fmla="val 8000"/>
              </a:avLst>
            </a:prstGeom>
            <a:solidFill>
              <a:srgbClr val="FEE2E2"/>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extBox 28"/>
            <p:cNvSpPr txBox="1"/>
            <p:nvPr/>
          </p:nvSpPr>
          <p:spPr>
            <a:xfrm>
              <a:off x="685800" y="3474720"/>
              <a:ext cx="5120640" cy="457200"/>
            </a:xfrm>
            <a:prstGeom prst="rect">
              <a:avLst/>
            </a:prstGeom>
            <a:noFill/>
          </p:spPr>
          <p:txBody>
            <a:bodyPr wrap="square" anchor="t" lIns="36576" rIns="36576" tIns="18288" bIns="18288">
              <a:spAutoFit/>
            </a:bodyPr>
            <a:lstStyle/>
            <a:p>
              <a:pPr algn="l"/>
              <a:r>
                <a:rPr sz="1600" b="1">
                  <a:solidFill>
                    <a:srgbClr val="B91C1C"/>
                  </a:solidFill>
                  <a:latin typeface="Segoe UI"/>
                </a:rPr>
                <a:t>Nghiệp vụ tiền &amp; đơn hàng</a:t>
              </a:r>
            </a:p>
          </p:txBody>
        </p:sp>
        <p:sp>
          <p:nvSpPr>
            <p:cNvPr id="30" name="TextBox 29"/>
            <p:cNvSpPr txBox="1"/>
            <p:nvPr/>
          </p:nvSpPr>
          <p:spPr>
            <a:xfrm>
              <a:off x="685800" y="3977639"/>
              <a:ext cx="5120640" cy="1828800"/>
            </a:xfrm>
            <a:prstGeom prst="rect">
              <a:avLst/>
            </a:prstGeom>
            <a:noFill/>
          </p:spPr>
          <p:txBody>
            <a:bodyPr wrap="square" anchor="t" lIns="36576" rIns="36576" tIns="18288" bIns="18288">
              <a:spAutoFit/>
            </a:bodyPr>
            <a:lstStyle/>
            <a:p>
              <a:pPr algn="l">
                <a:spcAft>
                  <a:spcPts val="400"/>
                </a:spcAft>
              </a:pPr>
              <a:r>
                <a:rPr sz="1400" b="1">
                  <a:solidFill>
                    <a:srgbClr val="EF4444"/>
                  </a:solidFill>
                  <a:latin typeface="Segoe UI"/>
                </a:rPr>
                <a:t>✔  </a:t>
              </a:r>
              <a:r>
                <a:rPr sz="1400" b="0">
                  <a:solidFill>
                    <a:srgbClr val="1F2937"/>
                  </a:solidFill>
                  <a:latin typeface="Segoe UI"/>
                </a:rPr>
                <a:t>Chặn chuyển trạng thái sai thứ tự</a:t>
              </a:r>
            </a:p>
            <a:p>
              <a:pPr algn="l">
                <a:spcAft>
                  <a:spcPts val="400"/>
                </a:spcAft>
              </a:pPr>
              <a:r>
                <a:rPr sz="1400" b="1">
                  <a:solidFill>
                    <a:srgbClr val="EF4444"/>
                  </a:solidFill>
                  <a:latin typeface="Segoe UI"/>
                </a:rPr>
                <a:t>✔  </a:t>
              </a:r>
              <a:r>
                <a:rPr sz="1400" b="0">
                  <a:solidFill>
                    <a:srgbClr val="1F2937"/>
                  </a:solidFill>
                  <a:latin typeface="Segoe UI"/>
                </a:rPr>
                <a:t>Huỷ đơn hoàn tồn kho, mã đúng một lần</a:t>
              </a:r>
            </a:p>
            <a:p>
              <a:pPr algn="l">
                <a:spcAft>
                  <a:spcPts val="400"/>
                </a:spcAft>
              </a:pPr>
              <a:r>
                <a:rPr sz="1400" b="1">
                  <a:solidFill>
                    <a:srgbClr val="EF4444"/>
                  </a:solidFill>
                  <a:latin typeface="Segoe UI"/>
                </a:rPr>
                <a:t>✔  </a:t>
              </a:r>
              <a:r>
                <a:rPr sz="1400" b="0">
                  <a:solidFill>
                    <a:srgbClr val="1F2937"/>
                  </a:solidFill>
                  <a:latin typeface="Segoe UI"/>
                </a:rPr>
                <a:t>Đặt vượt tồn kho thì không tạo đơn</a:t>
              </a:r>
            </a:p>
          </p:txBody>
        </p:sp>
      </p:grpSp>
      <p:grpSp>
        <p:nvGrpSpPr>
          <p:cNvPr id="31" name="S12_Staff"/>
          <p:cNvGrpSpPr/>
          <p:nvPr/>
        </p:nvGrpSpPr>
        <p:grpSpPr>
          <a:xfrm>
            <a:off x="6144768" y="3337560"/>
            <a:ext cx="5632704" cy="2468879"/>
            <a:chOff x="6144768" y="3337560"/>
            <a:chExt cx="5632704" cy="2468879"/>
          </a:xfrm>
        </p:grpSpPr>
        <p:sp>
          <p:nvSpPr>
            <p:cNvPr id="32" name="Rounded Rectangle 31"/>
            <p:cNvSpPr/>
            <p:nvPr/>
          </p:nvSpPr>
          <p:spPr>
            <a:xfrm>
              <a:off x="6144768" y="3337560"/>
              <a:ext cx="5632704" cy="2011680"/>
            </a:xfrm>
            <a:prstGeom prst="roundRect">
              <a:avLst>
                <a:gd name="adj" fmla="val 8000"/>
              </a:avLst>
            </a:prstGeom>
            <a:solidFill>
              <a:srgbClr val="FEF3C7"/>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extBox 32"/>
            <p:cNvSpPr txBox="1"/>
            <p:nvPr/>
          </p:nvSpPr>
          <p:spPr>
            <a:xfrm>
              <a:off x="6419088" y="3474720"/>
              <a:ext cx="5120640" cy="457200"/>
            </a:xfrm>
            <a:prstGeom prst="rect">
              <a:avLst/>
            </a:prstGeom>
            <a:noFill/>
          </p:spPr>
          <p:txBody>
            <a:bodyPr wrap="square" anchor="t" lIns="36576" rIns="36576" tIns="18288" bIns="18288">
              <a:spAutoFit/>
            </a:bodyPr>
            <a:lstStyle/>
            <a:p>
              <a:pPr algn="l"/>
              <a:r>
                <a:rPr sz="1600" b="1">
                  <a:solidFill>
                    <a:srgbClr val="D97706"/>
                  </a:solidFill>
                  <a:latin typeface="Segoe UI"/>
                </a:rPr>
                <a:t>Phân quyền, chấm công &amp; lương</a:t>
              </a:r>
            </a:p>
          </p:txBody>
        </p:sp>
        <p:sp>
          <p:nvSpPr>
            <p:cNvPr id="34" name="TextBox 33"/>
            <p:cNvSpPr txBox="1"/>
            <p:nvPr/>
          </p:nvSpPr>
          <p:spPr>
            <a:xfrm>
              <a:off x="6419088" y="3977639"/>
              <a:ext cx="5120640" cy="1828800"/>
            </a:xfrm>
            <a:prstGeom prst="rect">
              <a:avLst/>
            </a:prstGeom>
            <a:noFill/>
          </p:spPr>
          <p:txBody>
            <a:bodyPr wrap="square" anchor="t" lIns="36576" rIns="36576" tIns="18288" bIns="18288">
              <a:spAutoFit/>
            </a:bodyPr>
            <a:lstStyle/>
            <a:p>
              <a:pPr algn="l">
                <a:spcAft>
                  <a:spcPts val="400"/>
                </a:spcAft>
              </a:pPr>
              <a:r>
                <a:rPr sz="1400" b="1">
                  <a:solidFill>
                    <a:srgbClr val="EF4444"/>
                  </a:solidFill>
                  <a:latin typeface="Segoe UI"/>
                </a:rPr>
                <a:t>✔  </a:t>
              </a:r>
              <a:r>
                <a:rPr sz="1400" b="0">
                  <a:solidFill>
                    <a:srgbClr val="1F2937"/>
                  </a:solidFill>
                  <a:latin typeface="Segoe UI"/>
                </a:rPr>
                <a:t>Chi nhánh khác: trả 404, không nhận mặt</a:t>
              </a:r>
            </a:p>
            <a:p>
              <a:pPr algn="l">
                <a:spcAft>
                  <a:spcPts val="400"/>
                </a:spcAft>
              </a:pPr>
              <a:r>
                <a:rPr sz="1400" b="1">
                  <a:solidFill>
                    <a:srgbClr val="EF4444"/>
                  </a:solidFill>
                  <a:latin typeface="Segoe UI"/>
                </a:rPr>
                <a:t>✔  </a:t>
              </a:r>
              <a:r>
                <a:rPr sz="1400" b="0">
                  <a:solidFill>
                    <a:srgbClr val="1F2937"/>
                  </a:solidFill>
                  <a:latin typeface="Segoe UI"/>
                </a:rPr>
                <a:t>Trễ &gt; 5′ bắt buộc nhập lý do</a:t>
              </a:r>
            </a:p>
            <a:p>
              <a:pPr algn="l">
                <a:spcAft>
                  <a:spcPts val="400"/>
                </a:spcAft>
              </a:pPr>
              <a:r>
                <a:rPr sz="1400" b="1">
                  <a:solidFill>
                    <a:srgbClr val="EF4444"/>
                  </a:solidFill>
                  <a:latin typeface="Segoe UI"/>
                </a:rPr>
                <a:t>✔  </a:t>
              </a:r>
              <a:r>
                <a:rPr sz="1400" b="0">
                  <a:solidFill>
                    <a:srgbClr val="1F2937"/>
                  </a:solidFill>
                  <a:latin typeface="Segoe UI"/>
                </a:rPr>
                <a:t>Ca qua đêm, lương thử việc tính đúng</a:t>
              </a:r>
            </a:p>
          </p:txBody>
        </p:sp>
      </p:grpSp>
      <p:sp>
        <p:nvSpPr>
          <p:cNvPr id="35" name="S12_Note"/>
          <p:cNvSpPr txBox="1"/>
          <p:nvPr/>
        </p:nvSpPr>
        <p:spPr>
          <a:xfrm>
            <a:off x="411480" y="5532120"/>
            <a:ext cx="11338560" cy="365760"/>
          </a:xfrm>
          <a:prstGeom prst="rect">
            <a:avLst/>
          </a:prstGeom>
          <a:noFill/>
        </p:spPr>
        <p:txBody>
          <a:bodyPr wrap="square" anchor="t" lIns="36576" rIns="36576" tIns="18288" bIns="18288">
            <a:spAutoFit/>
          </a:bodyPr>
          <a:lstStyle/>
          <a:p>
            <a:pPr algn="ctr"/>
            <a:r>
              <a:rPr sz="1200" b="0">
                <a:solidFill>
                  <a:srgbClr val="6B7280"/>
                </a:solidFill>
                <a:latin typeface="Segoe UI"/>
              </a:rPr>
              <a:t>PHPUnit trên SQLite trong bộ nhớ · chưa đo tải nhiều người dùng đồng thời</a:t>
            </a:r>
          </a:p>
        </p:txBody>
      </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childTnLst>
                    </p:cTn>
                  </p:par>
                  <p:par>
                    <p:cTn id="8" fill="hold">
                      <p:stCondLst>
                        <p:cond delay="indefinite"/>
                      </p:stCondLst>
                      <p:childTnLst>
                        <p:par>
                          <p:cTn id="9" fill="hold">
                            <p:stCondLst>
                              <p:cond delay="0"/>
                            </p:stCondLst>
                            <p:childTnLst>
                              <p:par>
                                <p:cTn id="14" presetID="53" presetClass="entr" presetSubtype="16"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anim calcmode="lin" valueType="num">
                                      <p:cBhvr>
                                        <p:cTn id="11" dur="450" fill="hold">
                                          <p:stCondLst>
                                            <p:cond delay="0"/>
                                          </p:stCondLst>
                                        </p:cTn>
                                        <p:tgtEl>
                                          <p:spTgt spid="11"/>
                                        </p:tgtEl>
                                        <p:attrNameLst>
                                          <p:attrName>ppt_w</p:attrName>
                                        </p:attrNameLst>
                                      </p:cBhvr>
                                      <p:tavLst>
                                        <p:tav tm="0">
                                          <p:val>
                                            <p:fltVal val="0"/>
                                          </p:val>
                                        </p:tav>
                                        <p:tav tm="100000">
                                          <p:val>
                                            <p:strVal val="#ppt_w"/>
                                          </p:val>
                                        </p:tav>
                                      </p:tavLst>
                                    </p:anim>
                                    <p:anim calcmode="lin" valueType="num">
                                      <p:cBhvr>
                                        <p:cTn id="12" dur="450" fill="hold">
                                          <p:stCondLst>
                                            <p:cond delay="0"/>
                                          </p:stCondLst>
                                        </p:cTn>
                                        <p:tgtEl>
                                          <p:spTgt spid="11"/>
                                        </p:tgtEl>
                                        <p:attrNameLst>
                                          <p:attrName>ppt_h</p:attrName>
                                        </p:attrNameLst>
                                      </p:cBhvr>
                                      <p:tavLst>
                                        <p:tav tm="0">
                                          <p:val>
                                            <p:fltVal val="0"/>
                                          </p:val>
                                        </p:tav>
                                        <p:tav tm="100000">
                                          <p:val>
                                            <p:strVal val="#ppt_h"/>
                                          </p:val>
                                        </p:tav>
                                      </p:tavLst>
                                    </p:anim>
                                    <p:animEffect transition="in" filter="fade">
                                      <p:cBhvr>
                                        <p:cTn id="13" dur="450">
                                          <p:stCondLst>
                                            <p:cond delay="0"/>
                                          </p:stCondLst>
                                        </p:cTn>
                                        <p:tgtEl>
                                          <p:spTgt spid="11"/>
                                        </p:tgtEl>
                                      </p:cBhvr>
                                    </p:animEffect>
                                  </p:childTnLst>
                                </p:cTn>
                              </p:par>
                            </p:childTnLst>
                          </p:cTn>
                        </p:par>
                        <p:par>
                          <p:cTn id="15" fill="hold">
                            <p:stCondLst>
                              <p:cond delay="600"/>
                            </p:stCondLst>
                            <p:childTnLst>
                              <p:par>
                                <p:cTn id="20" presetID="53" presetClass="entr" presetSubtype="16" fill="hold" nodeType="afterEffect">
                                  <p:stCondLst>
                                    <p:cond delay="0"/>
                                  </p:stCondLst>
                                  <p:childTnLst>
                                    <p:set>
                                      <p:cBhvr>
                                        <p:cTn id="16" dur="1" fill="hold">
                                          <p:stCondLst>
                                            <p:cond delay="0"/>
                                          </p:stCondLst>
                                        </p:cTn>
                                        <p:tgtEl>
                                          <p:spTgt spid="15"/>
                                        </p:tgtEl>
                                        <p:attrNameLst>
                                          <p:attrName>style.visibility</p:attrName>
                                        </p:attrNameLst>
                                      </p:cBhvr>
                                      <p:to>
                                        <p:strVal val="visible"/>
                                      </p:to>
                                    </p:set>
                                    <p:anim calcmode="lin" valueType="num">
                                      <p:cBhvr>
                                        <p:cTn id="17" dur="450" fill="hold">
                                          <p:stCondLst>
                                            <p:cond delay="0"/>
                                          </p:stCondLst>
                                        </p:cTn>
                                        <p:tgtEl>
                                          <p:spTgt spid="15"/>
                                        </p:tgtEl>
                                        <p:attrNameLst>
                                          <p:attrName>ppt_w</p:attrName>
                                        </p:attrNameLst>
                                      </p:cBhvr>
                                      <p:tavLst>
                                        <p:tav tm="0">
                                          <p:val>
                                            <p:fltVal val="0"/>
                                          </p:val>
                                        </p:tav>
                                        <p:tav tm="100000">
                                          <p:val>
                                            <p:strVal val="#ppt_w"/>
                                          </p:val>
                                        </p:tav>
                                      </p:tavLst>
                                    </p:anim>
                                    <p:anim calcmode="lin" valueType="num">
                                      <p:cBhvr>
                                        <p:cTn id="18" dur="450" fill="hold">
                                          <p:stCondLst>
                                            <p:cond delay="0"/>
                                          </p:stCondLst>
                                        </p:cTn>
                                        <p:tgtEl>
                                          <p:spTgt spid="15"/>
                                        </p:tgtEl>
                                        <p:attrNameLst>
                                          <p:attrName>ppt_h</p:attrName>
                                        </p:attrNameLst>
                                      </p:cBhvr>
                                      <p:tavLst>
                                        <p:tav tm="0">
                                          <p:val>
                                            <p:fltVal val="0"/>
                                          </p:val>
                                        </p:tav>
                                        <p:tav tm="100000">
                                          <p:val>
                                            <p:strVal val="#ppt_h"/>
                                          </p:val>
                                        </p:tav>
                                      </p:tavLst>
                                    </p:anim>
                                    <p:animEffect transition="in" filter="fade">
                                      <p:cBhvr>
                                        <p:cTn id="19" dur="450">
                                          <p:stCondLst>
                                            <p:cond delay="0"/>
                                          </p:stCondLst>
                                        </p:cTn>
                                        <p:tgtEl>
                                          <p:spTgt spid="15"/>
                                        </p:tgtEl>
                                      </p:cBhvr>
                                    </p:animEffect>
                                  </p:childTnLst>
                                </p:cTn>
                              </p:par>
                            </p:childTnLst>
                          </p:cTn>
                        </p:par>
                        <p:par>
                          <p:cTn id="21" fill="hold">
                            <p:stCondLst>
                              <p:cond delay="1200"/>
                            </p:stCondLst>
                            <p:childTnLst>
                              <p:par>
                                <p:cTn id="26" presetID="53" presetClass="entr" presetSubtype="16" fill="hold" nodeType="afterEffect">
                                  <p:stCondLst>
                                    <p:cond delay="0"/>
                                  </p:stCondLst>
                                  <p:childTnLst>
                                    <p:set>
                                      <p:cBhvr>
                                        <p:cTn id="22" dur="1" fill="hold">
                                          <p:stCondLst>
                                            <p:cond delay="0"/>
                                          </p:stCondLst>
                                        </p:cTn>
                                        <p:tgtEl>
                                          <p:spTgt spid="19"/>
                                        </p:tgtEl>
                                        <p:attrNameLst>
                                          <p:attrName>style.visibility</p:attrName>
                                        </p:attrNameLst>
                                      </p:cBhvr>
                                      <p:to>
                                        <p:strVal val="visible"/>
                                      </p:to>
                                    </p:set>
                                    <p:anim calcmode="lin" valueType="num">
                                      <p:cBhvr>
                                        <p:cTn id="23" dur="450" fill="hold">
                                          <p:stCondLst>
                                            <p:cond delay="0"/>
                                          </p:stCondLst>
                                        </p:cTn>
                                        <p:tgtEl>
                                          <p:spTgt spid="19"/>
                                        </p:tgtEl>
                                        <p:attrNameLst>
                                          <p:attrName>ppt_w</p:attrName>
                                        </p:attrNameLst>
                                      </p:cBhvr>
                                      <p:tavLst>
                                        <p:tav tm="0">
                                          <p:val>
                                            <p:fltVal val="0"/>
                                          </p:val>
                                        </p:tav>
                                        <p:tav tm="100000">
                                          <p:val>
                                            <p:strVal val="#ppt_w"/>
                                          </p:val>
                                        </p:tav>
                                      </p:tavLst>
                                    </p:anim>
                                    <p:anim calcmode="lin" valueType="num">
                                      <p:cBhvr>
                                        <p:cTn id="24" dur="450" fill="hold">
                                          <p:stCondLst>
                                            <p:cond delay="0"/>
                                          </p:stCondLst>
                                        </p:cTn>
                                        <p:tgtEl>
                                          <p:spTgt spid="19"/>
                                        </p:tgtEl>
                                        <p:attrNameLst>
                                          <p:attrName>ppt_h</p:attrName>
                                        </p:attrNameLst>
                                      </p:cBhvr>
                                      <p:tavLst>
                                        <p:tav tm="0">
                                          <p:val>
                                            <p:fltVal val="0"/>
                                          </p:val>
                                        </p:tav>
                                        <p:tav tm="100000">
                                          <p:val>
                                            <p:strVal val="#ppt_h"/>
                                          </p:val>
                                        </p:tav>
                                      </p:tavLst>
                                    </p:anim>
                                    <p:animEffect transition="in" filter="fade">
                                      <p:cBhvr>
                                        <p:cTn id="25" dur="450">
                                          <p:stCondLst>
                                            <p:cond delay="0"/>
                                          </p:stCondLst>
                                        </p:cTn>
                                        <p:tgtEl>
                                          <p:spTgt spid="19"/>
                                        </p:tgtEl>
                                      </p:cBhvr>
                                    </p:animEffect>
                                  </p:childTnLst>
                                </p:cTn>
                              </p:par>
                            </p:childTnLst>
                          </p:cTn>
                        </p:par>
                        <p:par>
                          <p:cTn id="27" fill="hold">
                            <p:stCondLst>
                              <p:cond delay="1800"/>
                            </p:stCondLst>
                            <p:childTnLst>
                              <p:par>
                                <p:cTn id="32" presetID="53" presetClass="entr" presetSubtype="16" fill="hold" nodeType="afterEffect">
                                  <p:stCondLst>
                                    <p:cond delay="0"/>
                                  </p:stCondLst>
                                  <p:childTnLst>
                                    <p:set>
                                      <p:cBhvr>
                                        <p:cTn id="28" dur="1" fill="hold">
                                          <p:stCondLst>
                                            <p:cond delay="0"/>
                                          </p:stCondLst>
                                        </p:cTn>
                                        <p:tgtEl>
                                          <p:spTgt spid="23"/>
                                        </p:tgtEl>
                                        <p:attrNameLst>
                                          <p:attrName>style.visibility</p:attrName>
                                        </p:attrNameLst>
                                      </p:cBhvr>
                                      <p:to>
                                        <p:strVal val="visible"/>
                                      </p:to>
                                    </p:set>
                                    <p:anim calcmode="lin" valueType="num">
                                      <p:cBhvr>
                                        <p:cTn id="29" dur="450" fill="hold">
                                          <p:stCondLst>
                                            <p:cond delay="0"/>
                                          </p:stCondLst>
                                        </p:cTn>
                                        <p:tgtEl>
                                          <p:spTgt spid="23"/>
                                        </p:tgtEl>
                                        <p:attrNameLst>
                                          <p:attrName>ppt_w</p:attrName>
                                        </p:attrNameLst>
                                      </p:cBhvr>
                                      <p:tavLst>
                                        <p:tav tm="0">
                                          <p:val>
                                            <p:fltVal val="0"/>
                                          </p:val>
                                        </p:tav>
                                        <p:tav tm="100000">
                                          <p:val>
                                            <p:strVal val="#ppt_w"/>
                                          </p:val>
                                        </p:tav>
                                      </p:tavLst>
                                    </p:anim>
                                    <p:anim calcmode="lin" valueType="num">
                                      <p:cBhvr>
                                        <p:cTn id="30" dur="450" fill="hold">
                                          <p:stCondLst>
                                            <p:cond delay="0"/>
                                          </p:stCondLst>
                                        </p:cTn>
                                        <p:tgtEl>
                                          <p:spTgt spid="23"/>
                                        </p:tgtEl>
                                        <p:attrNameLst>
                                          <p:attrName>ppt_h</p:attrName>
                                        </p:attrNameLst>
                                      </p:cBhvr>
                                      <p:tavLst>
                                        <p:tav tm="0">
                                          <p:val>
                                            <p:fltVal val="0"/>
                                          </p:val>
                                        </p:tav>
                                        <p:tav tm="100000">
                                          <p:val>
                                            <p:strVal val="#ppt_h"/>
                                          </p:val>
                                        </p:tav>
                                      </p:tavLst>
                                    </p:anim>
                                    <p:animEffect transition="in" filter="fade">
                                      <p:cBhvr>
                                        <p:cTn id="31" dur="450">
                                          <p:stCondLst>
                                            <p:cond delay="0"/>
                                          </p:stCondLst>
                                        </p:cTn>
                                        <p:tgtEl>
                                          <p:spTgt spid="23"/>
                                        </p:tgtEl>
                                      </p:cBhvr>
                                    </p:animEffect>
                                  </p:childTnLst>
                                </p:cTn>
                              </p:par>
                            </p:childTnLst>
                          </p:cTn>
                        </p:par>
                      </p:childTnLst>
                    </p:cTn>
                  </p:par>
                  <p:par>
                    <p:cTn id="33" fill="hold">
                      <p:stCondLst>
                        <p:cond delay="indefinite"/>
                      </p:stCondLst>
                      <p:childTnLst>
                        <p:par>
                          <p:cTn id="34" fill="hold">
                            <p:stCondLst>
                              <p:cond delay="0"/>
                            </p:stCondLst>
                            <p:childTnLst>
                              <p:par>
                                <p:cTn id="37" presetID="10" presetClass="entr" presetSubtype="0" fill="hold" nodeType="clickEffect">
                                  <p:stCondLst>
                                    <p:cond delay="0"/>
                                  </p:stCondLst>
                                  <p:childTnLst>
                                    <p:set>
                                      <p:cBhvr>
                                        <p:cTn id="35" dur="1" fill="hold">
                                          <p:stCondLst>
                                            <p:cond delay="0"/>
                                          </p:stCondLst>
                                        </p:cTn>
                                        <p:tgtEl>
                                          <p:spTgt spid="27"/>
                                        </p:tgtEl>
                                        <p:attrNameLst>
                                          <p:attrName>style.visibility</p:attrName>
                                        </p:attrNameLst>
                                      </p:cBhvr>
                                      <p:to>
                                        <p:strVal val="visible"/>
                                      </p:to>
                                    </p:set>
                                    <p:animEffect transition="in" filter="fade">
                                      <p:cBhvr>
                                        <p:cTn id="36" dur="500">
                                          <p:stCondLst>
                                            <p:cond delay="0"/>
                                          </p:stCondLst>
                                        </p:cTn>
                                        <p:tgtEl>
                                          <p:spTgt spid="27"/>
                                        </p:tgtEl>
                                      </p:cBhvr>
                                    </p:animEffect>
                                  </p:childTnLst>
                                </p:cTn>
                              </p:par>
                            </p:childTnLst>
                          </p:cTn>
                        </p:par>
                      </p:childTnLst>
                    </p:cTn>
                  </p:par>
                  <p:par>
                    <p:cTn id="38" fill="hold">
                      <p:stCondLst>
                        <p:cond delay="indefinite"/>
                      </p:stCondLst>
                      <p:childTnLst>
                        <p:par>
                          <p:cTn id="39" fill="hold">
                            <p:stCondLst>
                              <p:cond delay="0"/>
                            </p:stCondLst>
                            <p:childTnLst>
                              <p:par>
                                <p:cTn id="42" presetID="10" presetClass="entr" presetSubtype="0" fill="hold" nodeType="click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stCondLst>
                                            <p:cond delay="0"/>
                                          </p:stCondLst>
                                        </p:cTn>
                                        <p:tgtEl>
                                          <p:spTgt spid="31"/>
                                        </p:tgtEl>
                                      </p:cBhvr>
                                    </p:animEffect>
                                  </p:childTnLst>
                                </p:cTn>
                              </p:par>
                            </p:childTnLst>
                          </p:cTn>
                        </p:par>
                        <p:par>
                          <p:cTn id="43" fill="hold">
                            <p:stCondLst>
                              <p:cond delay="700"/>
                            </p:stCondLst>
                            <p:childTnLst>
                              <p:par>
                                <p:cTn id="46" presetID="10" presetClass="entr" presetSubtype="0" fill="hold" nodeType="afterEffect">
                                  <p:stCondLst>
                                    <p:cond delay="0"/>
                                  </p:stCondLst>
                                  <p:childTnLst>
                                    <p:set>
                                      <p:cBhvr>
                                        <p:cTn id="44" dur="1" fill="hold">
                                          <p:stCondLst>
                                            <p:cond delay="0"/>
                                          </p:stCondLst>
                                        </p:cTn>
                                        <p:tgtEl>
                                          <p:spTgt spid="35"/>
                                        </p:tgtEl>
                                        <p:attrNameLst>
                                          <p:attrName>style.visibility</p:attrName>
                                        </p:attrNameLst>
                                      </p:cBhvr>
                                      <p:to>
                                        <p:strVal val="visible"/>
                                      </p:to>
                                    </p:set>
                                    <p:animEffect transition="in" filter="fade">
                                      <p:cBhvr>
                                        <p:cTn id="45" dur="400">
                                          <p:stCondLst>
                                            <p:cond delay="0"/>
                                          </p:stCondLst>
                                        </p:cTn>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pic>
        <p:nvPicPr>
          <p:cNvPr id="4" name="Hdr_Logo" descr="text-logo.png"/>
          <p:cNvPicPr>
            <a:picLocks noChangeAspect="1"/>
          </p:cNvPicPr>
          <p:nvPr/>
        </p:nvPicPr>
        <p:blipFill>
          <a:blip r:embed="rId2"/>
          <a:stretch>
            <a:fillRect/>
          </a:stretch>
        </p:blipFill>
        <p:spPr>
          <a:xfrm>
            <a:off x="411480" y="292608"/>
            <a:ext cx="1526345" cy="566928"/>
          </a:xfrm>
          <a:prstGeom prst="rect">
            <a:avLst/>
          </a:prstGeom>
        </p:spPr>
      </p:pic>
      <p:sp>
        <p:nvSpPr>
          <p:cNvPr id="5" name="Hdr_Divider"/>
          <p:cNvSpPr/>
          <p:nvPr/>
        </p:nvSpPr>
        <p:spPr>
          <a:xfrm>
            <a:off x="2084831" y="329184"/>
            <a:ext cx="27432" cy="502920"/>
          </a:xfrm>
          <a:prstGeom prst="rect">
            <a:avLst/>
          </a:prstGeom>
          <a:solidFill>
            <a:srgbClr val="E5E7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Hdr_Title"/>
          <p:cNvSpPr txBox="1"/>
          <p:nvPr/>
        </p:nvSpPr>
        <p:spPr>
          <a:xfrm>
            <a:off x="2240280" y="256032"/>
            <a:ext cx="7498079" cy="658368"/>
          </a:xfrm>
          <a:prstGeom prst="rect">
            <a:avLst/>
          </a:prstGeom>
          <a:noFill/>
        </p:spPr>
        <p:txBody>
          <a:bodyPr wrap="square" anchor="ctr" lIns="36576" rIns="36576" tIns="18288" bIns="18288">
            <a:spAutoFit/>
          </a:bodyPr>
          <a:lstStyle/>
          <a:p>
            <a:pPr algn="l"/>
            <a:r>
              <a:rPr sz="3000" b="1">
                <a:solidFill>
                  <a:srgbClr val="111827"/>
                </a:solidFill>
                <a:latin typeface="Segoe UI"/>
              </a:rPr>
              <a:t>Hạn chế và hướng phát triển</a:t>
            </a:r>
          </a:p>
        </p:txBody>
      </p:sp>
      <p:sp>
        <p:nvSpPr>
          <p:cNvPr id="7" name="Hdr_Tag"/>
          <p:cNvSpPr txBox="1"/>
          <p:nvPr/>
        </p:nvSpPr>
        <p:spPr>
          <a:xfrm>
            <a:off x="9601200" y="384048"/>
            <a:ext cx="2194560" cy="411480"/>
          </a:xfrm>
          <a:prstGeom prst="rect">
            <a:avLst/>
          </a:prstGeom>
          <a:noFill/>
        </p:spPr>
        <p:txBody>
          <a:bodyPr wrap="square" anchor="ctr" lIns="36576" rIns="36576" tIns="18288" bIns="18288">
            <a:spAutoFit/>
          </a:bodyPr>
          <a:lstStyle/>
          <a:p>
            <a:pPr algn="r"/>
            <a:r>
              <a:rPr sz="1100" b="0">
                <a:solidFill>
                  <a:srgbClr val="6B7280"/>
                </a:solidFill>
                <a:latin typeface="Segoe UI"/>
              </a:rPr>
              <a:t>Đồ án chuyên ngành · 2026</a:t>
            </a:r>
          </a:p>
        </p:txBody>
      </p:sp>
      <p:sp>
        <p:nvSpPr>
          <p:cNvPr id="8" name="Hdr_Line"/>
          <p:cNvSpPr/>
          <p:nvPr/>
        </p:nvSpPr>
        <p:spPr>
          <a:xfrm>
            <a:off x="411480" y="1005840"/>
            <a:ext cx="1188720" cy="54864"/>
          </a:xfrm>
          <a:prstGeom prst="rect">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dr_Line2"/>
          <p:cNvSpPr/>
          <p:nvPr/>
        </p:nvSpPr>
        <p:spPr>
          <a:xfrm>
            <a:off x="1600200" y="1005840"/>
            <a:ext cx="548640" cy="54864"/>
          </a:xfrm>
          <a:prstGeom prst="rect">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Hdr_Page"/>
          <p:cNvSpPr txBox="1"/>
          <p:nvPr/>
        </p:nvSpPr>
        <p:spPr>
          <a:xfrm>
            <a:off x="11155680" y="6400800"/>
            <a:ext cx="640080" cy="274320"/>
          </a:xfrm>
          <a:prstGeom prst="rect">
            <a:avLst/>
          </a:prstGeom>
          <a:noFill/>
        </p:spPr>
        <p:txBody>
          <a:bodyPr wrap="square" anchor="t" lIns="36576" rIns="36576" tIns="18288" bIns="18288">
            <a:spAutoFit/>
          </a:bodyPr>
          <a:lstStyle/>
          <a:p>
            <a:pPr algn="r"/>
            <a:r>
              <a:rPr sz="1000" b="0">
                <a:solidFill>
                  <a:srgbClr val="6B7280"/>
                </a:solidFill>
                <a:latin typeface="Segoe UI"/>
              </a:rPr>
              <a:t>13</a:t>
            </a:r>
          </a:p>
        </p:txBody>
      </p:sp>
      <p:grpSp>
        <p:nvGrpSpPr>
          <p:cNvPr id="11" name="S13_Labels"/>
          <p:cNvGrpSpPr/>
          <p:nvPr/>
        </p:nvGrpSpPr>
        <p:grpSpPr>
          <a:xfrm>
            <a:off x="411480" y="1234440"/>
            <a:ext cx="11365992" cy="365760"/>
            <a:chOff x="411480" y="1234440"/>
            <a:chExt cx="11365992" cy="365760"/>
          </a:xfrm>
        </p:grpSpPr>
        <p:sp>
          <p:nvSpPr>
            <p:cNvPr id="12" name="TextBox 11"/>
            <p:cNvSpPr txBox="1"/>
            <p:nvPr/>
          </p:nvSpPr>
          <p:spPr>
            <a:xfrm>
              <a:off x="411480" y="1234440"/>
              <a:ext cx="4206240" cy="365760"/>
            </a:xfrm>
            <a:prstGeom prst="rect">
              <a:avLst/>
            </a:prstGeom>
            <a:noFill/>
          </p:spPr>
          <p:txBody>
            <a:bodyPr wrap="square" anchor="t" lIns="36576" rIns="36576" tIns="18288" bIns="18288">
              <a:spAutoFit/>
            </a:bodyPr>
            <a:lstStyle/>
            <a:p>
              <a:pPr algn="ctr"/>
              <a:r>
                <a:rPr sz="1200" b="1">
                  <a:solidFill>
                    <a:srgbClr val="6B7280"/>
                  </a:solidFill>
                  <a:latin typeface="Segoe UI"/>
                </a:rPr>
                <a:t>HẠN CHẾ</a:t>
              </a:r>
            </a:p>
          </p:txBody>
        </p:sp>
        <p:sp>
          <p:nvSpPr>
            <p:cNvPr id="13" name="TextBox 12"/>
            <p:cNvSpPr txBox="1"/>
            <p:nvPr/>
          </p:nvSpPr>
          <p:spPr>
            <a:xfrm>
              <a:off x="5577840" y="1234440"/>
              <a:ext cx="6199632" cy="365760"/>
            </a:xfrm>
            <a:prstGeom prst="rect">
              <a:avLst/>
            </a:prstGeom>
            <a:noFill/>
          </p:spPr>
          <p:txBody>
            <a:bodyPr wrap="square" anchor="t" lIns="36576" rIns="36576" tIns="18288" bIns="18288">
              <a:spAutoFit/>
            </a:bodyPr>
            <a:lstStyle/>
            <a:p>
              <a:pPr algn="ctr"/>
              <a:r>
                <a:rPr sz="1200" b="1">
                  <a:solidFill>
                    <a:srgbClr val="6B7280"/>
                  </a:solidFill>
                  <a:latin typeface="Segoe UI"/>
                </a:rPr>
                <a:t>HƯỚNG PHÁT TRIỂN</a:t>
              </a:r>
            </a:p>
          </p:txBody>
        </p:sp>
      </p:grpSp>
      <p:grpSp>
        <p:nvGrpSpPr>
          <p:cNvPr id="14" name="S13_Row1"/>
          <p:cNvGrpSpPr/>
          <p:nvPr/>
        </p:nvGrpSpPr>
        <p:grpSpPr>
          <a:xfrm>
            <a:off x="411480" y="1691640"/>
            <a:ext cx="11365992" cy="868680"/>
            <a:chOff x="411480" y="1691640"/>
            <a:chExt cx="11365992" cy="868680"/>
          </a:xfrm>
        </p:grpSpPr>
        <p:sp>
          <p:nvSpPr>
            <p:cNvPr id="15" name="Rounded Rectangle 14"/>
            <p:cNvSpPr/>
            <p:nvPr/>
          </p:nvSpPr>
          <p:spPr>
            <a:xfrm>
              <a:off x="411480" y="1691640"/>
              <a:ext cx="4206240" cy="868680"/>
            </a:xfrm>
            <a:prstGeom prst="roundRect">
              <a:avLst>
                <a:gd name="adj" fmla="val 50000"/>
              </a:avLst>
            </a:prstGeom>
            <a:solidFill>
              <a:srgbClr val="F3F4F6"/>
            </a:solidFill>
            <a:ln w="12700">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594360" y="1691640"/>
              <a:ext cx="3840480" cy="868680"/>
            </a:xfrm>
            <a:prstGeom prst="rect">
              <a:avLst/>
            </a:prstGeom>
            <a:noFill/>
          </p:spPr>
          <p:txBody>
            <a:bodyPr wrap="square" anchor="ctr" lIns="36576" rIns="36576" tIns="18288" bIns="18288">
              <a:spAutoFit/>
            </a:bodyPr>
            <a:lstStyle/>
            <a:p>
              <a:pPr algn="ctr"/>
              <a:r>
                <a:rPr sz="1300" b="0">
                  <a:solidFill>
                    <a:srgbClr val="1F2937"/>
                  </a:solidFill>
                  <a:latin typeface="Segoe UI"/>
                </a:rPr>
                <a:t>MoMo, VNPay mới ghi nhận lựa chọn</a:t>
              </a:r>
            </a:p>
          </p:txBody>
        </p:sp>
        <p:sp>
          <p:nvSpPr>
            <p:cNvPr id="17" name="Right Arrow 16"/>
            <p:cNvSpPr/>
            <p:nvPr/>
          </p:nvSpPr>
          <p:spPr>
            <a:xfrm>
              <a:off x="4800600" y="1920240"/>
              <a:ext cx="594360" cy="41148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Rounded Rectangle 17"/>
            <p:cNvSpPr/>
            <p:nvPr/>
          </p:nvSpPr>
          <p:spPr>
            <a:xfrm>
              <a:off x="5577840" y="1691640"/>
              <a:ext cx="6199632" cy="868680"/>
            </a:xfrm>
            <a:prstGeom prst="roundRect">
              <a:avLst>
                <a:gd name="adj" fmla="val 20000"/>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5806440" y="1691640"/>
              <a:ext cx="5760720" cy="868680"/>
            </a:xfrm>
            <a:prstGeom prst="rect">
              <a:avLst/>
            </a:prstGeom>
            <a:noFill/>
          </p:spPr>
          <p:txBody>
            <a:bodyPr wrap="square" anchor="ctr" lIns="36576" rIns="36576" tIns="18288" bIns="18288">
              <a:spAutoFit/>
            </a:bodyPr>
            <a:lstStyle/>
            <a:p>
              <a:pPr algn="l"/>
              <a:r>
                <a:rPr sz="1400" b="1">
                  <a:solidFill>
                    <a:srgbClr val="EF4444"/>
                  </a:solidFill>
                  <a:latin typeface="Segoe UI"/>
                </a:rPr>
                <a:t>➜  </a:t>
              </a:r>
              <a:r>
                <a:rPr sz="1400" b="1">
                  <a:solidFill>
                    <a:srgbClr val="111827"/>
                  </a:solidFill>
                  <a:latin typeface="Segoe UI"/>
                </a:rPr>
                <a:t>Tích hợp cổng thanh toán, đối soát tự động</a:t>
              </a:r>
            </a:p>
          </p:txBody>
        </p:sp>
      </p:grpSp>
      <p:grpSp>
        <p:nvGrpSpPr>
          <p:cNvPr id="20" name="S13_Row2"/>
          <p:cNvGrpSpPr/>
          <p:nvPr/>
        </p:nvGrpSpPr>
        <p:grpSpPr>
          <a:xfrm>
            <a:off x="411480" y="2788920"/>
            <a:ext cx="11365992" cy="868680"/>
            <a:chOff x="411480" y="2788920"/>
            <a:chExt cx="11365992" cy="868680"/>
          </a:xfrm>
        </p:grpSpPr>
        <p:sp>
          <p:nvSpPr>
            <p:cNvPr id="21" name="Rounded Rectangle 20"/>
            <p:cNvSpPr/>
            <p:nvPr/>
          </p:nvSpPr>
          <p:spPr>
            <a:xfrm>
              <a:off x="411480" y="2788920"/>
              <a:ext cx="4206240" cy="868680"/>
            </a:xfrm>
            <a:prstGeom prst="roundRect">
              <a:avLst>
                <a:gd name="adj" fmla="val 50000"/>
              </a:avLst>
            </a:prstGeom>
            <a:solidFill>
              <a:srgbClr val="F3F4F6"/>
            </a:solidFill>
            <a:ln w="12700">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594360" y="2788920"/>
              <a:ext cx="3840480" cy="868680"/>
            </a:xfrm>
            <a:prstGeom prst="rect">
              <a:avLst/>
            </a:prstGeom>
            <a:noFill/>
          </p:spPr>
          <p:txBody>
            <a:bodyPr wrap="square" anchor="ctr" lIns="36576" rIns="36576" tIns="18288" bIns="18288">
              <a:spAutoFit/>
            </a:bodyPr>
            <a:lstStyle/>
            <a:p>
              <a:pPr algn="ctr"/>
              <a:r>
                <a:rPr sz="1300" b="0">
                  <a:solidFill>
                    <a:srgbClr val="1F2937"/>
                  </a:solidFill>
                  <a:latin typeface="Segoe UI"/>
                </a:rPr>
                <a:t>Chưa chống giả mạo bằng ảnh, video</a:t>
              </a:r>
            </a:p>
          </p:txBody>
        </p:sp>
        <p:sp>
          <p:nvSpPr>
            <p:cNvPr id="23" name="Right Arrow 22"/>
            <p:cNvSpPr/>
            <p:nvPr/>
          </p:nvSpPr>
          <p:spPr>
            <a:xfrm>
              <a:off x="4800600" y="3017520"/>
              <a:ext cx="594360" cy="41148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Rounded Rectangle 23"/>
            <p:cNvSpPr/>
            <p:nvPr/>
          </p:nvSpPr>
          <p:spPr>
            <a:xfrm>
              <a:off x="5577840" y="2788920"/>
              <a:ext cx="6199632" cy="868680"/>
            </a:xfrm>
            <a:prstGeom prst="roundRect">
              <a:avLst>
                <a:gd name="adj" fmla="val 20000"/>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5806440" y="2788920"/>
              <a:ext cx="5760720" cy="868680"/>
            </a:xfrm>
            <a:prstGeom prst="rect">
              <a:avLst/>
            </a:prstGeom>
            <a:noFill/>
          </p:spPr>
          <p:txBody>
            <a:bodyPr wrap="square" anchor="ctr" lIns="36576" rIns="36576" tIns="18288" bIns="18288">
              <a:spAutoFit/>
            </a:bodyPr>
            <a:lstStyle/>
            <a:p>
              <a:pPr algn="l"/>
              <a:r>
                <a:rPr sz="1400" b="1">
                  <a:solidFill>
                    <a:srgbClr val="EF4444"/>
                  </a:solidFill>
                  <a:latin typeface="Segoe UI"/>
                </a:rPr>
                <a:t>➜  </a:t>
              </a:r>
              <a:r>
                <a:rPr sz="1400" b="1">
                  <a:solidFill>
                    <a:srgbClr val="111827"/>
                  </a:solidFill>
                  <a:latin typeface="Segoe UI"/>
                </a:rPr>
                <a:t>Bổ sung kiểm tra người thật (liveness)</a:t>
              </a:r>
            </a:p>
          </p:txBody>
        </p:sp>
      </p:grpSp>
      <p:grpSp>
        <p:nvGrpSpPr>
          <p:cNvPr id="26" name="S13_Row3"/>
          <p:cNvGrpSpPr/>
          <p:nvPr/>
        </p:nvGrpSpPr>
        <p:grpSpPr>
          <a:xfrm>
            <a:off x="411480" y="3886200"/>
            <a:ext cx="11365992" cy="868680"/>
            <a:chOff x="411480" y="3886200"/>
            <a:chExt cx="11365992" cy="868680"/>
          </a:xfrm>
        </p:grpSpPr>
        <p:sp>
          <p:nvSpPr>
            <p:cNvPr id="27" name="Rounded Rectangle 26"/>
            <p:cNvSpPr/>
            <p:nvPr/>
          </p:nvSpPr>
          <p:spPr>
            <a:xfrm>
              <a:off x="411480" y="3886200"/>
              <a:ext cx="4206240" cy="868680"/>
            </a:xfrm>
            <a:prstGeom prst="roundRect">
              <a:avLst>
                <a:gd name="adj" fmla="val 50000"/>
              </a:avLst>
            </a:prstGeom>
            <a:solidFill>
              <a:srgbClr val="F3F4F6"/>
            </a:solidFill>
            <a:ln w="12700">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TextBox 27"/>
            <p:cNvSpPr txBox="1"/>
            <p:nvPr/>
          </p:nvSpPr>
          <p:spPr>
            <a:xfrm>
              <a:off x="594360" y="3886200"/>
              <a:ext cx="3840480" cy="868680"/>
            </a:xfrm>
            <a:prstGeom prst="rect">
              <a:avLst/>
            </a:prstGeom>
            <a:noFill/>
          </p:spPr>
          <p:txBody>
            <a:bodyPr wrap="square" anchor="ctr" lIns="36576" rIns="36576" tIns="18288" bIns="18288">
              <a:spAutoFit/>
            </a:bodyPr>
            <a:lstStyle/>
            <a:p>
              <a:pPr algn="ctr"/>
              <a:r>
                <a:rPr sz="1300" b="0">
                  <a:solidFill>
                    <a:srgbClr val="1F2937"/>
                  </a:solidFill>
                  <a:latin typeface="Segoe UI"/>
                </a:rPr>
                <a:t>Mới chạy cục bộ trên Laragon</a:t>
              </a:r>
            </a:p>
          </p:txBody>
        </p:sp>
        <p:sp>
          <p:nvSpPr>
            <p:cNvPr id="29" name="Right Arrow 28"/>
            <p:cNvSpPr/>
            <p:nvPr/>
          </p:nvSpPr>
          <p:spPr>
            <a:xfrm>
              <a:off x="4800600" y="4114800"/>
              <a:ext cx="594360" cy="41148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Rounded Rectangle 29"/>
            <p:cNvSpPr/>
            <p:nvPr/>
          </p:nvSpPr>
          <p:spPr>
            <a:xfrm>
              <a:off x="5577840" y="3886200"/>
              <a:ext cx="6199632" cy="868680"/>
            </a:xfrm>
            <a:prstGeom prst="roundRect">
              <a:avLst>
                <a:gd name="adj" fmla="val 20000"/>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06440" y="3886200"/>
              <a:ext cx="5760720" cy="868680"/>
            </a:xfrm>
            <a:prstGeom prst="rect">
              <a:avLst/>
            </a:prstGeom>
            <a:noFill/>
          </p:spPr>
          <p:txBody>
            <a:bodyPr wrap="square" anchor="ctr" lIns="36576" rIns="36576" tIns="18288" bIns="18288">
              <a:spAutoFit/>
            </a:bodyPr>
            <a:lstStyle/>
            <a:p>
              <a:pPr algn="l"/>
              <a:r>
                <a:rPr sz="1400" b="1">
                  <a:solidFill>
                    <a:srgbClr val="EF4444"/>
                  </a:solidFill>
                  <a:latin typeface="Segoe UI"/>
                </a:rPr>
                <a:t>➜  </a:t>
              </a:r>
              <a:r>
                <a:rPr sz="1400" b="1">
                  <a:solidFill>
                    <a:srgbClr val="111827"/>
                  </a:solidFill>
                  <a:latin typeface="Segoe UI"/>
                </a:rPr>
                <a:t>Triển khai HTTPS, chạy thử tại 1 chi nhánh</a:t>
              </a:r>
            </a:p>
          </p:txBody>
        </p:sp>
      </p:grpSp>
      <p:grpSp>
        <p:nvGrpSpPr>
          <p:cNvPr id="32" name="S13_Row4"/>
          <p:cNvGrpSpPr/>
          <p:nvPr/>
        </p:nvGrpSpPr>
        <p:grpSpPr>
          <a:xfrm>
            <a:off x="411480" y="4983479"/>
            <a:ext cx="11365992" cy="868680"/>
            <a:chOff x="411480" y="4983479"/>
            <a:chExt cx="11365992" cy="868680"/>
          </a:xfrm>
        </p:grpSpPr>
        <p:sp>
          <p:nvSpPr>
            <p:cNvPr id="33" name="Rounded Rectangle 32"/>
            <p:cNvSpPr/>
            <p:nvPr/>
          </p:nvSpPr>
          <p:spPr>
            <a:xfrm>
              <a:off x="411480" y="4983479"/>
              <a:ext cx="4206240" cy="868680"/>
            </a:xfrm>
            <a:prstGeom prst="roundRect">
              <a:avLst>
                <a:gd name="adj" fmla="val 50000"/>
              </a:avLst>
            </a:prstGeom>
            <a:solidFill>
              <a:srgbClr val="F3F4F6"/>
            </a:solidFill>
            <a:ln w="12700">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TextBox 33"/>
            <p:cNvSpPr txBox="1"/>
            <p:nvPr/>
          </p:nvSpPr>
          <p:spPr>
            <a:xfrm>
              <a:off x="594360" y="4983479"/>
              <a:ext cx="3840480" cy="868680"/>
            </a:xfrm>
            <a:prstGeom prst="rect">
              <a:avLst/>
            </a:prstGeom>
            <a:noFill/>
          </p:spPr>
          <p:txBody>
            <a:bodyPr wrap="square" anchor="ctr" lIns="36576" rIns="36576" tIns="18288" bIns="18288">
              <a:spAutoFit/>
            </a:bodyPr>
            <a:lstStyle/>
            <a:p>
              <a:pPr algn="ctr"/>
              <a:r>
                <a:rPr sz="1300" b="0">
                  <a:solidFill>
                    <a:srgbClr val="1F2937"/>
                  </a:solidFill>
                  <a:latin typeface="Segoe UI"/>
                </a:rPr>
                <a:t>Phí ship cố định, chưa có kho nguyên liệu</a:t>
              </a:r>
            </a:p>
          </p:txBody>
        </p:sp>
        <p:sp>
          <p:nvSpPr>
            <p:cNvPr id="35" name="Right Arrow 34"/>
            <p:cNvSpPr/>
            <p:nvPr/>
          </p:nvSpPr>
          <p:spPr>
            <a:xfrm>
              <a:off x="4800600" y="5212079"/>
              <a:ext cx="594360" cy="411480"/>
            </a:xfrm>
            <a:prstGeom prst="rightArrow">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Rounded Rectangle 35"/>
            <p:cNvSpPr/>
            <p:nvPr/>
          </p:nvSpPr>
          <p:spPr>
            <a:xfrm>
              <a:off x="5577840" y="4983479"/>
              <a:ext cx="6199632" cy="868680"/>
            </a:xfrm>
            <a:prstGeom prst="roundRect">
              <a:avLst>
                <a:gd name="adj" fmla="val 20000"/>
              </a:avLst>
            </a:prstGeom>
            <a:solidFill>
              <a:srgbClr val="FEE2E2"/>
            </a:solidFill>
            <a:ln w="15875">
              <a:solidFill>
                <a:srgbClr val="EF4444"/>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7" name="TextBox 36"/>
            <p:cNvSpPr txBox="1"/>
            <p:nvPr/>
          </p:nvSpPr>
          <p:spPr>
            <a:xfrm>
              <a:off x="5806440" y="4983479"/>
              <a:ext cx="5760720" cy="868680"/>
            </a:xfrm>
            <a:prstGeom prst="rect">
              <a:avLst/>
            </a:prstGeom>
            <a:noFill/>
          </p:spPr>
          <p:txBody>
            <a:bodyPr wrap="square" anchor="ctr" lIns="36576" rIns="36576" tIns="18288" bIns="18288">
              <a:spAutoFit/>
            </a:bodyPr>
            <a:lstStyle/>
            <a:p>
              <a:pPr algn="l"/>
              <a:r>
                <a:rPr sz="1400" b="1">
                  <a:solidFill>
                    <a:srgbClr val="EF4444"/>
                  </a:solidFill>
                  <a:latin typeface="Segoe UI"/>
                </a:rPr>
                <a:t>➜  </a:t>
              </a:r>
              <a:r>
                <a:rPr sz="1400" b="1">
                  <a:solidFill>
                    <a:srgbClr val="111827"/>
                  </a:solidFill>
                  <a:latin typeface="Segoe UI"/>
                </a:rPr>
                <a:t>Phí theo khoảng cách, quản lý nhập – xuất kho</a:t>
              </a:r>
            </a:p>
          </p:txBody>
        </p:sp>
      </p:grpSp>
    </p:spTree>
  </p:cSld>
  <p:clrMapOvr>
    <a:masterClrMapping/>
  </p:clrMapOvr>
  <mc:AlternateContent xmlns:mc="http://schemas.openxmlformats.org/markup-compatibility/2006">
    <mc:Choice xmlns:p159="http://schemas.microsoft.com/office/powerpoint/2015/09/main" Requires="p159">
      <p:transition spd="slow">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stCondLst>
                                            <p:cond delay="0"/>
                                          </p:stCondLst>
                                        </p:cTn>
                                        <p:tgtEl>
                                          <p:spTgt spid="6"/>
                                        </p:tgtEl>
                                      </p:cBhvr>
                                    </p:animEffect>
                                  </p:childTnLst>
                                </p:cTn>
                              </p:par>
                            </p:childTnLst>
                          </p:cTn>
                        </p:par>
                        <p:par>
                          <p:cTn id="8" fill="hold">
                            <p:stCondLst>
                              <p:cond delay="0"/>
                            </p:stCondLst>
                            <p:childTnLst>
                              <p:par>
                                <p:cTn id="11" presetID="10" presetClass="entr" presetSubtype="0" fill="hold"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400">
                                          <p:stCondLst>
                                            <p:cond delay="0"/>
                                          </p:stCondLst>
                                        </p:cTn>
                                        <p:tgtEl>
                                          <p:spTgt spid="11"/>
                                        </p:tgtEl>
                                      </p:cBhvr>
                                    </p:animEffect>
                                  </p:childTnLst>
                                </p:cTn>
                              </p:par>
                            </p:childTnLst>
                          </p:cTn>
                        </p:par>
                      </p:childTnLst>
                    </p:cTn>
                  </p:par>
                  <p:par>
                    <p:cTn id="12" fill="hold">
                      <p:stCondLst>
                        <p:cond delay="indefinite"/>
                      </p:stCondLst>
                      <p:childTnLst>
                        <p:par>
                          <p:cTn id="13" fill="hold">
                            <p:stCondLst>
                              <p:cond delay="0"/>
                            </p:stCondLst>
                            <p:childTnLst>
                              <p:par>
                                <p:cTn id="16" presetID="22" presetClass="entr" presetSubtype="8"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left)">
                                      <p:cBhvr>
                                        <p:cTn id="15" dur="500">
                                          <p:stCondLst>
                                            <p:cond delay="0"/>
                                          </p:stCondLst>
                                        </p:cTn>
                                        <p:tgtEl>
                                          <p:spTgt spid="14"/>
                                        </p:tgtEl>
                                      </p:cBhvr>
                                    </p:animEffect>
                                  </p:childTnLst>
                                </p:cTn>
                              </p:par>
                            </p:childTnLst>
                          </p:cTn>
                        </p:par>
                      </p:childTnLst>
                    </p:cTn>
                  </p:par>
                  <p:par>
                    <p:cTn id="17" fill="hold">
                      <p:stCondLst>
                        <p:cond delay="indefinite"/>
                      </p:stCondLst>
                      <p:childTnLst>
                        <p:par>
                          <p:cTn id="18" fill="hold">
                            <p:stCondLst>
                              <p:cond delay="0"/>
                            </p:stCondLst>
                            <p:childTnLst>
                              <p:par>
                                <p:cTn id="21" presetID="22" presetClass="entr" presetSubtype="8" fill="hold" nodeType="clickEffect">
                                  <p:stCondLst>
                                    <p:cond delay="0"/>
                                  </p:stCondLst>
                                  <p:childTnLst>
                                    <p:set>
                                      <p:cBhvr>
                                        <p:cTn id="19" dur="1" fill="hold">
                                          <p:stCondLst>
                                            <p:cond delay="0"/>
                                          </p:stCondLst>
                                        </p:cTn>
                                        <p:tgtEl>
                                          <p:spTgt spid="20"/>
                                        </p:tgtEl>
                                        <p:attrNameLst>
                                          <p:attrName>style.visibility</p:attrName>
                                        </p:attrNameLst>
                                      </p:cBhvr>
                                      <p:to>
                                        <p:strVal val="visible"/>
                                      </p:to>
                                    </p:set>
                                    <p:animEffect transition="in" filter="wipe(left)">
                                      <p:cBhvr>
                                        <p:cTn id="20" dur="500">
                                          <p:stCondLst>
                                            <p:cond delay="0"/>
                                          </p:stCondLst>
                                        </p:cTn>
                                        <p:tgtEl>
                                          <p:spTgt spid="20"/>
                                        </p:tgtEl>
                                      </p:cBhvr>
                                    </p:animEffect>
                                  </p:childTnLst>
                                </p:cTn>
                              </p:par>
                            </p:childTnLst>
                          </p:cTn>
                        </p:par>
                      </p:childTnLst>
                    </p:cTn>
                  </p:par>
                  <p:par>
                    <p:cTn id="22" fill="hold">
                      <p:stCondLst>
                        <p:cond delay="indefinite"/>
                      </p:stCondLst>
                      <p:childTnLst>
                        <p:par>
                          <p:cTn id="23" fill="hold">
                            <p:stCondLst>
                              <p:cond delay="0"/>
                            </p:stCondLst>
                            <p:childTnLst>
                              <p:par>
                                <p:cTn id="26" presetID="22" presetClass="entr" presetSubtype="8" fill="hold" nodeType="clickEffect">
                                  <p:stCondLst>
                                    <p:cond delay="0"/>
                                  </p:stCondLst>
                                  <p:childTnLst>
                                    <p:set>
                                      <p:cBhvr>
                                        <p:cTn id="24" dur="1" fill="hold">
                                          <p:stCondLst>
                                            <p:cond delay="0"/>
                                          </p:stCondLst>
                                        </p:cTn>
                                        <p:tgtEl>
                                          <p:spTgt spid="26"/>
                                        </p:tgtEl>
                                        <p:attrNameLst>
                                          <p:attrName>style.visibility</p:attrName>
                                        </p:attrNameLst>
                                      </p:cBhvr>
                                      <p:to>
                                        <p:strVal val="visible"/>
                                      </p:to>
                                    </p:set>
                                    <p:animEffect transition="in" filter="wipe(left)">
                                      <p:cBhvr>
                                        <p:cTn id="25" dur="500">
                                          <p:stCondLst>
                                            <p:cond delay="0"/>
                                          </p:stCondLst>
                                        </p:cTn>
                                        <p:tgtEl>
                                          <p:spTgt spid="26"/>
                                        </p:tgtEl>
                                      </p:cBhvr>
                                    </p:animEffect>
                                  </p:childTnLst>
                                </p:cTn>
                              </p:par>
                            </p:childTnLst>
                          </p:cTn>
                        </p:par>
                      </p:childTnLst>
                    </p:cTn>
                  </p:par>
                  <p:par>
                    <p:cTn id="27" fill="hold">
                      <p:stCondLst>
                        <p:cond delay="indefinite"/>
                      </p:stCondLst>
                      <p:childTnLst>
                        <p:par>
                          <p:cTn id="28" fill="hold">
                            <p:stCondLst>
                              <p:cond delay="0"/>
                            </p:stCondLst>
                            <p:childTnLst>
                              <p:par>
                                <p:cTn id="31" presetID="22" presetClass="entr" presetSubtype="8" fill="hold" nodeType="clickEffect">
                                  <p:stCondLst>
                                    <p:cond delay="0"/>
                                  </p:stCondLst>
                                  <p:childTnLst>
                                    <p:set>
                                      <p:cBhvr>
                                        <p:cTn id="29" dur="1" fill="hold">
                                          <p:stCondLst>
                                            <p:cond delay="0"/>
                                          </p:stCondLst>
                                        </p:cTn>
                                        <p:tgtEl>
                                          <p:spTgt spid="32"/>
                                        </p:tgtEl>
                                        <p:attrNameLst>
                                          <p:attrName>style.visibility</p:attrName>
                                        </p:attrNameLst>
                                      </p:cBhvr>
                                      <p:to>
                                        <p:strVal val="visible"/>
                                      </p:to>
                                    </p:set>
                                    <p:animEffect transition="in" filter="wipe(left)">
                                      <p:cBhvr>
                                        <p:cTn id="30" dur="500">
                                          <p:stCondLst>
                                            <p:cond delay="0"/>
                                          </p:stCondLst>
                                        </p:cTn>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Deco_TopRight"/>
          <p:cNvSpPr/>
          <p:nvPr/>
        </p:nvSpPr>
        <p:spPr>
          <a:xfrm>
            <a:off x="10881360" y="-822960"/>
            <a:ext cx="2194560" cy="2194560"/>
          </a:xfrm>
          <a:prstGeom prst="ellipse">
            <a:avLst/>
          </a:prstGeom>
          <a:solidFill>
            <a:srgbClr val="F59E0B">
              <a:alpha val="20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Deco_BottomLeft"/>
          <p:cNvSpPr/>
          <p:nvPr/>
        </p:nvSpPr>
        <p:spPr>
          <a:xfrm>
            <a:off x="-914400" y="5852160"/>
            <a:ext cx="2011680" cy="2011680"/>
          </a:xfrm>
          <a:prstGeom prst="ellipse">
            <a:avLst/>
          </a:prstGeom>
          <a:solidFill>
            <a:srgbClr val="EF4444">
              <a:alpha val="12000"/>
            </a:srgb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S14_Thanks"/>
          <p:cNvSpPr txBox="1"/>
          <p:nvPr/>
        </p:nvSpPr>
        <p:spPr>
          <a:xfrm>
            <a:off x="457200" y="685800"/>
            <a:ext cx="11274552" cy="1463040"/>
          </a:xfrm>
          <a:prstGeom prst="rect">
            <a:avLst/>
          </a:prstGeom>
          <a:noFill/>
        </p:spPr>
        <p:txBody>
          <a:bodyPr wrap="square" anchor="t" lIns="36576" rIns="36576" tIns="18288" bIns="18288">
            <a:spAutoFit/>
          </a:bodyPr>
          <a:lstStyle/>
          <a:p>
            <a:pPr algn="ctr"/>
            <a:r>
              <a:rPr sz="4000" b="1">
                <a:solidFill>
                  <a:srgbClr val="EF4444"/>
                </a:solidFill>
                <a:latin typeface="Segoe UI"/>
              </a:rPr>
              <a:t>Cảm ơn Hội đồng đã lắng nghe!</a:t>
            </a:r>
          </a:p>
          <a:p>
            <a:pPr algn="ctr"/>
            <a:r>
              <a:rPr sz="2000" b="0">
                <a:solidFill>
                  <a:srgbClr val="6B7280"/>
                </a:solidFill>
                <a:latin typeface="Segoe UI"/>
              </a:rPr>
              <a:t>Kính mời Thầy Cô đặt câu hỏi</a:t>
            </a:r>
          </a:p>
        </p:txBody>
      </p:sp>
      <p:grpSp>
        <p:nvGrpSpPr>
          <p:cNvPr id="5" name="S14_Member1"/>
          <p:cNvGrpSpPr/>
          <p:nvPr/>
        </p:nvGrpSpPr>
        <p:grpSpPr>
          <a:xfrm>
            <a:off x="868680" y="2514600"/>
            <a:ext cx="3154680" cy="3291840"/>
            <a:chOff x="868680" y="2514600"/>
            <a:chExt cx="3154680" cy="3291840"/>
          </a:xfrm>
        </p:grpSpPr>
        <p:sp>
          <p:nvSpPr>
            <p:cNvPr id="6" name="Rounded Rectangle 5"/>
            <p:cNvSpPr/>
            <p:nvPr/>
          </p:nvSpPr>
          <p:spPr>
            <a:xfrm>
              <a:off x="868680" y="2514600"/>
              <a:ext cx="3154680" cy="329184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Oval 6"/>
            <p:cNvSpPr/>
            <p:nvPr/>
          </p:nvSpPr>
          <p:spPr>
            <a:xfrm>
              <a:off x="1847088" y="2743200"/>
              <a:ext cx="1188720" cy="118872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Segoe UI"/>
                </a:rPr>
                <a:t>HT</a:t>
              </a:r>
            </a:p>
          </p:txBody>
        </p:sp>
        <p:sp>
          <p:nvSpPr>
            <p:cNvPr id="8" name="TextBox 7"/>
            <p:cNvSpPr txBox="1"/>
            <p:nvPr/>
          </p:nvSpPr>
          <p:spPr>
            <a:xfrm>
              <a:off x="1005839" y="4069080"/>
              <a:ext cx="2880360" cy="411480"/>
            </a:xfrm>
            <a:prstGeom prst="rect">
              <a:avLst/>
            </a:prstGeom>
            <a:noFill/>
          </p:spPr>
          <p:txBody>
            <a:bodyPr wrap="square" anchor="t" lIns="36576" rIns="36576" tIns="18288" bIns="18288">
              <a:spAutoFit/>
            </a:bodyPr>
            <a:lstStyle/>
            <a:p>
              <a:pPr algn="ctr"/>
              <a:r>
                <a:rPr sz="1700" b="1">
                  <a:solidFill>
                    <a:srgbClr val="111827"/>
                  </a:solidFill>
                  <a:latin typeface="Segoe UI"/>
                </a:rPr>
                <a:t>Ngô Hữu Tính</a:t>
              </a:r>
            </a:p>
          </p:txBody>
        </p:sp>
        <p:sp>
          <p:nvSpPr>
            <p:cNvPr id="9" name="TextBox 8"/>
            <p:cNvSpPr txBox="1"/>
            <p:nvPr/>
          </p:nvSpPr>
          <p:spPr>
            <a:xfrm>
              <a:off x="1005839" y="4462272"/>
              <a:ext cx="2880360" cy="320040"/>
            </a:xfrm>
            <a:prstGeom prst="rect">
              <a:avLst/>
            </a:prstGeom>
            <a:noFill/>
          </p:spPr>
          <p:txBody>
            <a:bodyPr wrap="square" anchor="t" lIns="36576" rIns="36576" tIns="18288" bIns="18288">
              <a:spAutoFit/>
            </a:bodyPr>
            <a:lstStyle/>
            <a:p>
              <a:pPr algn="ctr"/>
              <a:r>
                <a:rPr sz="1200" b="0">
                  <a:solidFill>
                    <a:srgbClr val="6B7280"/>
                  </a:solidFill>
                  <a:latin typeface="Segoe UI"/>
                </a:rPr>
                <a:t>023101006</a:t>
              </a:r>
            </a:p>
          </p:txBody>
        </p:sp>
        <p:sp>
          <p:nvSpPr>
            <p:cNvPr id="10" name="TextBox 9"/>
            <p:cNvSpPr txBox="1"/>
            <p:nvPr/>
          </p:nvSpPr>
          <p:spPr>
            <a:xfrm>
              <a:off x="1097280" y="4846320"/>
              <a:ext cx="2697480" cy="868680"/>
            </a:xfrm>
            <a:prstGeom prst="rect">
              <a:avLst/>
            </a:prstGeom>
            <a:noFill/>
          </p:spPr>
          <p:txBody>
            <a:bodyPr wrap="square" anchor="t" lIns="36576" rIns="36576" tIns="18288" bIns="18288">
              <a:spAutoFit/>
            </a:bodyPr>
            <a:lstStyle/>
            <a:p>
              <a:pPr algn="ctr"/>
              <a:r>
                <a:rPr sz="1200" b="0">
                  <a:solidFill>
                    <a:srgbClr val="1F2937"/>
                  </a:solidFill>
                  <a:latin typeface="Segoe UI"/>
                </a:rPr>
                <a:t>Giao diện khách hàng, đặt hàng, voucher, đánh giá</a:t>
              </a:r>
            </a:p>
          </p:txBody>
        </p:sp>
      </p:grpSp>
      <p:grpSp>
        <p:nvGrpSpPr>
          <p:cNvPr id="11" name="S14_Member2"/>
          <p:cNvGrpSpPr/>
          <p:nvPr/>
        </p:nvGrpSpPr>
        <p:grpSpPr>
          <a:xfrm>
            <a:off x="4526280" y="2514600"/>
            <a:ext cx="3154680" cy="3291840"/>
            <a:chOff x="4526280" y="2514600"/>
            <a:chExt cx="3154680" cy="3291840"/>
          </a:xfrm>
        </p:grpSpPr>
        <p:sp>
          <p:nvSpPr>
            <p:cNvPr id="12" name="Rounded Rectangle 11"/>
            <p:cNvSpPr/>
            <p:nvPr/>
          </p:nvSpPr>
          <p:spPr>
            <a:xfrm>
              <a:off x="4526280" y="2514600"/>
              <a:ext cx="3154680" cy="329184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5504688" y="2743200"/>
              <a:ext cx="1188720" cy="1188720"/>
            </a:xfrm>
            <a:prstGeom prst="ellipse">
              <a:avLst/>
            </a:prstGeom>
            <a:solidFill>
              <a:srgbClr val="F59E0B"/>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Segoe UI"/>
                </a:rPr>
                <a:t>PT</a:t>
              </a:r>
            </a:p>
          </p:txBody>
        </p:sp>
        <p:sp>
          <p:nvSpPr>
            <p:cNvPr id="14" name="TextBox 13"/>
            <p:cNvSpPr txBox="1"/>
            <p:nvPr/>
          </p:nvSpPr>
          <p:spPr>
            <a:xfrm>
              <a:off x="4663440" y="4069080"/>
              <a:ext cx="2880360" cy="411480"/>
            </a:xfrm>
            <a:prstGeom prst="rect">
              <a:avLst/>
            </a:prstGeom>
            <a:noFill/>
          </p:spPr>
          <p:txBody>
            <a:bodyPr wrap="square" anchor="t" lIns="36576" rIns="36576" tIns="18288" bIns="18288">
              <a:spAutoFit/>
            </a:bodyPr>
            <a:lstStyle/>
            <a:p>
              <a:pPr algn="ctr"/>
              <a:r>
                <a:rPr sz="1700" b="1">
                  <a:solidFill>
                    <a:srgbClr val="111827"/>
                  </a:solidFill>
                  <a:latin typeface="Segoe UI"/>
                </a:rPr>
                <a:t>Cao Phúc Thịnh</a:t>
              </a:r>
            </a:p>
          </p:txBody>
        </p:sp>
        <p:sp>
          <p:nvSpPr>
            <p:cNvPr id="15" name="TextBox 14"/>
            <p:cNvSpPr txBox="1"/>
            <p:nvPr/>
          </p:nvSpPr>
          <p:spPr>
            <a:xfrm>
              <a:off x="4663440" y="4462272"/>
              <a:ext cx="2880360" cy="320040"/>
            </a:xfrm>
            <a:prstGeom prst="rect">
              <a:avLst/>
            </a:prstGeom>
            <a:noFill/>
          </p:spPr>
          <p:txBody>
            <a:bodyPr wrap="square" anchor="t" lIns="36576" rIns="36576" tIns="18288" bIns="18288">
              <a:spAutoFit/>
            </a:bodyPr>
            <a:lstStyle/>
            <a:p>
              <a:pPr algn="ctr"/>
              <a:r>
                <a:rPr sz="1200" b="0">
                  <a:solidFill>
                    <a:srgbClr val="6B7280"/>
                  </a:solidFill>
                  <a:latin typeface="Segoe UI"/>
                </a:rPr>
                <a:t>023101057</a:t>
              </a:r>
            </a:p>
          </p:txBody>
        </p:sp>
        <p:sp>
          <p:nvSpPr>
            <p:cNvPr id="16" name="TextBox 15"/>
            <p:cNvSpPr txBox="1"/>
            <p:nvPr/>
          </p:nvSpPr>
          <p:spPr>
            <a:xfrm>
              <a:off x="4754880" y="4846320"/>
              <a:ext cx="2697480" cy="868680"/>
            </a:xfrm>
            <a:prstGeom prst="rect">
              <a:avLst/>
            </a:prstGeom>
            <a:noFill/>
          </p:spPr>
          <p:txBody>
            <a:bodyPr wrap="square" anchor="t" lIns="36576" rIns="36576" tIns="18288" bIns="18288">
              <a:spAutoFit/>
            </a:bodyPr>
            <a:lstStyle/>
            <a:p>
              <a:pPr algn="ctr"/>
              <a:r>
                <a:rPr sz="1200" b="0">
                  <a:solidFill>
                    <a:srgbClr val="1F2937"/>
                  </a:solidFill>
                  <a:latin typeface="Segoe UI"/>
                </a:rPr>
                <a:t>Quản lý chi nhánh, chấm công, quản trị, kiểm thử</a:t>
              </a:r>
            </a:p>
          </p:txBody>
        </p:sp>
      </p:grpSp>
      <p:grpSp>
        <p:nvGrpSpPr>
          <p:cNvPr id="17" name="S14_Member3"/>
          <p:cNvGrpSpPr/>
          <p:nvPr/>
        </p:nvGrpSpPr>
        <p:grpSpPr>
          <a:xfrm>
            <a:off x="8183879" y="2514600"/>
            <a:ext cx="3154680" cy="3291840"/>
            <a:chOff x="8183879" y="2514600"/>
            <a:chExt cx="3154680" cy="3291840"/>
          </a:xfrm>
        </p:grpSpPr>
        <p:sp>
          <p:nvSpPr>
            <p:cNvPr id="18" name="Rounded Rectangle 17"/>
            <p:cNvSpPr/>
            <p:nvPr/>
          </p:nvSpPr>
          <p:spPr>
            <a:xfrm>
              <a:off x="8183879" y="2514600"/>
              <a:ext cx="3154680" cy="3291840"/>
            </a:xfrm>
            <a:prstGeom prst="roundRect">
              <a:avLst>
                <a:gd name="adj" fmla="val 8000"/>
              </a:avLst>
            </a:prstGeom>
            <a:solidFill>
              <a:srgbClr val="FFFFFF"/>
            </a:solidFill>
            <a:ln w="15875">
              <a:solidFill>
                <a:srgbClr val="F1D5D5"/>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Oval 18"/>
            <p:cNvSpPr/>
            <p:nvPr/>
          </p:nvSpPr>
          <p:spPr>
            <a:xfrm>
              <a:off x="9162288" y="2743200"/>
              <a:ext cx="1188720" cy="1188720"/>
            </a:xfrm>
            <a:prstGeom prst="ellipse">
              <a:avLst/>
            </a:prstGeom>
            <a:solidFill>
              <a:srgbClr val="EF444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600" b="1">
                  <a:solidFill>
                    <a:srgbClr val="FFFFFF"/>
                  </a:solidFill>
                  <a:latin typeface="Segoe UI"/>
                </a:rPr>
                <a:t>VT</a:t>
              </a:r>
            </a:p>
          </p:txBody>
        </p:sp>
        <p:sp>
          <p:nvSpPr>
            <p:cNvPr id="20" name="TextBox 19"/>
            <p:cNvSpPr txBox="1"/>
            <p:nvPr/>
          </p:nvSpPr>
          <p:spPr>
            <a:xfrm>
              <a:off x="8321040" y="4069080"/>
              <a:ext cx="2880360" cy="411480"/>
            </a:xfrm>
            <a:prstGeom prst="rect">
              <a:avLst/>
            </a:prstGeom>
            <a:noFill/>
          </p:spPr>
          <p:txBody>
            <a:bodyPr wrap="square" anchor="t" lIns="36576" rIns="36576" tIns="18288" bIns="18288">
              <a:spAutoFit/>
            </a:bodyPr>
            <a:lstStyle/>
            <a:p>
              <a:pPr algn="ctr"/>
              <a:r>
                <a:rPr sz="1700" b="1">
                  <a:solidFill>
                    <a:srgbClr val="111827"/>
                  </a:solidFill>
                  <a:latin typeface="Segoe UI"/>
                </a:rPr>
                <a:t>Nguyễn Văn Trực</a:t>
              </a:r>
            </a:p>
          </p:txBody>
        </p:sp>
        <p:sp>
          <p:nvSpPr>
            <p:cNvPr id="21" name="TextBox 20"/>
            <p:cNvSpPr txBox="1"/>
            <p:nvPr/>
          </p:nvSpPr>
          <p:spPr>
            <a:xfrm>
              <a:off x="8321040" y="4462272"/>
              <a:ext cx="2880360" cy="320040"/>
            </a:xfrm>
            <a:prstGeom prst="rect">
              <a:avLst/>
            </a:prstGeom>
            <a:noFill/>
          </p:spPr>
          <p:txBody>
            <a:bodyPr wrap="square" anchor="t" lIns="36576" rIns="36576" tIns="18288" bIns="18288">
              <a:spAutoFit/>
            </a:bodyPr>
            <a:lstStyle/>
            <a:p>
              <a:pPr algn="ctr"/>
              <a:r>
                <a:rPr sz="1200" b="0">
                  <a:solidFill>
                    <a:srgbClr val="6B7280"/>
                  </a:solidFill>
                  <a:latin typeface="Segoe UI"/>
                </a:rPr>
                <a:t>023101058</a:t>
              </a:r>
            </a:p>
          </p:txBody>
        </p:sp>
        <p:sp>
          <p:nvSpPr>
            <p:cNvPr id="22" name="TextBox 21"/>
            <p:cNvSpPr txBox="1"/>
            <p:nvPr/>
          </p:nvSpPr>
          <p:spPr>
            <a:xfrm>
              <a:off x="8412480" y="4846320"/>
              <a:ext cx="2697480" cy="868680"/>
            </a:xfrm>
            <a:prstGeom prst="rect">
              <a:avLst/>
            </a:prstGeom>
            <a:noFill/>
          </p:spPr>
          <p:txBody>
            <a:bodyPr wrap="square" anchor="t" lIns="36576" rIns="36576" tIns="18288" bIns="18288">
              <a:spAutoFit/>
            </a:bodyPr>
            <a:lstStyle/>
            <a:p>
              <a:pPr algn="ctr"/>
              <a:r>
                <a:rPr sz="1200" b="0">
                  <a:solidFill>
                    <a:srgbClr val="1F2937"/>
                  </a:solidFill>
                  <a:latin typeface="Segoe UI"/>
                </a:rPr>
                <a:t>Phân tích yêu cầu, use case, tổng hợp báo cáo</a:t>
              </a:r>
            </a:p>
          </p:txBody>
        </p:sp>
      </p:grpSp>
      <p:pic>
        <p:nvPicPr>
          <p:cNvPr id="23" name="S14_Logo" descr="text-logo.png"/>
          <p:cNvPicPr>
            <a:picLocks noChangeAspect="1"/>
          </p:cNvPicPr>
          <p:nvPr/>
        </p:nvPicPr>
        <p:blipFill>
          <a:blip r:embed="rId2"/>
          <a:stretch>
            <a:fillRect/>
          </a:stretch>
        </p:blipFill>
        <p:spPr>
          <a:xfrm>
            <a:off x="5349240" y="5989320"/>
            <a:ext cx="1477108" cy="548640"/>
          </a:xfrm>
          <a:prstGeom prst="rect">
            <a:avLst/>
          </a:prstGeom>
        </p:spPr>
      </p:pic>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7" presetID="10" presetClass="entr" presetSubtype="0" fill="hold" nodeType="afterEffect">
                                  <p:stCondLst>
                                    <p:cond delay="0"/>
                                  </p:stCondLst>
                                  <p:childTnLst>
                                    <p:set>
                                      <p:cBhvr>
                                        <p:cTn id="5" dur="1" fill="hold">
                                          <p:stCondLst>
                                            <p:cond delay="0"/>
                                          </p:stCondLst>
                                        </p:cTn>
                                        <p:tgtEl>
                                          <p:spTgt spid="4"/>
                                        </p:tgtEl>
                                        <p:attrNameLst>
                                          <p:attrName>style.visibility</p:attrName>
                                        </p:attrNameLst>
                                      </p:cBhvr>
                                      <p:to>
                                        <p:strVal val="visible"/>
                                      </p:to>
                                    </p:set>
                                    <p:animEffect transition="in" filter="fade">
                                      <p:cBhvr>
                                        <p:cTn id="6" dur="600">
                                          <p:stCondLst>
                                            <p:cond delay="0"/>
                                          </p:stCondLst>
                                        </p:cTn>
                                        <p:tgtEl>
                                          <p:spTgt spid="4"/>
                                        </p:tgtEl>
                                      </p:cBhvr>
                                    </p:animEffect>
                                  </p:childTnLst>
                                </p:cTn>
                              </p:par>
                            </p:childTnLst>
                          </p:cTn>
                        </p:par>
                        <p:par>
                          <p:cTn id="8" fill="hold">
                            <p:stCondLst>
                              <p:cond delay="750"/>
                            </p:stCondLst>
                            <p:childTnLst>
                              <p:par>
                                <p:cTn id="13" presetID="53" presetClass="entr" presetSubtype="16" fill="hold" nodeType="afterEffect">
                                  <p:stCondLst>
                                    <p:cond delay="0"/>
                                  </p:stCondLst>
                                  <p:childTnLst>
                                    <p:set>
                                      <p:cBhvr>
                                        <p:cTn id="9" dur="1" fill="hold">
                                          <p:stCondLst>
                                            <p:cond delay="0"/>
                                          </p:stCondLst>
                                        </p:cTn>
                                        <p:tgtEl>
                                          <p:spTgt spid="5"/>
                                        </p:tgtEl>
                                        <p:attrNameLst>
                                          <p:attrName>style.visibility</p:attrName>
                                        </p:attrNameLst>
                                      </p:cBhvr>
                                      <p:to>
                                        <p:strVal val="visible"/>
                                      </p:to>
                                    </p:set>
                                    <p:anim calcmode="lin" valueType="num">
                                      <p:cBhvr>
                                        <p:cTn id="10" dur="450" fill="hold">
                                          <p:stCondLst>
                                            <p:cond delay="0"/>
                                          </p:stCondLst>
                                        </p:cTn>
                                        <p:tgtEl>
                                          <p:spTgt spid="5"/>
                                        </p:tgtEl>
                                        <p:attrNameLst>
                                          <p:attrName>ppt_w</p:attrName>
                                        </p:attrNameLst>
                                      </p:cBhvr>
                                      <p:tavLst>
                                        <p:tav tm="0">
                                          <p:val>
                                            <p:fltVal val="0"/>
                                          </p:val>
                                        </p:tav>
                                        <p:tav tm="100000">
                                          <p:val>
                                            <p:strVal val="#ppt_w"/>
                                          </p:val>
                                        </p:tav>
                                      </p:tavLst>
                                    </p:anim>
                                    <p:anim calcmode="lin" valueType="num">
                                      <p:cBhvr>
                                        <p:cTn id="11" dur="450" fill="hold">
                                          <p:stCondLst>
                                            <p:cond delay="0"/>
                                          </p:stCondLst>
                                        </p:cTn>
                                        <p:tgtEl>
                                          <p:spTgt spid="5"/>
                                        </p:tgtEl>
                                        <p:attrNameLst>
                                          <p:attrName>ppt_h</p:attrName>
                                        </p:attrNameLst>
                                      </p:cBhvr>
                                      <p:tavLst>
                                        <p:tav tm="0">
                                          <p:val>
                                            <p:fltVal val="0"/>
                                          </p:val>
                                        </p:tav>
                                        <p:tav tm="100000">
                                          <p:val>
                                            <p:strVal val="#ppt_h"/>
                                          </p:val>
                                        </p:tav>
                                      </p:tavLst>
                                    </p:anim>
                                    <p:animEffect transition="in" filter="fade">
                                      <p:cBhvr>
                                        <p:cTn id="12" dur="450">
                                          <p:stCondLst>
                                            <p:cond delay="0"/>
                                          </p:stCondLst>
                                        </p:cTn>
                                        <p:tgtEl>
                                          <p:spTgt spid="5"/>
                                        </p:tgtEl>
                                      </p:cBhvr>
                                    </p:animEffect>
                                  </p:childTnLst>
                                </p:cTn>
                              </p:par>
                            </p:childTnLst>
                          </p:cTn>
                        </p:par>
                        <p:par>
                          <p:cTn id="14" fill="hold">
                            <p:stCondLst>
                              <p:cond delay="1350"/>
                            </p:stCondLst>
                            <p:childTnLst>
                              <p:par>
                                <p:cTn id="19" presetID="53" presetClass="entr" presetSubtype="16" fill="hold" nodeType="afterEffect">
                                  <p:stCondLst>
                                    <p:cond delay="0"/>
                                  </p:stCondLst>
                                  <p:childTnLst>
                                    <p:set>
                                      <p:cBhvr>
                                        <p:cTn id="15" dur="1" fill="hold">
                                          <p:stCondLst>
                                            <p:cond delay="0"/>
                                          </p:stCondLst>
                                        </p:cTn>
                                        <p:tgtEl>
                                          <p:spTgt spid="11"/>
                                        </p:tgtEl>
                                        <p:attrNameLst>
                                          <p:attrName>style.visibility</p:attrName>
                                        </p:attrNameLst>
                                      </p:cBhvr>
                                      <p:to>
                                        <p:strVal val="visible"/>
                                      </p:to>
                                    </p:set>
                                    <p:anim calcmode="lin" valueType="num">
                                      <p:cBhvr>
                                        <p:cTn id="16" dur="450" fill="hold">
                                          <p:stCondLst>
                                            <p:cond delay="0"/>
                                          </p:stCondLst>
                                        </p:cTn>
                                        <p:tgtEl>
                                          <p:spTgt spid="11"/>
                                        </p:tgtEl>
                                        <p:attrNameLst>
                                          <p:attrName>ppt_w</p:attrName>
                                        </p:attrNameLst>
                                      </p:cBhvr>
                                      <p:tavLst>
                                        <p:tav tm="0">
                                          <p:val>
                                            <p:fltVal val="0"/>
                                          </p:val>
                                        </p:tav>
                                        <p:tav tm="100000">
                                          <p:val>
                                            <p:strVal val="#ppt_w"/>
                                          </p:val>
                                        </p:tav>
                                      </p:tavLst>
                                    </p:anim>
                                    <p:anim calcmode="lin" valueType="num">
                                      <p:cBhvr>
                                        <p:cTn id="17" dur="450" fill="hold">
                                          <p:stCondLst>
                                            <p:cond delay="0"/>
                                          </p:stCondLst>
                                        </p:cTn>
                                        <p:tgtEl>
                                          <p:spTgt spid="11"/>
                                        </p:tgtEl>
                                        <p:attrNameLst>
                                          <p:attrName>ppt_h</p:attrName>
                                        </p:attrNameLst>
                                      </p:cBhvr>
                                      <p:tavLst>
                                        <p:tav tm="0">
                                          <p:val>
                                            <p:fltVal val="0"/>
                                          </p:val>
                                        </p:tav>
                                        <p:tav tm="100000">
                                          <p:val>
                                            <p:strVal val="#ppt_h"/>
                                          </p:val>
                                        </p:tav>
                                      </p:tavLst>
                                    </p:anim>
                                    <p:animEffect transition="in" filter="fade">
                                      <p:cBhvr>
                                        <p:cTn id="18" dur="450">
                                          <p:stCondLst>
                                            <p:cond delay="0"/>
                                          </p:stCondLst>
                                        </p:cTn>
                                        <p:tgtEl>
                                          <p:spTgt spid="11"/>
                                        </p:tgtEl>
                                      </p:cBhvr>
                                    </p:animEffect>
                                  </p:childTnLst>
                                </p:cTn>
                              </p:par>
                            </p:childTnLst>
                          </p:cTn>
                        </p:par>
                        <p:par>
                          <p:cTn id="20" fill="hold">
                            <p:stCondLst>
                              <p:cond delay="1950"/>
                            </p:stCondLst>
                            <p:childTnLst>
                              <p:par>
                                <p:cTn id="25" presetID="53" presetClass="entr" presetSubtype="16" fill="hold" nodeType="afterEffect">
                                  <p:stCondLst>
                                    <p:cond delay="0"/>
                                  </p:stCondLst>
                                  <p:childTnLst>
                                    <p:set>
                                      <p:cBhvr>
                                        <p:cTn id="21" dur="1" fill="hold">
                                          <p:stCondLst>
                                            <p:cond delay="0"/>
                                          </p:stCondLst>
                                        </p:cTn>
                                        <p:tgtEl>
                                          <p:spTgt spid="17"/>
                                        </p:tgtEl>
                                        <p:attrNameLst>
                                          <p:attrName>style.visibility</p:attrName>
                                        </p:attrNameLst>
                                      </p:cBhvr>
                                      <p:to>
                                        <p:strVal val="visible"/>
                                      </p:to>
                                    </p:set>
                                    <p:anim calcmode="lin" valueType="num">
                                      <p:cBhvr>
                                        <p:cTn id="22" dur="450" fill="hold">
                                          <p:stCondLst>
                                            <p:cond delay="0"/>
                                          </p:stCondLst>
                                        </p:cTn>
                                        <p:tgtEl>
                                          <p:spTgt spid="17"/>
                                        </p:tgtEl>
                                        <p:attrNameLst>
                                          <p:attrName>ppt_w</p:attrName>
                                        </p:attrNameLst>
                                      </p:cBhvr>
                                      <p:tavLst>
                                        <p:tav tm="0">
                                          <p:val>
                                            <p:fltVal val="0"/>
                                          </p:val>
                                        </p:tav>
                                        <p:tav tm="100000">
                                          <p:val>
                                            <p:strVal val="#ppt_w"/>
                                          </p:val>
                                        </p:tav>
                                      </p:tavLst>
                                    </p:anim>
                                    <p:anim calcmode="lin" valueType="num">
                                      <p:cBhvr>
                                        <p:cTn id="23" dur="450" fill="hold">
                                          <p:stCondLst>
                                            <p:cond delay="0"/>
                                          </p:stCondLst>
                                        </p:cTn>
                                        <p:tgtEl>
                                          <p:spTgt spid="17"/>
                                        </p:tgtEl>
                                        <p:attrNameLst>
                                          <p:attrName>ppt_h</p:attrName>
                                        </p:attrNameLst>
                                      </p:cBhvr>
                                      <p:tavLst>
                                        <p:tav tm="0">
                                          <p:val>
                                            <p:fltVal val="0"/>
                                          </p:val>
                                        </p:tav>
                                        <p:tav tm="100000">
                                          <p:val>
                                            <p:strVal val="#ppt_h"/>
                                          </p:val>
                                        </p:tav>
                                      </p:tavLst>
                                    </p:anim>
                                    <p:animEffect transition="in" filter="fade">
                                      <p:cBhvr>
                                        <p:cTn id="24" dur="450">
                                          <p:stCondLst>
                                            <p:cond delay="0"/>
                                          </p:stCondLst>
                                        </p:cTn>
                                        <p:tgtEl>
                                          <p:spTgt spid="17"/>
                                        </p:tgtEl>
                                      </p:cBhvr>
                                    </p:animEffect>
                                  </p:childTnLst>
                                </p:cTn>
                              </p:par>
                            </p:childTnLst>
                          </p:cTn>
                        </p:par>
                        <p:par>
                          <p:cTn id="26" fill="hold">
                            <p:stCondLst>
                              <p:cond delay="2550"/>
                            </p:stCondLst>
                            <p:childTnLst>
                              <p:par>
                                <p:cTn id="29" presetID="10" presetClass="entr" presetSubtype="0" fill="hold" nodeType="afterEffect">
                                  <p:stCondLst>
                                    <p:cond delay="0"/>
                                  </p:stCondLst>
                                  <p:childTnLst>
                                    <p:set>
                                      <p:cBhvr>
                                        <p:cTn id="27" dur="1" fill="hold">
                                          <p:stCondLst>
                                            <p:cond delay="0"/>
                                          </p:stCondLst>
                                        </p:cTn>
                                        <p:tgtEl>
                                          <p:spTgt spid="23"/>
                                        </p:tgtEl>
                                        <p:attrNameLst>
                                          <p:attrName>style.visibility</p:attrName>
                                        </p:attrNameLst>
                                      </p:cBhvr>
                                      <p:to>
                                        <p:strVal val="visible"/>
                                      </p:to>
                                    </p:set>
                                    <p:animEffect transition="in" filter="fade">
                                      <p:cBhvr>
                                        <p:cTn id="28" dur="400">
                                          <p:stCondLst>
                                            <p:cond delay="0"/>
                                          </p:stCondLst>
                                        </p:cTn>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